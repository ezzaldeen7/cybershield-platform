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33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بسم الله الرحمن الرحيم، والصلاة والسلام على رسول الله.</a:t>
            </a:r>
          </a:p>
          <a:p>
            <a:r>
              <a:t>أهلاً بكم أستاذتنا الفاضلة عفاف أحمد وأعضاء لجنة التقييم الكرام.</a:t>
            </a:r>
          </a:p>
          <a:p>
            <a:r>
              <a:t>يسعدنا أن نقدم لكم اليوم مشروع تخرجنا: 'الحماية من الجرائم الإلكترونية – دراسة تأصيلية وتطبيقية لتطوير منصة تفاعلية متكاملة للتقييم الأمني والتوعية السيبرانية الذكية (CyberShield Platform)'.</a:t>
            </a:r>
          </a:p>
          <a:p>
            <a:r>
              <a:t>يمثل هذا المشروع حلاً برمجياً عملياً يسد فجوة كبرى بين المعرفة النظرية والسلوك الدفاعي الفعلي في الفضاء الرقمي.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نستعرض في هذه الشريحة المشكلة الجوهرية:</a:t>
            </a:r>
          </a:p>
          <a:p>
            <a:r>
              <a:t>أغلب الاختراقات الرقمية في المؤسسات والأفراد لا تحدث بسبب كسر جدران الحماية، بل بخداع الإنسان عبر الهندسة الاجتماعية والاستعجال.</a:t>
            </a:r>
          </a:p>
          <a:p>
            <a:r>
              <a:t>التوعية التقليدية بالمطويات والملصقات أثبتت عجزها؛ لأن القراءة الساكنة لا تبني مهارة دفاعية.</a:t>
            </a:r>
          </a:p>
          <a:p>
            <a:r>
              <a:t>لذلك ابتكرنا في CyberShield بيئة محاكاة تفاعلية تمكن المتعلم من اتخاذ القرار ورؤية أثره فوراً في بيئة افتراضية خالية من المخاطر.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يقوم مشروعنا على أربع ركائز أساسية تضمن انتقال المتعلم من مرحلة الجهل بالخطر إلى مرحلة المناعة السيبرانية الكاملة:</a:t>
            </a:r>
          </a:p>
          <a:p>
            <a:r>
              <a:t>الركيزة الأولى: التشخيص القبلي لتحديد نقطة البداية.</a:t>
            </a:r>
          </a:p>
          <a:p>
            <a:r>
              <a:t>الركيزة الثانية: مسار تعليمي يغطي 7 مجالات معتمدة في الجرائم الإلكترونية.</a:t>
            </a:r>
          </a:p>
          <a:p>
            <a:r>
              <a:t>الركيزة الثالثة: محاكاة الهجمات عبر سيناريوهات تفاعلية متعددة المراحل.</a:t>
            </a:r>
          </a:p>
          <a:p>
            <a:r>
              <a:t>الركيزة الرابعة: أداة المحلل الآمن التي تمكن المستخدم من فحص الروابط والرسائل محلياً لحماية نفسه يومياً.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يوضح هذا الإنفوجرافيك المعماري كيف تسير البيانات داخل النظام بسلاسة وأمان:</a:t>
            </a:r>
          </a:p>
          <a:p>
            <a:r>
              <a:t>المدخلات: تمثل تفاعلات المستخدم ومدخلات المدرس.</a:t>
            </a:r>
          </a:p>
          <a:p>
            <a:r>
              <a:t>المعالجة: تتم كلياً داخل بيئة خادم آمنة تمنع أي تسريب للمعلومات، مع تشغيل محركات الفحص والتحليل الذكية.</a:t>
            </a:r>
          </a:p>
          <a:p>
            <a:r>
              <a:t>المخرجات: تظهر للمستخدم على هيئة مؤشر وعي وتوصيات مخصصة، وللمشرف على هيئة سجلات أمان ولوحات حوكمة.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تم اختيار منظومة التقنيات بعناية فائقة لتجمع بين الأداء المرتفع والأمان المطلق:</a:t>
            </a:r>
          </a:p>
          <a:p>
            <a:r>
              <a:t>استخدمنا React 19 مع TypeScript لضمان خلو الواجهة من أي أخطاء نوعية.</a:t>
            </a:r>
          </a:p>
          <a:p>
            <a:r>
              <a:t>وفي طبقة الربط استخدمنا tRPC التي توفر End-to-End Type Safety؛ مما يعني أن الخادم يفرض شروطه على العميل مباشرة ويمنع تسريب أي حقول غير مصرح بها.</a:t>
            </a:r>
          </a:p>
          <a:p>
            <a:r>
              <a:t>أما في قاعدة البيانات فقد دمجنا Drizzle ORM مع Better-SQLite3 لتحقيق أقصى سرعة واستبعاد خطر هجمات SQL Injection تماماً.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تُظهر لقطة الشاشة الحقيقية مسار التعلم المعتمد داخل المنصة.</a:t>
            </a:r>
          </a:p>
          <a:p>
            <a:r>
              <a:t>صممنا المسار ليشمل 7 وحدات أساسية تغطي كافة جوانب التهديدات السيبرانية اليومية التي تواجه الفرد والمؤسسة.</a:t>
            </a:r>
          </a:p>
          <a:p>
            <a:r>
              <a:t>الدروس مدعومة بوسائط تفاعلية، والأهم أمنياً أن هذه الدروس السبعة تم إعطاؤها حصانة برمجية في النظام؛ فلا يمكن لأي حساب تعديلها أو حذفها للحفاظ على معيارية التعليم.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في هذه الشريحة نرى واجهة الاختبارات الحقيقية من المنصة.</a:t>
            </a:r>
          </a:p>
          <a:p>
            <a:r>
              <a:t>أبرز ما يميز بنك الاختبارات لدينا هو تطبيق مبدأ 'Zero-Leak Integrity'.</a:t>
            </a:r>
          </a:p>
          <a:p>
            <a:r>
              <a:t>في معظم الأنظمة التعليمية غير الآمنة، يستطيع الطالب فحص كود الصفحة واستخراج الإجابة الصحيحة مسبقاً.</a:t>
            </a:r>
          </a:p>
          <a:p>
            <a:r>
              <a:t>أما في منصتنا، فالخادم يرسل فقط نص السؤال والخيارات، والتصحيح يتم داخل الخادم بشكل آمن ومحمي بنسبة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هذه لقطة شاشة لمحاكي السيناريوهات التفاعلية، وهو القلب النابض للمشروع.</a:t>
            </a:r>
          </a:p>
          <a:p>
            <a:r>
              <a:t>بدلاً من الاكتفاء بالنصيحة النظرية: 'احذر من روابط التصيد'، يجد المتدرب نفسه أمام بريد إلكتروني حقيقي يحاكي واقع الشركات والبنوك.</a:t>
            </a:r>
          </a:p>
          <a:p>
            <a:r>
              <a:t>يتدرب المستخدم على فحص عنوان المرسل ونبرة الاستعجال، وإذا ارتكب خطأ يشاهد أثر تسريب البيانات فوراً ويتعلم منه عملياً دون أي خسارة حقيقية.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تُظهر الشريحة أداة 'المحلل الآمن (Safe Analyzer)' المدمجة بالمنصة.</a:t>
            </a:r>
          </a:p>
          <a:p>
            <a:r>
              <a:t>أحد أكبر التحديات في فحص الروابط هو: كيف نفحص الرابط دون أن نزوره ونتعرض للبرمجيات الخبيثة؟</a:t>
            </a:r>
          </a:p>
          <a:p>
            <a:r>
              <a:t>الحل الهندسي الذي نفذناه يعتمد على 'الفحص الاستدلالي المحلي'. نحلل بنية النطاق والنصوص المضللة دون إرسال أي اتصال خارجي للرابط المشبوه، مما يمنح المستخدم أماناً تاماً.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منصة توعوية في الأمن السيبراني يجب أن تكون في مقدمة المنصات التزاماً بالمعايير الأمنية.</a:t>
            </a:r>
          </a:p>
          <a:p>
            <a:r>
              <a:t>طبقنا ست طبقات حماية محكمة، من أهمها معالجة ثغرات IDOR؛ فلا يستطيع أي مدرس تعديل دروس غيره بمجرد تغيير رقم المعرف.</a:t>
            </a:r>
          </a:p>
          <a:p>
            <a:r>
              <a:t>كذلك طبّقنا سياسات أمان المحتوى CSP وتشفير Bcrypt وجلسات HttpOnly وكبح هجمات القوة الغاشمة Rate Limiting.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ننتقل إلى جانب الإثبات المعملي: خضع مشروعنا لـ 157 اختباراً آلياً شاملاً عبر إطار Vitest المعتمد.</a:t>
            </a:r>
          </a:p>
          <a:p>
            <a:r>
              <a:t>النتيجة كما ترونها في الصورة الحقيقية أمامكم: 157 من أصل 157 اختباراً ناجحاً بنسبة 100%.</a:t>
            </a:r>
          </a:p>
          <a:p>
            <a:r>
              <a:t>غطت الاختبارات محاولات اختراق IDOR، فحص تسريب الإجابات، كبح الهجمات، واكتمال رحلة المتعلم عبر كافة محطات النظام.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خلال مراحل التطوير واجهتنا تحديات هندسية حقيقية تغلبنا عليها بحلول تقنية مبتكرة:</a:t>
            </a:r>
          </a:p>
          <a:p>
            <a:r>
              <a:t>أولاً: حماية ملكية المدرس ومنع IDOR عبر Protected Procedures.</a:t>
            </a:r>
          </a:p>
          <a:p>
            <a:r>
              <a:t>ثانياً: عزل فحص الروابط محلياً لتجنب إصابة النظام بالبرمجيات الخبيثة.</a:t>
            </a:r>
          </a:p>
          <a:p>
            <a:r>
              <a:t>ثالثاً: ضبط سياسة CSP بدقة لتوافق الخطوط مع حظر ثغرات XSS.</a:t>
            </a:r>
          </a:p>
          <a:p>
            <a:r>
              <a:t>ورابعاً: سرية مسارات السيناريو بالتدفق التدريجي على الخادم.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في الختام، نؤكد أن منصة CyberShield تبرهن على أن الاستثمار في الإنسان وتدريبه العملي هو الدرع الحقيقي لأمن الفضاء السيبراني.</a:t>
            </a:r>
          </a:p>
          <a:p>
            <a:r>
              <a:t>نتقدم بأجزل عبارات الشكر لأستاذتنا الفاضلة عفاف أحمد، ولأعضاء لجنة المناقشة الموقرة على كريم وقتهم.</a:t>
            </a:r>
          </a:p>
          <a:p>
            <a:r>
              <a:t>ونحن الآن جاهزات للإجابة عن أسئلتكم واستفساراتكم الكريمة.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1051560"/>
            <a:ext cx="10362895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97135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F8FAFC"/>
                </a:solidFill>
                <a:latin typeface="Cairo"/>
              </a:defRPr>
            </a:pPr>
            <a:r>
              <a:rPr dirty="0" err="1"/>
              <a:t>الحماية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الجرائم</a:t>
            </a:r>
            <a:r>
              <a:rPr dirty="0"/>
              <a:t> </a:t>
            </a:r>
            <a:r>
              <a:rPr dirty="0" err="1"/>
              <a:t>الإلكترونية</a:t>
            </a:r>
            <a:endParaRPr dirty="0"/>
          </a:p>
          <a:p>
            <a:pPr algn="ctr">
              <a:spcAft>
                <a:spcPts val="800"/>
              </a:spcAft>
              <a:defRPr sz="15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دراسة</a:t>
            </a:r>
            <a:r>
              <a:rPr sz="1600" dirty="0"/>
              <a:t> </a:t>
            </a:r>
            <a:r>
              <a:rPr sz="1600" dirty="0" err="1"/>
              <a:t>تأصيلية</a:t>
            </a:r>
            <a:r>
              <a:rPr sz="1600" dirty="0"/>
              <a:t> </a:t>
            </a:r>
            <a:r>
              <a:rPr sz="1600" dirty="0" err="1"/>
              <a:t>وتطبيقية</a:t>
            </a:r>
            <a:r>
              <a:rPr sz="1600" dirty="0"/>
              <a:t> </a:t>
            </a:r>
            <a:r>
              <a:rPr sz="1600" dirty="0" err="1"/>
              <a:t>لتطوير</a:t>
            </a:r>
            <a:r>
              <a:rPr sz="1600" dirty="0"/>
              <a:t> </a:t>
            </a:r>
            <a:r>
              <a:rPr sz="1600" dirty="0" err="1"/>
              <a:t>منصة</a:t>
            </a:r>
            <a:r>
              <a:rPr sz="1600" dirty="0"/>
              <a:t> </a:t>
            </a:r>
            <a:r>
              <a:rPr sz="1600" dirty="0" err="1"/>
              <a:t>تفاعلية</a:t>
            </a:r>
            <a:r>
              <a:rPr sz="1600" dirty="0"/>
              <a:t> </a:t>
            </a:r>
            <a:r>
              <a:rPr sz="1600" dirty="0" err="1"/>
              <a:t>متكاملة</a:t>
            </a:r>
            <a:r>
              <a:rPr sz="1600" dirty="0"/>
              <a:t> </a:t>
            </a:r>
            <a:r>
              <a:rPr sz="1600" dirty="0" err="1"/>
              <a:t>للتقييم</a:t>
            </a:r>
            <a:r>
              <a:rPr sz="1600" dirty="0"/>
              <a:t> </a:t>
            </a:r>
            <a:r>
              <a:rPr sz="1600" dirty="0" err="1"/>
              <a:t>الأمني</a:t>
            </a:r>
            <a:r>
              <a:rPr sz="1600" dirty="0"/>
              <a:t> </a:t>
            </a:r>
            <a:r>
              <a:rPr sz="1600" dirty="0" err="1"/>
              <a:t>والتوعية</a:t>
            </a:r>
            <a:r>
              <a:rPr sz="1600" dirty="0"/>
              <a:t> </a:t>
            </a:r>
            <a:r>
              <a:rPr sz="1600" dirty="0" err="1"/>
              <a:t>السيبرانية</a:t>
            </a:r>
            <a:r>
              <a:rPr sz="1600" dirty="0"/>
              <a:t> </a:t>
            </a:r>
            <a:r>
              <a:rPr sz="1600" dirty="0" err="1"/>
              <a:t>الذكية</a:t>
            </a:r>
            <a:endParaRPr sz="1600" dirty="0"/>
          </a:p>
          <a:p>
            <a:pPr algn="ctr">
              <a:defRPr sz="2000" b="1">
                <a:solidFill>
                  <a:srgbClr val="38BDF8"/>
                </a:solidFill>
                <a:latin typeface="Cairo"/>
              </a:defRPr>
            </a:pPr>
            <a:r>
              <a:rPr sz="3200" dirty="0"/>
              <a:t>🛡️ </a:t>
            </a:r>
            <a:r>
              <a:rPr sz="3200" dirty="0" err="1"/>
              <a:t>CyberShield</a:t>
            </a:r>
            <a:r>
              <a:rPr sz="3200" dirty="0"/>
              <a:t> Platform 🛡️</a:t>
            </a:r>
            <a:endParaRPr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49377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45720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  <a:defRPr sz="140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👥 </a:t>
            </a:r>
            <a:r>
              <a:rPr sz="1600" dirty="0" err="1"/>
              <a:t>إعداد</a:t>
            </a:r>
            <a:r>
              <a:rPr sz="1600" dirty="0"/>
              <a:t> </a:t>
            </a:r>
            <a:r>
              <a:rPr sz="1600" dirty="0" err="1"/>
              <a:t>الطالبات</a:t>
            </a:r>
            <a:r>
              <a:rPr sz="1600" dirty="0"/>
              <a:t>:</a:t>
            </a:r>
          </a:p>
          <a:p>
            <a:pPr algn="r" rtl="1">
              <a:spcAft>
                <a:spcPts val="200"/>
              </a:spcAft>
              <a:defRPr sz="12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رؤى</a:t>
            </a:r>
            <a:r>
              <a:rPr sz="1600" dirty="0"/>
              <a:t> </a:t>
            </a:r>
            <a:r>
              <a:rPr sz="1600" dirty="0" err="1"/>
              <a:t>عبدالله</a:t>
            </a:r>
            <a:endParaRPr sz="1600" dirty="0"/>
          </a:p>
          <a:p>
            <a:pPr algn="r" rtl="1">
              <a:spcAft>
                <a:spcPts val="200"/>
              </a:spcAft>
              <a:defRPr sz="12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غالية</a:t>
            </a:r>
            <a:r>
              <a:rPr sz="1600" dirty="0"/>
              <a:t> </a:t>
            </a:r>
            <a:r>
              <a:rPr sz="1600" dirty="0" err="1"/>
              <a:t>محمد</a:t>
            </a:r>
            <a:endParaRPr sz="1600" dirty="0"/>
          </a:p>
          <a:p>
            <a:pPr algn="r" rtl="1">
              <a:spcAft>
                <a:spcPts val="200"/>
              </a:spcAft>
              <a:defRPr sz="12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ريم</a:t>
            </a:r>
            <a:r>
              <a:rPr sz="1600" dirty="0"/>
              <a:t> </a:t>
            </a:r>
            <a:r>
              <a:rPr sz="1600" dirty="0" err="1"/>
              <a:t>كليبي</a:t>
            </a:r>
            <a:endParaRPr sz="1600" dirty="0"/>
          </a:p>
          <a:p>
            <a:pPr algn="r" rtl="1">
              <a:spcAft>
                <a:spcPts val="200"/>
              </a:spcAft>
              <a:defRPr sz="12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لولوه</a:t>
            </a:r>
            <a:r>
              <a:rPr sz="1600" dirty="0"/>
              <a:t> </a:t>
            </a:r>
            <a:r>
              <a:rPr sz="1600" dirty="0" err="1"/>
              <a:t>فهد</a:t>
            </a:r>
            <a:endParaRPr sz="1600" dirty="0"/>
          </a:p>
          <a:p>
            <a:pPr algn="r" rtl="1">
              <a:spcAft>
                <a:spcPts val="200"/>
              </a:spcAft>
              <a:defRPr sz="12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روابي</a:t>
            </a:r>
            <a:r>
              <a:rPr sz="1600" dirty="0"/>
              <a:t> </a:t>
            </a:r>
            <a:r>
              <a:rPr sz="1600" dirty="0" err="1"/>
              <a:t>موسى</a:t>
            </a:r>
            <a:endParaRPr sz="1600" dirty="0"/>
          </a:p>
          <a:p>
            <a:pPr algn="r" rtl="1">
              <a:spcAft>
                <a:spcPts val="200"/>
              </a:spcAft>
              <a:defRPr sz="12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حسناء</a:t>
            </a:r>
            <a:r>
              <a:rPr sz="1600" dirty="0"/>
              <a:t> </a:t>
            </a:r>
            <a:r>
              <a:rPr sz="1600" dirty="0" err="1"/>
              <a:t>أحمد</a:t>
            </a:r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6339535" y="3840480"/>
            <a:ext cx="49377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2415" y="3977639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600"/>
              </a:spcAft>
              <a:defRPr sz="1400" b="1">
                <a:solidFill>
                  <a:srgbClr val="FB923C"/>
                </a:solidFill>
                <a:latin typeface="Cairo"/>
              </a:defRPr>
            </a:pPr>
            <a:r>
              <a:rPr sz="1600" dirty="0"/>
              <a:t>🎓 </a:t>
            </a:r>
            <a:r>
              <a:rPr sz="1600" dirty="0" err="1"/>
              <a:t>إشراف</a:t>
            </a:r>
            <a:r>
              <a:rPr sz="1600" dirty="0"/>
              <a:t> </a:t>
            </a:r>
            <a:r>
              <a:rPr sz="1600" dirty="0" err="1"/>
              <a:t>المدربة</a:t>
            </a:r>
            <a:r>
              <a:rPr sz="1600" dirty="0"/>
              <a:t> </a:t>
            </a:r>
            <a:r>
              <a:rPr sz="1600" dirty="0" err="1"/>
              <a:t>القديرة</a:t>
            </a:r>
            <a:r>
              <a:rPr sz="1600" dirty="0"/>
              <a:t>:</a:t>
            </a:r>
          </a:p>
          <a:p>
            <a:pPr algn="ctr" rtl="1">
              <a:spcAft>
                <a:spcPts val="1400"/>
              </a:spcAft>
              <a:defRPr sz="1600" b="1">
                <a:solidFill>
                  <a:srgbClr val="F8FAFC"/>
                </a:solidFill>
                <a:latin typeface="Cairo"/>
              </a:defRPr>
            </a:pPr>
            <a:r>
              <a:rPr dirty="0" err="1"/>
              <a:t>الأستاذة</a:t>
            </a:r>
            <a:r>
              <a:rPr dirty="0"/>
              <a:t> / </a:t>
            </a:r>
            <a:r>
              <a:rPr dirty="0" err="1"/>
              <a:t>عفاف</a:t>
            </a:r>
            <a:r>
              <a:rPr dirty="0"/>
              <a:t> </a:t>
            </a:r>
            <a:r>
              <a:rPr dirty="0" err="1"/>
              <a:t>أحمد</a:t>
            </a:r>
            <a:endParaRPr dirty="0"/>
          </a:p>
          <a:p>
            <a:pPr algn="ctr" rtl="1">
              <a:spcAft>
                <a:spcPts val="400"/>
              </a:spcAft>
              <a:defRPr sz="130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📅 </a:t>
            </a:r>
            <a:r>
              <a:rPr sz="1600" dirty="0" err="1"/>
              <a:t>العام</a:t>
            </a:r>
            <a:r>
              <a:rPr sz="1600" dirty="0"/>
              <a:t> </a:t>
            </a:r>
            <a:r>
              <a:rPr sz="1600" dirty="0" err="1"/>
              <a:t>الجامعي</a:t>
            </a:r>
            <a:r>
              <a:rPr sz="1600" dirty="0"/>
              <a:t>:</a:t>
            </a:r>
          </a:p>
          <a:p>
            <a:pPr algn="ctr" rtl="1">
              <a:defRPr sz="14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1448هـ – 1449هـ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4FBB3-2B2F-7DE9-27BC-F1C1387487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53" r="210" b="36526"/>
          <a:stretch/>
        </p:blipFill>
        <p:spPr bwMode="auto">
          <a:xfrm>
            <a:off x="9368485" y="87630"/>
            <a:ext cx="1908810" cy="8496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C63A20-04A9-801C-6364-3C850645CC62}"/>
              </a:ext>
            </a:extLst>
          </p:cNvPr>
          <p:cNvSpPr/>
          <p:nvPr/>
        </p:nvSpPr>
        <p:spPr>
          <a:xfrm>
            <a:off x="914400" y="87630"/>
            <a:ext cx="1869440" cy="77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31C996-C70B-038C-82CE-66AB79DE3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-339338"/>
            <a:ext cx="1869440" cy="16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مشكلة</a:t>
            </a:r>
            <a:r>
              <a:rPr sz="2400" dirty="0"/>
              <a:t> </a:t>
            </a:r>
            <a:r>
              <a:rPr sz="2400" dirty="0" err="1"/>
              <a:t>البحث</a:t>
            </a:r>
            <a:r>
              <a:rPr sz="2400" dirty="0"/>
              <a:t>: </a:t>
            </a:r>
            <a:r>
              <a:rPr sz="2400" dirty="0" err="1"/>
              <a:t>فجوة</a:t>
            </a:r>
            <a:r>
              <a:rPr sz="2400" dirty="0"/>
              <a:t> </a:t>
            </a:r>
            <a:r>
              <a:rPr sz="2400" dirty="0" err="1"/>
              <a:t>الوعي</a:t>
            </a:r>
            <a:r>
              <a:rPr sz="2400" dirty="0"/>
              <a:t> </a:t>
            </a:r>
            <a:r>
              <a:rPr sz="2400" dirty="0" err="1"/>
              <a:t>واستغلال</a:t>
            </a:r>
            <a:r>
              <a:rPr sz="2400" dirty="0"/>
              <a:t> </a:t>
            </a:r>
            <a:r>
              <a:rPr sz="2400" dirty="0" err="1"/>
              <a:t>العنصر</a:t>
            </a:r>
            <a:r>
              <a:rPr sz="2400" dirty="0"/>
              <a:t> </a:t>
            </a:r>
            <a:r>
              <a:rPr sz="2400" dirty="0" err="1"/>
              <a:t>البشري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600" b="1">
                <a:solidFill>
                  <a:srgbClr val="FB923C"/>
                </a:solidFill>
                <a:latin typeface="Cairo"/>
              </a:defRPr>
            </a:pPr>
            <a:r>
              <a:rPr dirty="0"/>
              <a:t>⚠️ </a:t>
            </a:r>
            <a:r>
              <a:rPr dirty="0" err="1"/>
              <a:t>الحقيقة</a:t>
            </a:r>
            <a:r>
              <a:rPr dirty="0"/>
              <a:t> </a:t>
            </a:r>
            <a:r>
              <a:rPr dirty="0" err="1"/>
              <a:t>السيبرانية</a:t>
            </a:r>
            <a:r>
              <a:rPr dirty="0"/>
              <a:t>: </a:t>
            </a:r>
            <a:r>
              <a:rPr dirty="0" err="1"/>
              <a:t>الإنسان</a:t>
            </a:r>
            <a:r>
              <a:rPr dirty="0"/>
              <a:t> </a:t>
            </a:r>
            <a:r>
              <a:rPr dirty="0" err="1"/>
              <a:t>هو</a:t>
            </a:r>
            <a:r>
              <a:rPr dirty="0"/>
              <a:t> </a:t>
            </a:r>
            <a:r>
              <a:rPr dirty="0" err="1"/>
              <a:t>خط</a:t>
            </a:r>
            <a:r>
              <a:rPr dirty="0"/>
              <a:t> </a:t>
            </a:r>
            <a:r>
              <a:rPr dirty="0" err="1"/>
              <a:t>الدفاع</a:t>
            </a:r>
            <a:r>
              <a:rPr dirty="0"/>
              <a:t> </a:t>
            </a:r>
            <a:r>
              <a:rPr dirty="0" err="1"/>
              <a:t>الأول</a:t>
            </a:r>
            <a:r>
              <a:rPr dirty="0"/>
              <a:t> </a:t>
            </a:r>
            <a:r>
              <a:rPr dirty="0" err="1"/>
              <a:t>والأكثر</a:t>
            </a:r>
            <a:r>
              <a:rPr dirty="0"/>
              <a:t> </a:t>
            </a:r>
            <a:r>
              <a:rPr dirty="0" err="1"/>
              <a:t>استهدافاً</a:t>
            </a:r>
            <a:endParaRPr dirty="0"/>
          </a:p>
          <a:p>
            <a:pPr algn="r" rtl="1">
              <a:defRPr sz="12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تؤكد</a:t>
            </a:r>
            <a:r>
              <a:rPr sz="1600" dirty="0"/>
              <a:t> </a:t>
            </a:r>
            <a:r>
              <a:rPr sz="1600" dirty="0" err="1"/>
              <a:t>التقارير</a:t>
            </a:r>
            <a:r>
              <a:rPr sz="1600" dirty="0"/>
              <a:t> </a:t>
            </a:r>
            <a:r>
              <a:rPr sz="1600" dirty="0" err="1"/>
              <a:t>الأمنية</a:t>
            </a:r>
            <a:r>
              <a:rPr sz="1600" dirty="0"/>
              <a:t> </a:t>
            </a:r>
            <a:r>
              <a:rPr sz="1600" dirty="0" err="1"/>
              <a:t>الدولية</a:t>
            </a:r>
            <a:r>
              <a:rPr sz="1600" dirty="0"/>
              <a:t> (Verizon &amp; NIST) </a:t>
            </a:r>
            <a:r>
              <a:rPr sz="1600" dirty="0" err="1"/>
              <a:t>أن</a:t>
            </a:r>
            <a:r>
              <a:rPr sz="1600" dirty="0"/>
              <a:t> </a:t>
            </a:r>
            <a:r>
              <a:rPr sz="1600" dirty="0" err="1"/>
              <a:t>أكثر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85%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الاختراقات</a:t>
            </a:r>
            <a:r>
              <a:rPr sz="1600" dirty="0"/>
              <a:t> </a:t>
            </a:r>
            <a:r>
              <a:rPr sz="1600" dirty="0" err="1"/>
              <a:t>الناجحة</a:t>
            </a:r>
            <a:r>
              <a:rPr sz="1600" dirty="0"/>
              <a:t> </a:t>
            </a:r>
            <a:r>
              <a:rPr sz="1600" dirty="0" err="1"/>
              <a:t>ترجع</a:t>
            </a:r>
            <a:r>
              <a:rPr sz="1600" dirty="0"/>
              <a:t> </a:t>
            </a:r>
            <a:r>
              <a:rPr sz="1600" dirty="0" err="1"/>
              <a:t>إلى</a:t>
            </a:r>
            <a:r>
              <a:rPr sz="1600" dirty="0"/>
              <a:t> </a:t>
            </a:r>
            <a:r>
              <a:rPr sz="1600" dirty="0" err="1"/>
              <a:t>استغلال</a:t>
            </a:r>
            <a:r>
              <a:rPr sz="1600" dirty="0"/>
              <a:t> </a:t>
            </a:r>
            <a:r>
              <a:rPr sz="1600" dirty="0" err="1"/>
              <a:t>الثغرات</a:t>
            </a:r>
            <a:r>
              <a:rPr sz="1600" dirty="0"/>
              <a:t> </a:t>
            </a:r>
            <a:r>
              <a:rPr sz="1600" dirty="0" err="1"/>
              <a:t>السلوكية</a:t>
            </a:r>
            <a:r>
              <a:rPr sz="1600" dirty="0"/>
              <a:t> </a:t>
            </a:r>
            <a:r>
              <a:rPr sz="1600" dirty="0" err="1"/>
              <a:t>عبر</a:t>
            </a:r>
            <a:r>
              <a:rPr sz="1600" dirty="0"/>
              <a:t> </a:t>
            </a:r>
            <a:r>
              <a:rPr sz="1600" dirty="0" err="1"/>
              <a:t>الهندسة</a:t>
            </a:r>
            <a:r>
              <a:rPr sz="1600" dirty="0"/>
              <a:t> </a:t>
            </a:r>
            <a:r>
              <a:rPr sz="1600" dirty="0" err="1"/>
              <a:t>الاجتماعية</a:t>
            </a:r>
            <a:r>
              <a:rPr sz="1600" dirty="0"/>
              <a:t> </a:t>
            </a:r>
            <a:r>
              <a:rPr sz="1600" dirty="0" err="1"/>
              <a:t>والتصيد</a:t>
            </a:r>
            <a:r>
              <a:rPr sz="1600" dirty="0"/>
              <a:t>، </a:t>
            </a:r>
            <a:r>
              <a:rPr sz="1600" dirty="0" err="1"/>
              <a:t>وليس</a:t>
            </a:r>
            <a:r>
              <a:rPr sz="1600" dirty="0"/>
              <a:t> </a:t>
            </a:r>
            <a:r>
              <a:rPr sz="1600" dirty="0" err="1"/>
              <a:t>إلى</a:t>
            </a:r>
            <a:r>
              <a:rPr sz="1600" dirty="0"/>
              <a:t> </a:t>
            </a:r>
            <a:r>
              <a:rPr sz="1600" dirty="0" err="1"/>
              <a:t>كسر</a:t>
            </a:r>
            <a:r>
              <a:rPr sz="1600" dirty="0"/>
              <a:t> </a:t>
            </a:r>
            <a:r>
              <a:rPr sz="1600" dirty="0" err="1"/>
              <a:t>الخوارزميات</a:t>
            </a:r>
            <a:r>
              <a:rPr sz="1600" dirty="0"/>
              <a:t> </a:t>
            </a:r>
            <a:r>
              <a:rPr sz="1600" dirty="0" err="1"/>
              <a:t>المشفرة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12080" cy="3383280"/>
          </a:xfrm>
          <a:prstGeom prst="roundRect">
            <a:avLst/>
          </a:prstGeom>
          <a:solidFill>
            <a:srgbClr val="18223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84632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  <a:defRPr sz="1500" b="1">
                <a:solidFill>
                  <a:srgbClr val="F87171"/>
                </a:solidFill>
                <a:latin typeface="Cairo"/>
              </a:defRPr>
            </a:pPr>
            <a:r>
              <a:rPr sz="1600" dirty="0"/>
              <a:t>❌ </a:t>
            </a:r>
            <a:r>
              <a:rPr sz="1600" dirty="0" err="1"/>
              <a:t>أسلوب</a:t>
            </a:r>
            <a:r>
              <a:rPr sz="1600" dirty="0"/>
              <a:t> </a:t>
            </a:r>
            <a:r>
              <a:rPr sz="1600" dirty="0" err="1"/>
              <a:t>التوعية</a:t>
            </a:r>
            <a:r>
              <a:rPr sz="1600" dirty="0"/>
              <a:t> </a:t>
            </a:r>
            <a:r>
              <a:rPr sz="1600" dirty="0" err="1"/>
              <a:t>التقليدي</a:t>
            </a:r>
            <a:r>
              <a:rPr sz="1600" dirty="0"/>
              <a:t> </a:t>
            </a:r>
            <a:r>
              <a:rPr lang="en-GB" sz="1600" dirty="0"/>
              <a:t>)</a:t>
            </a:r>
            <a:r>
              <a:rPr sz="1600" dirty="0" err="1"/>
              <a:t>الوضع</a:t>
            </a:r>
            <a:r>
              <a:rPr sz="1600" dirty="0"/>
              <a:t> </a:t>
            </a:r>
            <a:r>
              <a:rPr sz="1600" dirty="0" err="1"/>
              <a:t>الراهن</a:t>
            </a:r>
            <a:r>
              <a:rPr lang="en-GB" sz="1600" dirty="0"/>
              <a:t>(</a:t>
            </a:r>
            <a:endParaRPr sz="1600" dirty="0"/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قوالب</a:t>
            </a:r>
            <a:r>
              <a:rPr sz="1600" dirty="0"/>
              <a:t> </a:t>
            </a:r>
            <a:r>
              <a:rPr sz="1600" dirty="0" err="1"/>
              <a:t>نظرية</a:t>
            </a:r>
            <a:r>
              <a:rPr sz="1600" dirty="0"/>
              <a:t> </a:t>
            </a:r>
            <a:r>
              <a:rPr sz="1600" dirty="0" err="1"/>
              <a:t>ساكنة</a:t>
            </a:r>
            <a:r>
              <a:rPr sz="1600" dirty="0"/>
              <a:t>: </a:t>
            </a:r>
            <a:r>
              <a:rPr sz="1600" dirty="0" err="1"/>
              <a:t>مطويات</a:t>
            </a:r>
            <a:r>
              <a:rPr sz="1600" dirty="0"/>
              <a:t> </a:t>
            </a:r>
            <a:r>
              <a:rPr sz="1600" dirty="0" err="1"/>
              <a:t>ومحاضرات</a:t>
            </a:r>
            <a:r>
              <a:rPr sz="1600" dirty="0"/>
              <a:t> </a:t>
            </a:r>
            <a:r>
              <a:rPr sz="1600" dirty="0" err="1"/>
              <a:t>تلقينية</a:t>
            </a:r>
            <a:r>
              <a:rPr sz="1600" dirty="0"/>
              <a:t> </a:t>
            </a:r>
            <a:r>
              <a:rPr sz="1600" dirty="0" err="1"/>
              <a:t>جامدة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انعدام</a:t>
            </a:r>
            <a:r>
              <a:rPr sz="1600" dirty="0"/>
              <a:t> </a:t>
            </a:r>
            <a:r>
              <a:rPr sz="1600" dirty="0" err="1"/>
              <a:t>الممارسة</a:t>
            </a:r>
            <a:r>
              <a:rPr sz="1600" dirty="0"/>
              <a:t>: </a:t>
            </a:r>
            <a:r>
              <a:rPr sz="1600" dirty="0" err="1"/>
              <a:t>غياب</a:t>
            </a:r>
            <a:r>
              <a:rPr sz="1600" dirty="0"/>
              <a:t> </a:t>
            </a:r>
            <a:r>
              <a:rPr sz="1600" dirty="0" err="1"/>
              <a:t>بيئات</a:t>
            </a:r>
            <a:r>
              <a:rPr sz="1600" dirty="0"/>
              <a:t> </a:t>
            </a:r>
            <a:r>
              <a:rPr sz="1600" dirty="0" err="1"/>
              <a:t>محاكاة</a:t>
            </a:r>
            <a:r>
              <a:rPr sz="1600" dirty="0"/>
              <a:t> </a:t>
            </a:r>
            <a:r>
              <a:rPr sz="1600" dirty="0" err="1"/>
              <a:t>آمنة</a:t>
            </a:r>
            <a:r>
              <a:rPr sz="1600" dirty="0"/>
              <a:t> </a:t>
            </a:r>
            <a:r>
              <a:rPr sz="1600" dirty="0" err="1"/>
              <a:t>لاختبار</a:t>
            </a:r>
            <a:r>
              <a:rPr sz="1600" dirty="0"/>
              <a:t> </a:t>
            </a:r>
            <a:r>
              <a:rPr sz="1600" dirty="0" err="1"/>
              <a:t>رد</a:t>
            </a:r>
            <a:r>
              <a:rPr sz="1600" dirty="0"/>
              <a:t> </a:t>
            </a:r>
            <a:r>
              <a:rPr sz="1600" dirty="0" err="1"/>
              <a:t>الفعل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لا</a:t>
            </a:r>
            <a:r>
              <a:rPr sz="1600" dirty="0"/>
              <a:t> </a:t>
            </a:r>
            <a:r>
              <a:rPr sz="1600" dirty="0" err="1"/>
              <a:t>يوجد</a:t>
            </a:r>
            <a:r>
              <a:rPr sz="1600" dirty="0"/>
              <a:t> </a:t>
            </a:r>
            <a:r>
              <a:rPr sz="1600" dirty="0" err="1"/>
              <a:t>قياس</a:t>
            </a:r>
            <a:r>
              <a:rPr sz="1600" dirty="0"/>
              <a:t> </a:t>
            </a:r>
            <a:r>
              <a:rPr sz="1600" dirty="0" err="1"/>
              <a:t>حقيقي</a:t>
            </a:r>
            <a:r>
              <a:rPr sz="1600" dirty="0"/>
              <a:t>: </a:t>
            </a:r>
            <a:r>
              <a:rPr sz="1600" dirty="0" err="1"/>
              <a:t>الاعتماد</a:t>
            </a:r>
            <a:r>
              <a:rPr sz="1600" dirty="0"/>
              <a:t> </a:t>
            </a:r>
            <a:r>
              <a:rPr sz="1600" dirty="0" err="1"/>
              <a:t>على</a:t>
            </a:r>
            <a:r>
              <a:rPr sz="1600" dirty="0"/>
              <a:t> </a:t>
            </a:r>
            <a:r>
              <a:rPr sz="1600" dirty="0" err="1"/>
              <a:t>تخمين</a:t>
            </a:r>
            <a:r>
              <a:rPr sz="1600" dirty="0"/>
              <a:t> </a:t>
            </a:r>
            <a:r>
              <a:rPr sz="1600" dirty="0" err="1"/>
              <a:t>المستخدم</a:t>
            </a:r>
            <a:r>
              <a:rPr sz="1600" dirty="0"/>
              <a:t> </a:t>
            </a:r>
            <a:r>
              <a:rPr sz="1600" dirty="0" err="1"/>
              <a:t>لوعيه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النتيجة</a:t>
            </a:r>
            <a:r>
              <a:rPr sz="1600" dirty="0"/>
              <a:t>: </a:t>
            </a:r>
            <a:r>
              <a:rPr sz="1600" dirty="0" err="1"/>
              <a:t>الوقوع</a:t>
            </a:r>
            <a:r>
              <a:rPr sz="1600" dirty="0"/>
              <a:t> </a:t>
            </a:r>
            <a:r>
              <a:rPr sz="1600" dirty="0" err="1"/>
              <a:t>السريع</a:t>
            </a:r>
            <a:r>
              <a:rPr sz="1600" dirty="0"/>
              <a:t> </a:t>
            </a:r>
            <a:r>
              <a:rPr sz="1600" dirty="0" err="1"/>
              <a:t>ضحية</a:t>
            </a:r>
            <a:r>
              <a:rPr sz="1600" dirty="0"/>
              <a:t> </a:t>
            </a:r>
            <a:r>
              <a:rPr sz="1600" dirty="0" err="1"/>
              <a:t>للهندسة</a:t>
            </a:r>
            <a:r>
              <a:rPr sz="1600" dirty="0"/>
              <a:t> </a:t>
            </a:r>
            <a:r>
              <a:rPr sz="1600" dirty="0" err="1"/>
              <a:t>الاجتماعية</a:t>
            </a:r>
            <a:r>
              <a:rPr sz="1600" dirty="0"/>
              <a:t> </a:t>
            </a:r>
            <a:r>
              <a:rPr sz="1600" dirty="0" err="1"/>
              <a:t>عند</a:t>
            </a:r>
            <a:r>
              <a:rPr sz="1600" dirty="0"/>
              <a:t> </a:t>
            </a:r>
            <a:r>
              <a:rPr sz="1600" dirty="0" err="1"/>
              <a:t>الهجوم</a:t>
            </a:r>
            <a:r>
              <a:rPr sz="1600" dirty="0"/>
              <a:t> </a:t>
            </a:r>
            <a:r>
              <a:rPr sz="1600" dirty="0" err="1"/>
              <a:t>الفعلي</a:t>
            </a:r>
            <a:r>
              <a:rPr sz="16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2971800"/>
            <a:ext cx="5212080" cy="3383280"/>
          </a:xfrm>
          <a:prstGeom prst="roundRect">
            <a:avLst/>
          </a:prstGeom>
          <a:solidFill>
            <a:srgbClr val="1822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0975" y="3108960"/>
            <a:ext cx="48463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  <a:defRPr sz="1500" b="1">
                <a:solidFill>
                  <a:srgbClr val="34D399"/>
                </a:solidFill>
                <a:latin typeface="Cairo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نموذج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CyberShield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التفاعلي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الحل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المبتكر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F8FAFC"/>
                </a:solidFill>
                <a:latin typeface="Cairo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تعلم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تجريبي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حي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مواقف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تفاعلية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متدرجة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الخطوات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F8FAFC"/>
                </a:solidFill>
                <a:latin typeface="Cairo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بيئة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آمنة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ومعزولة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(Sandbox):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محاكاة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الهجوم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دون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مخاطرة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F8FAFC"/>
                </a:solidFill>
                <a:latin typeface="Cairo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قياس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موضوعي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مقنن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تشخيص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قبلي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ومقارنة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بعدية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دقيقة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r" rtl="1">
              <a:spcAft>
                <a:spcPts val="600"/>
              </a:spcAft>
              <a:buFont typeface="Arial" panose="020B0604020202020204" pitchFamily="34" charset="0"/>
              <a:buChar char="•"/>
              <a:defRPr sz="1150">
                <a:solidFill>
                  <a:srgbClr val="F8FAFC"/>
                </a:solidFill>
                <a:latin typeface="Cairo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فحص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ذاتي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محلي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أدوات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فحص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استدلالي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تكشف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خداع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الروابط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والرسائل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/>
              <a:t>أهداف المشروع والركائز الأربع للحل التفاعلي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30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🎯 </a:t>
            </a:r>
            <a:r>
              <a:rPr sz="1600" dirty="0" err="1"/>
              <a:t>الهدف</a:t>
            </a:r>
            <a:r>
              <a:rPr sz="1600" dirty="0"/>
              <a:t> </a:t>
            </a:r>
            <a:r>
              <a:rPr sz="1600" dirty="0" err="1"/>
              <a:t>العام</a:t>
            </a:r>
            <a:r>
              <a:rPr sz="1600" dirty="0"/>
              <a:t> </a:t>
            </a:r>
            <a:r>
              <a:rPr sz="1600" dirty="0" err="1"/>
              <a:t>للمشروع</a:t>
            </a:r>
            <a:r>
              <a:rPr sz="1600" dirty="0"/>
              <a:t>:</a:t>
            </a:r>
          </a:p>
          <a:p>
            <a:pPr algn="r" rtl="1">
              <a:defRPr sz="1200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تطوير</a:t>
            </a:r>
            <a:r>
              <a:rPr sz="1600" dirty="0"/>
              <a:t> </a:t>
            </a:r>
            <a:r>
              <a:rPr sz="1600" dirty="0" err="1"/>
              <a:t>منصة</a:t>
            </a:r>
            <a:r>
              <a:rPr sz="1600" dirty="0"/>
              <a:t> </a:t>
            </a:r>
            <a:r>
              <a:rPr sz="1600" dirty="0" err="1"/>
              <a:t>ويب</a:t>
            </a:r>
            <a:r>
              <a:rPr sz="1600" dirty="0"/>
              <a:t> </a:t>
            </a:r>
            <a:r>
              <a:rPr sz="1600" dirty="0" err="1"/>
              <a:t>تفاعلية</a:t>
            </a:r>
            <a:r>
              <a:rPr sz="1600" dirty="0"/>
              <a:t> </a:t>
            </a:r>
            <a:r>
              <a:rPr sz="1600" dirty="0" err="1"/>
              <a:t>ذكية</a:t>
            </a:r>
            <a:r>
              <a:rPr sz="1600" dirty="0"/>
              <a:t> </a:t>
            </a:r>
            <a:r>
              <a:rPr sz="1600" dirty="0" err="1"/>
              <a:t>ومتكاملة</a:t>
            </a:r>
            <a:r>
              <a:rPr sz="1600" dirty="0"/>
              <a:t> </a:t>
            </a:r>
            <a:r>
              <a:rPr sz="1600" dirty="0" err="1"/>
              <a:t>تسهم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تشخيص</a:t>
            </a:r>
            <a:r>
              <a:rPr sz="1600" dirty="0"/>
              <a:t> </a:t>
            </a:r>
            <a:r>
              <a:rPr sz="1600" dirty="0" err="1"/>
              <a:t>ورفع</a:t>
            </a:r>
            <a:r>
              <a:rPr sz="1600" dirty="0"/>
              <a:t> </a:t>
            </a:r>
            <a:r>
              <a:rPr sz="1600" dirty="0" err="1"/>
              <a:t>الوعي</a:t>
            </a:r>
            <a:r>
              <a:rPr sz="1600" dirty="0"/>
              <a:t> </a:t>
            </a:r>
            <a:r>
              <a:rPr sz="1600" dirty="0" err="1"/>
              <a:t>الأمني</a:t>
            </a:r>
            <a:r>
              <a:rPr sz="1600" dirty="0"/>
              <a:t> </a:t>
            </a:r>
            <a:r>
              <a:rPr sz="1600" dirty="0" err="1"/>
              <a:t>للمستخدمين</a:t>
            </a:r>
            <a:r>
              <a:rPr sz="1600" dirty="0"/>
              <a:t> </a:t>
            </a:r>
            <a:r>
              <a:rPr sz="1600" dirty="0" err="1"/>
              <a:t>وحمايتهم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الجرائم</a:t>
            </a:r>
            <a:r>
              <a:rPr sz="1600" dirty="0"/>
              <a:t> </a:t>
            </a:r>
            <a:r>
              <a:rPr sz="1600" dirty="0" err="1"/>
              <a:t>الإلكترونية</a:t>
            </a:r>
            <a:r>
              <a:rPr sz="1600" dirty="0"/>
              <a:t> </a:t>
            </a:r>
            <a:r>
              <a:rPr sz="1600" dirty="0" err="1"/>
              <a:t>عبر</a:t>
            </a:r>
            <a:r>
              <a:rPr sz="1600" dirty="0"/>
              <a:t> </a:t>
            </a:r>
            <a:r>
              <a:rPr sz="1600" dirty="0" err="1"/>
              <a:t>مسار</a:t>
            </a:r>
            <a:r>
              <a:rPr sz="1600" dirty="0"/>
              <a:t> </a:t>
            </a:r>
            <a:r>
              <a:rPr sz="1600" dirty="0" err="1"/>
              <a:t>مقنن</a:t>
            </a:r>
            <a:r>
              <a:rPr sz="1600" dirty="0"/>
              <a:t>، </a:t>
            </a:r>
            <a:r>
              <a:rPr sz="1600" dirty="0" err="1"/>
              <a:t>وسيناريوهات</a:t>
            </a:r>
            <a:r>
              <a:rPr sz="1600" dirty="0"/>
              <a:t> </a:t>
            </a:r>
            <a:r>
              <a:rPr sz="1600" dirty="0" err="1"/>
              <a:t>محاكاة</a:t>
            </a:r>
            <a:r>
              <a:rPr sz="1600" dirty="0"/>
              <a:t> </a:t>
            </a:r>
            <a:r>
              <a:rPr sz="1600" dirty="0" err="1"/>
              <a:t>واقعية</a:t>
            </a:r>
            <a:r>
              <a:rPr sz="1600" dirty="0"/>
              <a:t>، </a:t>
            </a:r>
            <a:r>
              <a:rPr sz="1600" dirty="0" err="1"/>
              <a:t>وأدوات</a:t>
            </a:r>
            <a:r>
              <a:rPr sz="1600" dirty="0"/>
              <a:t> </a:t>
            </a:r>
            <a:r>
              <a:rPr sz="1600" dirty="0" err="1"/>
              <a:t>فحص</a:t>
            </a:r>
            <a:r>
              <a:rPr sz="1600" dirty="0"/>
              <a:t> </a:t>
            </a:r>
            <a:r>
              <a:rPr sz="1600" dirty="0" err="1"/>
              <a:t>آمنة</a:t>
            </a:r>
            <a:r>
              <a:rPr sz="1600" dirty="0"/>
              <a:t> </a:t>
            </a:r>
            <a:r>
              <a:rPr sz="1600" dirty="0" err="1"/>
              <a:t>ومحلية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24225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2160" y="2971800"/>
            <a:ext cx="73152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84632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400" b="1">
                <a:solidFill>
                  <a:srgbClr val="14B8A6"/>
                </a:solidFill>
                <a:latin typeface="Cairo"/>
              </a:defRPr>
            </a:pPr>
            <a:r>
              <a:rPr lang="ar-SA" sz="1600" dirty="0"/>
              <a:t>2. </a:t>
            </a:r>
            <a:r>
              <a:rPr sz="1600" dirty="0" err="1"/>
              <a:t>التشخيص</a:t>
            </a:r>
            <a:r>
              <a:rPr sz="1600" dirty="0"/>
              <a:t> </a:t>
            </a:r>
            <a:r>
              <a:rPr sz="1600" dirty="0" err="1"/>
              <a:t>الدقيق</a:t>
            </a:r>
            <a:r>
              <a:rPr sz="1600" dirty="0"/>
              <a:t> (Pre-Assessment)</a:t>
            </a:r>
          </a:p>
          <a:p>
            <a:pPr algn="r" rtl="1"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قياس</a:t>
            </a:r>
            <a:r>
              <a:rPr sz="1600" dirty="0"/>
              <a:t> </a:t>
            </a:r>
            <a:r>
              <a:rPr sz="1600" dirty="0" err="1"/>
              <a:t>المستوى</a:t>
            </a:r>
            <a:r>
              <a:rPr sz="1600" dirty="0"/>
              <a:t> </a:t>
            </a:r>
            <a:r>
              <a:rPr sz="1600" dirty="0" err="1"/>
              <a:t>الأمني</a:t>
            </a:r>
            <a:r>
              <a:rPr sz="1600" dirty="0"/>
              <a:t> </a:t>
            </a:r>
            <a:r>
              <a:rPr sz="1600" dirty="0" err="1"/>
              <a:t>الأولي</a:t>
            </a:r>
            <a:r>
              <a:rPr sz="1600" dirty="0"/>
              <a:t> </a:t>
            </a:r>
            <a:r>
              <a:rPr sz="1600" dirty="0" err="1"/>
              <a:t>لتحديد</a:t>
            </a:r>
            <a:r>
              <a:rPr sz="1600" dirty="0"/>
              <a:t> </a:t>
            </a:r>
            <a:r>
              <a:rPr sz="1600" dirty="0" err="1"/>
              <a:t>خط</a:t>
            </a:r>
            <a:r>
              <a:rPr sz="1600" dirty="0"/>
              <a:t> </a:t>
            </a:r>
            <a:r>
              <a:rPr sz="1600" dirty="0" err="1"/>
              <a:t>الأساس</a:t>
            </a:r>
            <a:r>
              <a:rPr sz="1600" dirty="0"/>
              <a:t> </a:t>
            </a:r>
            <a:r>
              <a:rPr sz="1600" dirty="0" err="1"/>
              <a:t>المعرفي</a:t>
            </a:r>
            <a:r>
              <a:rPr sz="1600" dirty="0"/>
              <a:t> </a:t>
            </a:r>
            <a:r>
              <a:rPr sz="1600" dirty="0" err="1"/>
              <a:t>وتحديد</a:t>
            </a:r>
            <a:r>
              <a:rPr sz="1600" dirty="0"/>
              <a:t> </a:t>
            </a:r>
            <a:r>
              <a:rPr sz="1600" dirty="0" err="1"/>
              <a:t>مكامن</a:t>
            </a:r>
            <a:r>
              <a:rPr sz="1600" dirty="0"/>
              <a:t> </a:t>
            </a:r>
            <a:r>
              <a:rPr sz="1600" dirty="0" err="1"/>
              <a:t>الضعف</a:t>
            </a:r>
            <a:r>
              <a:rPr sz="16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24225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338560" y="2971800"/>
            <a:ext cx="73152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484632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400" b="1">
                <a:solidFill>
                  <a:srgbClr val="38BDF8"/>
                </a:solidFill>
                <a:latin typeface="Cairo"/>
              </a:defRPr>
            </a:pPr>
            <a:r>
              <a:rPr lang="ar-SA" sz="1600" dirty="0"/>
              <a:t>1.</a:t>
            </a:r>
            <a:r>
              <a:rPr sz="1600" dirty="0"/>
              <a:t> </a:t>
            </a:r>
            <a:r>
              <a:rPr sz="1600" dirty="0" err="1"/>
              <a:t>المسار</a:t>
            </a:r>
            <a:r>
              <a:rPr sz="1600" dirty="0"/>
              <a:t> </a:t>
            </a:r>
            <a:r>
              <a:rPr sz="1600" dirty="0" err="1"/>
              <a:t>المقنن</a:t>
            </a:r>
            <a:r>
              <a:rPr sz="1600" dirty="0"/>
              <a:t> (7 Modules)</a:t>
            </a:r>
          </a:p>
          <a:p>
            <a:pPr algn="r" rtl="1"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تغطية</a:t>
            </a:r>
            <a:r>
              <a:rPr sz="1600" dirty="0"/>
              <a:t> 7 </a:t>
            </a:r>
            <a:r>
              <a:rPr sz="1600" dirty="0" err="1"/>
              <a:t>وحدات</a:t>
            </a:r>
            <a:r>
              <a:rPr sz="1600" dirty="0"/>
              <a:t> </a:t>
            </a:r>
            <a:r>
              <a:rPr sz="1600" dirty="0" err="1"/>
              <a:t>تعليمية</a:t>
            </a:r>
            <a:r>
              <a:rPr sz="1600" dirty="0"/>
              <a:t> </a:t>
            </a:r>
            <a:r>
              <a:rPr sz="1600" dirty="0" err="1"/>
              <a:t>تفاعلية</a:t>
            </a:r>
            <a:r>
              <a:rPr sz="1600" dirty="0"/>
              <a:t> </a:t>
            </a:r>
            <a:r>
              <a:rPr sz="1600" dirty="0" err="1"/>
              <a:t>تمثل</a:t>
            </a:r>
            <a:r>
              <a:rPr sz="1600" dirty="0"/>
              <a:t> </a:t>
            </a:r>
            <a:r>
              <a:rPr sz="1600" dirty="0" err="1"/>
              <a:t>الركائز</a:t>
            </a:r>
            <a:r>
              <a:rPr sz="1600" dirty="0"/>
              <a:t> </a:t>
            </a:r>
            <a:r>
              <a:rPr sz="1600" dirty="0" err="1"/>
              <a:t>الحيوية</a:t>
            </a:r>
            <a:r>
              <a:rPr sz="1600" dirty="0"/>
              <a:t> </a:t>
            </a:r>
            <a:r>
              <a:rPr sz="1600" dirty="0" err="1"/>
              <a:t>للسلامة</a:t>
            </a:r>
            <a:r>
              <a:rPr sz="1600" dirty="0"/>
              <a:t> </a:t>
            </a:r>
            <a:r>
              <a:rPr sz="1600" dirty="0" err="1"/>
              <a:t>الرقمية</a:t>
            </a:r>
            <a:r>
              <a:rPr sz="1600" dirty="0"/>
              <a:t> </a:t>
            </a:r>
            <a:r>
              <a:rPr sz="1600" dirty="0" err="1"/>
              <a:t>اليومية</a:t>
            </a:r>
            <a:r>
              <a:rPr sz="16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24225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0" y="4617720"/>
            <a:ext cx="73152" cy="1188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400" b="1">
                <a:solidFill>
                  <a:srgbClr val="FB923C"/>
                </a:solidFill>
                <a:latin typeface="Cairo"/>
              </a:defRPr>
            </a:pPr>
            <a:r>
              <a:rPr lang="ar-SA" sz="1600" dirty="0"/>
              <a:t>4.</a:t>
            </a:r>
            <a:r>
              <a:rPr sz="1600" dirty="0"/>
              <a:t> </a:t>
            </a:r>
            <a:r>
              <a:rPr sz="1600" dirty="0" err="1"/>
              <a:t>محاكاة</a:t>
            </a:r>
            <a:r>
              <a:rPr sz="1600" dirty="0"/>
              <a:t> </a:t>
            </a:r>
            <a:r>
              <a:rPr sz="1600" dirty="0" err="1"/>
              <a:t>المواقف</a:t>
            </a:r>
            <a:r>
              <a:rPr sz="1600" dirty="0"/>
              <a:t> (Scenarios)</a:t>
            </a:r>
          </a:p>
          <a:p>
            <a:pPr algn="r" rtl="1"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محاكاة</a:t>
            </a:r>
            <a:r>
              <a:rPr sz="1600" dirty="0"/>
              <a:t> </a:t>
            </a:r>
            <a:r>
              <a:rPr sz="1600" dirty="0" err="1"/>
              <a:t>مواقف</a:t>
            </a:r>
            <a:r>
              <a:rPr sz="1600" dirty="0"/>
              <a:t> </a:t>
            </a:r>
            <a:r>
              <a:rPr sz="1600" dirty="0" err="1"/>
              <a:t>واقعية</a:t>
            </a:r>
            <a:r>
              <a:rPr sz="1600" dirty="0"/>
              <a:t> </a:t>
            </a:r>
            <a:r>
              <a:rPr sz="1600" dirty="0" err="1"/>
              <a:t>متعددة</a:t>
            </a:r>
            <a:r>
              <a:rPr sz="1600" dirty="0"/>
              <a:t> </a:t>
            </a:r>
            <a:r>
              <a:rPr sz="1600" dirty="0" err="1"/>
              <a:t>الخطوات</a:t>
            </a:r>
            <a:r>
              <a:rPr sz="1600" dirty="0"/>
              <a:t> </a:t>
            </a:r>
            <a:r>
              <a:rPr sz="1600" dirty="0" err="1"/>
              <a:t>تتيح</a:t>
            </a:r>
            <a:r>
              <a:rPr sz="1600" dirty="0"/>
              <a:t> </a:t>
            </a:r>
            <a:r>
              <a:rPr sz="1600" dirty="0" err="1"/>
              <a:t>للمستخدم</a:t>
            </a:r>
            <a:r>
              <a:rPr sz="1600" dirty="0"/>
              <a:t> </a:t>
            </a:r>
            <a:r>
              <a:rPr sz="1600" dirty="0" err="1"/>
              <a:t>اتخاذ</a:t>
            </a:r>
            <a:r>
              <a:rPr sz="1600" dirty="0"/>
              <a:t> </a:t>
            </a:r>
            <a:r>
              <a:rPr sz="1600" dirty="0" err="1"/>
              <a:t>القرارات</a:t>
            </a:r>
            <a:r>
              <a:rPr sz="1600" dirty="0"/>
              <a:t> </a:t>
            </a:r>
            <a:r>
              <a:rPr sz="1600" dirty="0" err="1"/>
              <a:t>واستلام</a:t>
            </a:r>
            <a:r>
              <a:rPr sz="1600" dirty="0"/>
              <a:t> </a:t>
            </a:r>
            <a:r>
              <a:rPr sz="1600" dirty="0" err="1"/>
              <a:t>تغذية</a:t>
            </a:r>
            <a:r>
              <a:rPr sz="1600" dirty="0"/>
              <a:t> </a:t>
            </a:r>
            <a:r>
              <a:rPr sz="1600" dirty="0" err="1"/>
              <a:t>فورية</a:t>
            </a:r>
            <a:r>
              <a:rPr sz="1600"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24225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338560" y="4617720"/>
            <a:ext cx="73152" cy="1188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400" b="1">
                <a:solidFill>
                  <a:srgbClr val="A78BFA"/>
                </a:solidFill>
                <a:latin typeface="Cairo"/>
              </a:defRPr>
            </a:pPr>
            <a:r>
              <a:rPr lang="ar-SA" sz="1600" dirty="0"/>
              <a:t>3.</a:t>
            </a:r>
            <a:r>
              <a:rPr sz="1600" dirty="0"/>
              <a:t> </a:t>
            </a:r>
            <a:r>
              <a:rPr sz="1600" dirty="0" err="1"/>
              <a:t>التحليل</a:t>
            </a:r>
            <a:r>
              <a:rPr sz="1600" dirty="0"/>
              <a:t> </a:t>
            </a:r>
            <a:r>
              <a:rPr sz="1600" dirty="0" err="1"/>
              <a:t>الذاتي</a:t>
            </a:r>
            <a:r>
              <a:rPr sz="1600" dirty="0"/>
              <a:t> (Safe Analyzer)</a:t>
            </a:r>
          </a:p>
          <a:p>
            <a:pPr algn="r" rtl="1"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توفير</a:t>
            </a:r>
            <a:r>
              <a:rPr sz="1600" dirty="0"/>
              <a:t> </a:t>
            </a:r>
            <a:r>
              <a:rPr sz="1600" dirty="0" err="1"/>
              <a:t>أدوات</a:t>
            </a:r>
            <a:r>
              <a:rPr sz="1600" dirty="0"/>
              <a:t> </a:t>
            </a:r>
            <a:r>
              <a:rPr sz="1600" dirty="0" err="1"/>
              <a:t>فحص</a:t>
            </a:r>
            <a:r>
              <a:rPr sz="1600" dirty="0"/>
              <a:t> </a:t>
            </a:r>
            <a:r>
              <a:rPr sz="1600" dirty="0" err="1"/>
              <a:t>استدلالي</a:t>
            </a:r>
            <a:r>
              <a:rPr sz="1600" dirty="0"/>
              <a:t> </a:t>
            </a:r>
            <a:r>
              <a:rPr sz="1600" dirty="0" err="1"/>
              <a:t>محلي</a:t>
            </a:r>
            <a:r>
              <a:rPr sz="1600" dirty="0"/>
              <a:t> </a:t>
            </a:r>
            <a:r>
              <a:rPr sz="1600" dirty="0" err="1"/>
              <a:t>للروابط</a:t>
            </a:r>
            <a:r>
              <a:rPr sz="1600" dirty="0"/>
              <a:t> </a:t>
            </a:r>
            <a:r>
              <a:rPr sz="1600" dirty="0" err="1"/>
              <a:t>والرسائل</a:t>
            </a:r>
            <a:r>
              <a:rPr sz="1600" dirty="0"/>
              <a:t> </a:t>
            </a:r>
            <a:r>
              <a:rPr sz="1600" dirty="0" err="1"/>
              <a:t>المشبوهة</a:t>
            </a:r>
            <a:r>
              <a:rPr sz="1600" dirty="0"/>
              <a:t> </a:t>
            </a:r>
            <a:r>
              <a:rPr sz="1600" dirty="0" err="1"/>
              <a:t>وتفكيك</a:t>
            </a:r>
            <a:r>
              <a:rPr sz="1600" dirty="0"/>
              <a:t> </a:t>
            </a:r>
            <a:r>
              <a:rPr sz="1600" dirty="0" err="1"/>
              <a:t>النطاقات</a:t>
            </a:r>
            <a:r>
              <a:rPr sz="1600" dirty="0"/>
              <a:t> </a:t>
            </a:r>
            <a:r>
              <a:rPr sz="1600" dirty="0" err="1"/>
              <a:t>دون</a:t>
            </a:r>
            <a:r>
              <a:rPr sz="1600" dirty="0"/>
              <a:t> </a:t>
            </a:r>
            <a:r>
              <a:rPr sz="1600" dirty="0" err="1"/>
              <a:t>خطر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إنفوجرافيك</a:t>
            </a:r>
            <a:r>
              <a:rPr sz="2400" dirty="0"/>
              <a:t> </a:t>
            </a:r>
            <a:r>
              <a:rPr sz="2400" dirty="0" err="1"/>
              <a:t>تدفق</a:t>
            </a:r>
            <a:r>
              <a:rPr sz="2400" dirty="0"/>
              <a:t> </a:t>
            </a:r>
            <a:r>
              <a:rPr sz="2400" dirty="0" err="1"/>
              <a:t>العمليات</a:t>
            </a:r>
            <a:r>
              <a:rPr sz="2400" dirty="0"/>
              <a:t>: </a:t>
            </a:r>
            <a:r>
              <a:rPr sz="2400" dirty="0" err="1"/>
              <a:t>من</a:t>
            </a:r>
            <a:r>
              <a:rPr sz="2400" dirty="0"/>
              <a:t> </a:t>
            </a:r>
            <a:r>
              <a:rPr sz="2400" dirty="0" err="1"/>
              <a:t>المدخلات</a:t>
            </a:r>
            <a:r>
              <a:rPr sz="2400" dirty="0"/>
              <a:t> </a:t>
            </a:r>
            <a:r>
              <a:rPr sz="2400" dirty="0" err="1"/>
              <a:t>إلى</a:t>
            </a:r>
            <a:r>
              <a:rPr sz="2400" dirty="0"/>
              <a:t> </a:t>
            </a:r>
            <a:r>
              <a:rPr sz="2400" dirty="0" err="1"/>
              <a:t>المخرجات</a:t>
            </a:r>
            <a:r>
              <a:rPr sz="2400" dirty="0"/>
              <a:t> </a:t>
            </a:r>
            <a:r>
              <a:rPr sz="2400" dirty="0" err="1"/>
              <a:t>الذكية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047695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200" b="1">
                <a:solidFill>
                  <a:srgbClr val="0F172A"/>
                </a:solidFill>
                <a:latin typeface="Cairo"/>
              </a:defRPr>
            </a:pPr>
            <a:r>
              <a:rPr sz="1600"/>
              <a:t>المرحلة 1: المدخلات (Inputs)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476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إجابات</a:t>
            </a:r>
            <a:r>
              <a:rPr sz="1600" dirty="0"/>
              <a:t> </a:t>
            </a:r>
            <a:r>
              <a:rPr sz="1600" dirty="0" err="1"/>
              <a:t>التقييم</a:t>
            </a:r>
            <a:r>
              <a:rPr sz="1600" dirty="0"/>
              <a:t> </a:t>
            </a:r>
            <a:r>
              <a:rPr sz="1600" dirty="0" err="1"/>
              <a:t>القبلي</a:t>
            </a:r>
            <a:r>
              <a:rPr sz="1600" dirty="0"/>
              <a:t> </a:t>
            </a:r>
            <a:r>
              <a:rPr sz="1600" dirty="0" err="1"/>
              <a:t>والبعدي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نصوص</a:t>
            </a:r>
            <a:r>
              <a:rPr sz="1600" dirty="0"/>
              <a:t> </a:t>
            </a:r>
            <a:r>
              <a:rPr sz="1600" dirty="0" err="1"/>
              <a:t>الرسائل</a:t>
            </a:r>
            <a:r>
              <a:rPr sz="1600" dirty="0"/>
              <a:t> </a:t>
            </a:r>
            <a:r>
              <a:rPr sz="1600" dirty="0" err="1"/>
              <a:t>والروابط</a:t>
            </a:r>
            <a:r>
              <a:rPr sz="1600" dirty="0"/>
              <a:t> </a:t>
            </a:r>
            <a:r>
              <a:rPr sz="1600" dirty="0" err="1"/>
              <a:t>المشبوهة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قرارات</a:t>
            </a:r>
            <a:r>
              <a:rPr sz="1600" dirty="0"/>
              <a:t> </a:t>
            </a:r>
            <a:r>
              <a:rPr sz="1600" dirty="0" err="1"/>
              <a:t>واستجابات</a:t>
            </a:r>
            <a:r>
              <a:rPr sz="1600" dirty="0"/>
              <a:t> </a:t>
            </a:r>
            <a:r>
              <a:rPr sz="1600" dirty="0" err="1"/>
              <a:t>محاكي</a:t>
            </a:r>
            <a:r>
              <a:rPr sz="1600" dirty="0"/>
              <a:t> </a:t>
            </a:r>
            <a:r>
              <a:rPr sz="1600" dirty="0" err="1"/>
              <a:t>السيناريو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محتوى</a:t>
            </a:r>
            <a:r>
              <a:rPr sz="1600" dirty="0"/>
              <a:t> </a:t>
            </a:r>
            <a:r>
              <a:rPr sz="1600" dirty="0" err="1"/>
              <a:t>الدروس</a:t>
            </a:r>
            <a:r>
              <a:rPr sz="1600" dirty="0"/>
              <a:t> </a:t>
            </a:r>
            <a:r>
              <a:rPr sz="1600" dirty="0" err="1"/>
              <a:t>والاختبارات</a:t>
            </a:r>
            <a:r>
              <a:rPr sz="1600" dirty="0"/>
              <a:t> </a:t>
            </a:r>
            <a:r>
              <a:rPr sz="1600" dirty="0" err="1"/>
              <a:t>للمدرس</a:t>
            </a:r>
            <a:r>
              <a:rPr sz="16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047695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200" b="1">
                <a:solidFill>
                  <a:srgbClr val="0F172A"/>
                </a:solidFill>
                <a:latin typeface="Cairo"/>
              </a:defRPr>
            </a:pPr>
            <a:r>
              <a:rPr sz="1600" dirty="0" err="1"/>
              <a:t>المرحلة</a:t>
            </a:r>
            <a:r>
              <a:rPr sz="1600" dirty="0"/>
              <a:t> 2: </a:t>
            </a:r>
            <a:r>
              <a:rPr sz="1600" dirty="0" err="1"/>
              <a:t>المعالجة</a:t>
            </a:r>
            <a:r>
              <a:rPr sz="1600" dirty="0"/>
              <a:t> </a:t>
            </a:r>
            <a:r>
              <a:rPr sz="1600" dirty="0" err="1"/>
              <a:t>الآمنة</a:t>
            </a:r>
            <a:r>
              <a:rPr sz="1600" dirty="0"/>
              <a:t> (Processing)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0476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التحقق</a:t>
            </a:r>
            <a:r>
              <a:rPr sz="1600" dirty="0"/>
              <a:t> </a:t>
            </a:r>
            <a:r>
              <a:rPr sz="1600" dirty="0" err="1"/>
              <a:t>الصارم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الصلاحيات</a:t>
            </a:r>
            <a:r>
              <a:rPr sz="1600" dirty="0"/>
              <a:t> (RBAC).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محرك</a:t>
            </a:r>
            <a:r>
              <a:rPr sz="1600" dirty="0"/>
              <a:t> </a:t>
            </a:r>
            <a:r>
              <a:rPr sz="1600" dirty="0" err="1"/>
              <a:t>الفحص</a:t>
            </a:r>
            <a:r>
              <a:rPr sz="1600" dirty="0"/>
              <a:t> </a:t>
            </a:r>
            <a:r>
              <a:rPr sz="1600" dirty="0" err="1"/>
              <a:t>الاستدلالي</a:t>
            </a:r>
            <a:r>
              <a:rPr sz="1600" dirty="0"/>
              <a:t> </a:t>
            </a:r>
            <a:r>
              <a:rPr sz="1600" dirty="0" err="1"/>
              <a:t>المحلي</a:t>
            </a:r>
            <a:r>
              <a:rPr sz="1600" dirty="0"/>
              <a:t> </a:t>
            </a:r>
            <a:r>
              <a:rPr sz="1600" dirty="0" err="1"/>
              <a:t>للروابط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خوارزميات</a:t>
            </a:r>
            <a:r>
              <a:rPr sz="1600" dirty="0"/>
              <a:t> </a:t>
            </a:r>
            <a:r>
              <a:rPr sz="1600" dirty="0" err="1"/>
              <a:t>تحليل</a:t>
            </a:r>
            <a:r>
              <a:rPr sz="1600" dirty="0"/>
              <a:t> </a:t>
            </a:r>
            <a:r>
              <a:rPr sz="1600" dirty="0" err="1"/>
              <a:t>نقاط</a:t>
            </a:r>
            <a:r>
              <a:rPr sz="1600" dirty="0"/>
              <a:t> </a:t>
            </a:r>
            <a:r>
              <a:rPr sz="1600" dirty="0" err="1"/>
              <a:t>الضعف</a:t>
            </a:r>
            <a:r>
              <a:rPr sz="1600" dirty="0"/>
              <a:t> </a:t>
            </a:r>
            <a:r>
              <a:rPr sz="1600" dirty="0" err="1"/>
              <a:t>السلوكية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إنفاذ</a:t>
            </a:r>
            <a:r>
              <a:rPr sz="1600" dirty="0"/>
              <a:t> </a:t>
            </a: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الملكية</a:t>
            </a:r>
            <a:r>
              <a:rPr sz="1600" dirty="0"/>
              <a:t> </a:t>
            </a:r>
            <a:r>
              <a:rPr sz="1600" dirty="0" err="1"/>
              <a:t>ومنع</a:t>
            </a:r>
            <a:r>
              <a:rPr sz="1600" dirty="0"/>
              <a:t> </a:t>
            </a:r>
            <a:r>
              <a:rPr sz="1600" dirty="0" err="1"/>
              <a:t>ثغرات</a:t>
            </a:r>
            <a:r>
              <a:rPr sz="1600" dirty="0"/>
              <a:t> 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047695" cy="5029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200" b="1">
                <a:solidFill>
                  <a:srgbClr val="0F172A"/>
                </a:solidFill>
                <a:latin typeface="Cairo"/>
              </a:defRPr>
            </a:pPr>
            <a:r>
              <a:rPr sz="1600" dirty="0" err="1"/>
              <a:t>المرحلة</a:t>
            </a:r>
            <a:r>
              <a:rPr sz="1600" dirty="0"/>
              <a:t> 3: </a:t>
            </a:r>
            <a:r>
              <a:rPr sz="1600" dirty="0" err="1"/>
              <a:t>المخرجات</a:t>
            </a:r>
            <a:r>
              <a:rPr sz="1600" dirty="0"/>
              <a:t> </a:t>
            </a:r>
            <a:r>
              <a:rPr sz="1600" dirty="0" err="1"/>
              <a:t>الذكية</a:t>
            </a:r>
            <a:r>
              <a:rPr sz="1600" dirty="0"/>
              <a:t> (Outputs)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0476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مؤشر</a:t>
            </a:r>
            <a:r>
              <a:rPr sz="1600" dirty="0"/>
              <a:t> </a:t>
            </a:r>
            <a:r>
              <a:rPr sz="1600" dirty="0" err="1"/>
              <a:t>وعي</a:t>
            </a:r>
            <a:r>
              <a:rPr sz="1600" dirty="0"/>
              <a:t> </a:t>
            </a:r>
            <a:r>
              <a:rPr sz="1600" dirty="0" err="1"/>
              <a:t>تراكمي</a:t>
            </a:r>
            <a:r>
              <a:rPr sz="1600" dirty="0"/>
              <a:t> </a:t>
            </a:r>
            <a:r>
              <a:rPr sz="1600" dirty="0" err="1"/>
              <a:t>وتحديد</a:t>
            </a:r>
            <a:r>
              <a:rPr sz="1600" dirty="0"/>
              <a:t> </a:t>
            </a:r>
            <a:r>
              <a:rPr sz="1600" dirty="0" err="1"/>
              <a:t>نسبة</a:t>
            </a:r>
            <a:r>
              <a:rPr sz="1600" dirty="0"/>
              <a:t> </a:t>
            </a:r>
            <a:r>
              <a:rPr sz="1600" dirty="0" err="1"/>
              <a:t>الإتقان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خطة</a:t>
            </a:r>
            <a:r>
              <a:rPr sz="1600" dirty="0"/>
              <a:t> </a:t>
            </a:r>
            <a:r>
              <a:rPr sz="1600" dirty="0" err="1"/>
              <a:t>علاجية</a:t>
            </a:r>
            <a:r>
              <a:rPr sz="1600" dirty="0"/>
              <a:t> </a:t>
            </a:r>
            <a:r>
              <a:rPr sz="1600" dirty="0" err="1"/>
              <a:t>وتوصيات</a:t>
            </a:r>
            <a:r>
              <a:rPr sz="1600" dirty="0"/>
              <a:t> </a:t>
            </a:r>
            <a:r>
              <a:rPr sz="1600" dirty="0" err="1"/>
              <a:t>وقائية</a:t>
            </a:r>
            <a:r>
              <a:rPr sz="1600" dirty="0"/>
              <a:t> </a:t>
            </a:r>
            <a:r>
              <a:rPr sz="1600" dirty="0" err="1"/>
              <a:t>مخصصة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تغذية</a:t>
            </a:r>
            <a:r>
              <a:rPr sz="1600" dirty="0"/>
              <a:t> </a:t>
            </a:r>
            <a:r>
              <a:rPr sz="1600" dirty="0" err="1"/>
              <a:t>راجعة</a:t>
            </a:r>
            <a:r>
              <a:rPr sz="1600" dirty="0"/>
              <a:t> </a:t>
            </a:r>
            <a:r>
              <a:rPr sz="1600" dirty="0" err="1"/>
              <a:t>مشروحة</a:t>
            </a:r>
            <a:r>
              <a:rPr sz="1600" dirty="0"/>
              <a:t> </a:t>
            </a:r>
            <a:r>
              <a:rPr sz="1600" dirty="0" err="1"/>
              <a:t>لخيارات</a:t>
            </a:r>
            <a:r>
              <a:rPr sz="1600" dirty="0"/>
              <a:t> </a:t>
            </a:r>
            <a:r>
              <a:rPr sz="1600" dirty="0" err="1"/>
              <a:t>المتدرب</a:t>
            </a:r>
            <a:r>
              <a:rPr sz="1600" dirty="0"/>
              <a:t>.</a:t>
            </a:r>
          </a:p>
          <a:p>
            <a:pPr marL="285750" indent="-285750" algn="r" rtl="1">
              <a:spcAft>
                <a:spcPts val="800"/>
              </a:spcAft>
              <a:buFont typeface="Arial" panose="020B0604020202020204" pitchFamily="34" charset="0"/>
              <a:buChar char="•"/>
              <a:defRPr sz="11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لوحات</a:t>
            </a:r>
            <a:r>
              <a:rPr sz="1600" dirty="0"/>
              <a:t> </a:t>
            </a:r>
            <a:r>
              <a:rPr sz="1600" dirty="0" err="1"/>
              <a:t>تحكم</a:t>
            </a:r>
            <a:r>
              <a:rPr sz="1600" dirty="0"/>
              <a:t> </a:t>
            </a:r>
            <a:r>
              <a:rPr sz="1600" dirty="0" err="1"/>
              <a:t>وسجلات</a:t>
            </a:r>
            <a:r>
              <a:rPr sz="1600" dirty="0"/>
              <a:t> </a:t>
            </a:r>
            <a:r>
              <a:rPr sz="1600" dirty="0" err="1"/>
              <a:t>تدقيق</a:t>
            </a:r>
            <a:r>
              <a:rPr sz="1600" dirty="0"/>
              <a:t> </a:t>
            </a:r>
            <a:r>
              <a:rPr sz="1600" dirty="0" err="1"/>
              <a:t>أمني</a:t>
            </a:r>
            <a:r>
              <a:rPr sz="1600" dirty="0"/>
              <a:t> </a:t>
            </a:r>
            <a:r>
              <a:rPr sz="1600" dirty="0" err="1"/>
              <a:t>للمشرف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4B8A6"/>
                </a:solidFill>
                <a:latin typeface="Cairo"/>
              </a:defRPr>
            </a:pPr>
            <a:r>
              <a:t>مشروع التخرج الأكاديمي • CYBERSHIELD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F8FAFC"/>
                </a:solidFill>
                <a:latin typeface="Cairo"/>
              </a:defRPr>
            </a:pPr>
            <a:r>
              <a:t>المعمارية البرمجية ومنظومة التقنيات المستخدمة فعلياً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85801"/>
            <a:ext cx="4876495" cy="219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4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طبقة</a:t>
            </a:r>
            <a:r>
              <a:rPr sz="1600" dirty="0"/>
              <a:t> </a:t>
            </a:r>
            <a:r>
              <a:rPr sz="1600" dirty="0" err="1"/>
              <a:t>الواجهة</a:t>
            </a:r>
            <a:r>
              <a:rPr sz="1600" dirty="0"/>
              <a:t> </a:t>
            </a:r>
            <a:r>
              <a:rPr sz="1600" dirty="0" err="1"/>
              <a:t>الأمامية</a:t>
            </a:r>
            <a:r>
              <a:rPr sz="1600" dirty="0"/>
              <a:t> (Frontend)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React 19</a:t>
            </a:r>
            <a:r>
              <a:rPr lang="ar-SA" sz="1600" dirty="0"/>
              <a:t>: </a:t>
            </a:r>
            <a:r>
              <a:rPr sz="1600" dirty="0" err="1"/>
              <a:t>بناء</a:t>
            </a:r>
            <a:r>
              <a:rPr sz="1600" dirty="0"/>
              <a:t> </a:t>
            </a:r>
            <a:r>
              <a:rPr sz="1600" dirty="0" err="1"/>
              <a:t>واجهة</a:t>
            </a:r>
            <a:r>
              <a:rPr sz="1600" dirty="0"/>
              <a:t> </a:t>
            </a:r>
            <a:r>
              <a:rPr sz="1600" dirty="0" err="1"/>
              <a:t>تفاعلية</a:t>
            </a:r>
            <a:r>
              <a:rPr sz="1600" dirty="0"/>
              <a:t> </a:t>
            </a:r>
            <a:r>
              <a:rPr sz="1600" dirty="0" err="1"/>
              <a:t>سلسة</a:t>
            </a:r>
            <a:r>
              <a:rPr sz="1600" dirty="0"/>
              <a:t> </a:t>
            </a:r>
            <a:r>
              <a:rPr sz="1600" dirty="0" err="1"/>
              <a:t>وقائمة</a:t>
            </a:r>
            <a:r>
              <a:rPr sz="1600" dirty="0"/>
              <a:t> </a:t>
            </a:r>
            <a:r>
              <a:rPr sz="1600" dirty="0" err="1"/>
              <a:t>على</a:t>
            </a:r>
            <a:r>
              <a:rPr sz="1600" dirty="0"/>
              <a:t> </a:t>
            </a:r>
            <a:r>
              <a:rPr sz="1600" dirty="0" err="1"/>
              <a:t>المكونات</a:t>
            </a:r>
            <a:r>
              <a:rPr sz="1600" dirty="0"/>
              <a:t> (Component-Based).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TypeScript</a:t>
            </a:r>
            <a:r>
              <a:rPr lang="ar-SA" sz="1600" dirty="0"/>
              <a:t>: </a:t>
            </a:r>
            <a:r>
              <a:rPr sz="1600" dirty="0"/>
              <a:t> </a:t>
            </a:r>
            <a:r>
              <a:rPr sz="1600" dirty="0" err="1"/>
              <a:t>ضمان</a:t>
            </a:r>
            <a:r>
              <a:rPr sz="1600" dirty="0"/>
              <a:t> </a:t>
            </a:r>
            <a:r>
              <a:rPr sz="1600" dirty="0" err="1"/>
              <a:t>التوافق</a:t>
            </a:r>
            <a:r>
              <a:rPr sz="1600" dirty="0"/>
              <a:t> </a:t>
            </a:r>
            <a:r>
              <a:rPr sz="1600" dirty="0" err="1"/>
              <a:t>البرمجي</a:t>
            </a:r>
            <a:r>
              <a:rPr sz="1600" dirty="0"/>
              <a:t> </a:t>
            </a:r>
            <a:r>
              <a:rPr sz="1600" dirty="0" err="1"/>
              <a:t>ومنع</a:t>
            </a:r>
            <a:r>
              <a:rPr sz="1600" dirty="0"/>
              <a:t> </a:t>
            </a:r>
            <a:r>
              <a:rPr sz="1600" dirty="0" err="1"/>
              <a:t>الأخطاء</a:t>
            </a:r>
            <a:r>
              <a:rPr sz="1600" dirty="0"/>
              <a:t> </a:t>
            </a:r>
            <a:r>
              <a:rPr sz="1600" dirty="0" err="1"/>
              <a:t>النوعية</a:t>
            </a:r>
            <a:r>
              <a:rPr sz="1600" dirty="0"/>
              <a:t> (Type-Safety).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Tailwind CSS</a:t>
            </a:r>
            <a:r>
              <a:rPr lang="ar-SA" sz="1600" dirty="0"/>
              <a:t>: </a:t>
            </a:r>
            <a:r>
              <a:rPr sz="1600" dirty="0" err="1"/>
              <a:t>تصميم</a:t>
            </a:r>
            <a:r>
              <a:rPr sz="1600" dirty="0"/>
              <a:t> </a:t>
            </a:r>
            <a:r>
              <a:rPr sz="1600" dirty="0" err="1"/>
              <a:t>عصري</a:t>
            </a:r>
            <a:r>
              <a:rPr sz="1600" dirty="0"/>
              <a:t> </a:t>
            </a:r>
            <a:r>
              <a:rPr sz="1600" dirty="0" err="1"/>
              <a:t>باللغة</a:t>
            </a:r>
            <a:r>
              <a:rPr sz="1600" dirty="0"/>
              <a:t> </a:t>
            </a:r>
            <a:r>
              <a:rPr sz="1600" dirty="0" err="1"/>
              <a:t>العربية</a:t>
            </a:r>
            <a:r>
              <a:rPr sz="1600" dirty="0"/>
              <a:t> </a:t>
            </a:r>
            <a:r>
              <a:rPr sz="1600" dirty="0" err="1"/>
              <a:t>يدعم</a:t>
            </a:r>
            <a:r>
              <a:rPr sz="1600" dirty="0"/>
              <a:t> RTL </a:t>
            </a:r>
            <a:r>
              <a:rPr sz="1600" dirty="0" err="1"/>
              <a:t>بدقة</a:t>
            </a:r>
            <a:r>
              <a:rPr sz="1600" dirty="0"/>
              <a:t> </a:t>
            </a:r>
            <a:r>
              <a:rPr sz="1600" dirty="0" err="1"/>
              <a:t>وهدوء</a:t>
            </a:r>
            <a:r>
              <a:rPr sz="1600" dirty="0"/>
              <a:t> </a:t>
            </a:r>
            <a:r>
              <a:rPr sz="1600" dirty="0" err="1"/>
              <a:t>بصري</a:t>
            </a:r>
            <a:r>
              <a:rPr sz="1600" dirty="0"/>
              <a:t> </a:t>
            </a:r>
            <a:r>
              <a:rPr sz="1600" dirty="0" err="1"/>
              <a:t>مريح</a:t>
            </a:r>
            <a:r>
              <a:rPr sz="1600" dirty="0"/>
              <a:t>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Lucide</a:t>
            </a:r>
            <a:r>
              <a:rPr sz="1600" dirty="0"/>
              <a:t> React</a:t>
            </a:r>
            <a:r>
              <a:rPr lang="ar-SA" sz="1600" dirty="0"/>
              <a:t>:</a:t>
            </a:r>
            <a:r>
              <a:rPr sz="1600" dirty="0"/>
              <a:t> </a:t>
            </a:r>
            <a:r>
              <a:rPr sz="1600" dirty="0" err="1"/>
              <a:t>أيقونات</a:t>
            </a:r>
            <a:r>
              <a:rPr sz="1600" dirty="0"/>
              <a:t> </a:t>
            </a:r>
            <a:r>
              <a:rPr sz="1600" dirty="0" err="1"/>
              <a:t>أمنية</a:t>
            </a:r>
            <a:r>
              <a:rPr sz="1600" dirty="0"/>
              <a:t> </a:t>
            </a:r>
            <a:r>
              <a:rPr sz="1600" dirty="0" err="1"/>
              <a:t>متناسقة</a:t>
            </a:r>
            <a:r>
              <a:rPr sz="1600" dirty="0"/>
              <a:t> </a:t>
            </a:r>
            <a:r>
              <a:rPr sz="1600" dirty="0" err="1"/>
              <a:t>ومؤشرات</a:t>
            </a:r>
            <a:r>
              <a:rPr sz="1600" dirty="0"/>
              <a:t> </a:t>
            </a:r>
            <a:r>
              <a:rPr sz="1600" dirty="0" err="1"/>
              <a:t>بصرية</a:t>
            </a:r>
            <a:r>
              <a:rPr sz="1600" dirty="0"/>
              <a:t> </a:t>
            </a:r>
            <a:r>
              <a:rPr sz="1600" dirty="0" err="1"/>
              <a:t>واضحة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76495" cy="2001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400"/>
              </a:spcAft>
              <a:defRPr sz="1400" b="1">
                <a:solidFill>
                  <a:srgbClr val="38BDF8"/>
                </a:solidFill>
                <a:latin typeface="Cairo"/>
              </a:defRPr>
            </a:pPr>
            <a:r>
              <a:rPr sz="1600" dirty="0" err="1"/>
              <a:t>طبقة</a:t>
            </a:r>
            <a:r>
              <a:rPr sz="1600" dirty="0"/>
              <a:t> </a:t>
            </a:r>
            <a:r>
              <a:rPr sz="1600" dirty="0" err="1"/>
              <a:t>الخادم</a:t>
            </a:r>
            <a:r>
              <a:rPr sz="1600" dirty="0"/>
              <a:t> </a:t>
            </a:r>
            <a:r>
              <a:rPr sz="1600" dirty="0" err="1"/>
              <a:t>والاتصال</a:t>
            </a:r>
            <a:r>
              <a:rPr sz="1600" dirty="0"/>
              <a:t> (Backend &amp; API)</a:t>
            </a:r>
          </a:p>
          <a:p>
            <a:pPr algn="r" rtl="1">
              <a:lnSpc>
                <a:spcPct val="150000"/>
              </a:lnSpc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Node.js &amp; Express</a:t>
            </a:r>
            <a:r>
              <a:rPr lang="ar-SA" sz="1600" dirty="0"/>
              <a:t>: </a:t>
            </a:r>
            <a:r>
              <a:rPr sz="1600" dirty="0"/>
              <a:t> </a:t>
            </a:r>
            <a:r>
              <a:rPr sz="1600" dirty="0" err="1"/>
              <a:t>بيئة</a:t>
            </a:r>
            <a:r>
              <a:rPr sz="1600" dirty="0"/>
              <a:t> </a:t>
            </a:r>
            <a:r>
              <a:rPr sz="1600" dirty="0" err="1"/>
              <a:t>تشغيل</a:t>
            </a:r>
            <a:r>
              <a:rPr sz="1600" dirty="0"/>
              <a:t> </a:t>
            </a:r>
            <a:r>
              <a:rPr sz="1600" dirty="0" err="1"/>
              <a:t>سريعة</a:t>
            </a:r>
            <a:r>
              <a:rPr sz="1600" dirty="0"/>
              <a:t> </a:t>
            </a:r>
            <a:r>
              <a:rPr sz="1600" dirty="0" err="1"/>
              <a:t>وموثوقة</a:t>
            </a:r>
            <a:r>
              <a:rPr sz="1600" dirty="0"/>
              <a:t> </a:t>
            </a:r>
            <a:r>
              <a:rPr sz="1600" dirty="0" err="1"/>
              <a:t>لمعالجة</a:t>
            </a:r>
            <a:r>
              <a:rPr sz="1600" dirty="0"/>
              <a:t> </a:t>
            </a:r>
            <a:r>
              <a:rPr sz="1600" dirty="0" err="1"/>
              <a:t>الطلبات</a:t>
            </a:r>
            <a:r>
              <a:rPr sz="1600" dirty="0"/>
              <a:t>.</a:t>
            </a:r>
          </a:p>
          <a:p>
            <a:pPr algn="r" rtl="1">
              <a:lnSpc>
                <a:spcPct val="150000"/>
              </a:lnSpc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tRPC</a:t>
            </a:r>
            <a:r>
              <a:rPr sz="1600" dirty="0"/>
              <a:t> Framework</a:t>
            </a:r>
            <a:r>
              <a:rPr lang="ar-SA" sz="1600" dirty="0"/>
              <a:t>:</a:t>
            </a:r>
            <a:r>
              <a:rPr sz="1600" dirty="0"/>
              <a:t> </a:t>
            </a:r>
            <a:r>
              <a:rPr sz="1600" dirty="0" err="1"/>
              <a:t>بناء</a:t>
            </a:r>
            <a:r>
              <a:rPr sz="1600" dirty="0"/>
              <a:t> </a:t>
            </a:r>
            <a:r>
              <a:rPr sz="1600" dirty="0" err="1"/>
              <a:t>واجهات</a:t>
            </a:r>
            <a:r>
              <a:rPr sz="1600" dirty="0"/>
              <a:t> </a:t>
            </a:r>
            <a:r>
              <a:rPr sz="1600" dirty="0" err="1"/>
              <a:t>اتصال</a:t>
            </a:r>
            <a:r>
              <a:rPr sz="1600" dirty="0"/>
              <a:t> </a:t>
            </a:r>
            <a:r>
              <a:rPr sz="1600" dirty="0" err="1"/>
              <a:t>متزامنة</a:t>
            </a:r>
            <a:r>
              <a:rPr sz="1600" dirty="0"/>
              <a:t> </a:t>
            </a:r>
            <a:r>
              <a:rPr sz="1600" dirty="0" err="1"/>
              <a:t>وآمنة</a:t>
            </a:r>
            <a:r>
              <a:rPr sz="1600" dirty="0"/>
              <a:t> </a:t>
            </a:r>
            <a:r>
              <a:rPr sz="1600" dirty="0" err="1"/>
              <a:t>تماماً</a:t>
            </a:r>
            <a:r>
              <a:rPr sz="1600" dirty="0"/>
              <a:t> </a:t>
            </a:r>
            <a:r>
              <a:rPr sz="1600" dirty="0" err="1"/>
              <a:t>تلغي</a:t>
            </a:r>
            <a:r>
              <a:rPr sz="1600" dirty="0"/>
              <a:t> </a:t>
            </a:r>
            <a:r>
              <a:rPr sz="1600" dirty="0" err="1"/>
              <a:t>الفجوة</a:t>
            </a:r>
            <a:r>
              <a:rPr sz="1600" dirty="0"/>
              <a:t> </a:t>
            </a:r>
            <a:r>
              <a:rPr sz="1600" dirty="0" err="1"/>
              <a:t>بين</a:t>
            </a:r>
            <a:r>
              <a:rPr sz="1600" dirty="0"/>
              <a:t> </a:t>
            </a:r>
            <a:r>
              <a:rPr sz="1600" dirty="0" err="1"/>
              <a:t>العميل</a:t>
            </a:r>
            <a:r>
              <a:rPr sz="1600" dirty="0"/>
              <a:t> </a:t>
            </a:r>
            <a:r>
              <a:rPr sz="1600" dirty="0" err="1"/>
              <a:t>والخادم</a:t>
            </a:r>
            <a:r>
              <a:rPr sz="1600" dirty="0"/>
              <a:t> </a:t>
            </a:r>
            <a:r>
              <a:rPr sz="1600" dirty="0" err="1"/>
              <a:t>وتمنع</a:t>
            </a:r>
            <a:r>
              <a:rPr sz="1600" dirty="0"/>
              <a:t> </a:t>
            </a:r>
            <a:r>
              <a:rPr sz="1600" dirty="0" err="1"/>
              <a:t>تسريب</a:t>
            </a:r>
            <a:r>
              <a:rPr sz="1600" dirty="0"/>
              <a:t> </a:t>
            </a:r>
            <a:r>
              <a:rPr sz="1600" dirty="0" err="1"/>
              <a:t>الإجابات</a:t>
            </a:r>
            <a:r>
              <a:rPr sz="1600" dirty="0"/>
              <a:t> </a:t>
            </a:r>
            <a:r>
              <a:rPr sz="1600" dirty="0" err="1"/>
              <a:t>عبر</a:t>
            </a:r>
            <a:r>
              <a:rPr sz="1600" dirty="0"/>
              <a:t> </a:t>
            </a:r>
            <a:r>
              <a:rPr sz="1600" dirty="0" err="1"/>
              <a:t>الشبكة</a:t>
            </a:r>
            <a:r>
              <a:rPr sz="1600" dirty="0"/>
              <a:t>.</a:t>
            </a:r>
          </a:p>
          <a:p>
            <a:pPr algn="r" rtl="1">
              <a:lnSpc>
                <a:spcPct val="150000"/>
              </a:lnSpc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Jose (JWT)</a:t>
            </a:r>
            <a:r>
              <a:rPr lang="ar-SA" sz="1600" dirty="0"/>
              <a:t>: </a:t>
            </a:r>
            <a:r>
              <a:rPr sz="1600" dirty="0" err="1"/>
              <a:t>إدارة</a:t>
            </a:r>
            <a:r>
              <a:rPr sz="1600" dirty="0"/>
              <a:t> </a:t>
            </a:r>
            <a:r>
              <a:rPr sz="1600" dirty="0" err="1"/>
              <a:t>رموز</a:t>
            </a:r>
            <a:r>
              <a:rPr sz="1600" dirty="0"/>
              <a:t> </a:t>
            </a:r>
            <a:r>
              <a:rPr sz="1600" dirty="0" err="1"/>
              <a:t>الجلسات</a:t>
            </a:r>
            <a:r>
              <a:rPr sz="1600" dirty="0"/>
              <a:t> </a:t>
            </a:r>
            <a:r>
              <a:rPr sz="1600" dirty="0" err="1"/>
              <a:t>والمصادقة</a:t>
            </a:r>
            <a:r>
              <a:rPr sz="1600" dirty="0"/>
              <a:t> </a:t>
            </a:r>
            <a:r>
              <a:rPr sz="1600" dirty="0" err="1"/>
              <a:t>الأمنية</a:t>
            </a:r>
            <a:r>
              <a:rPr sz="1600" dirty="0"/>
              <a:t> </a:t>
            </a:r>
            <a:r>
              <a:rPr sz="1600" dirty="0" err="1"/>
              <a:t>المشفرة</a:t>
            </a:r>
            <a:r>
              <a:rPr sz="16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76495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400" b="1">
                <a:solidFill>
                  <a:srgbClr val="A78BFA"/>
                </a:solidFill>
                <a:latin typeface="Cairo"/>
              </a:defRPr>
            </a:pPr>
            <a:r>
              <a:rPr sz="1600" dirty="0" err="1"/>
              <a:t>طبقة</a:t>
            </a:r>
            <a:r>
              <a:rPr sz="1600" dirty="0"/>
              <a:t> </a:t>
            </a:r>
            <a:r>
              <a:rPr sz="1600" dirty="0" err="1"/>
              <a:t>البيانات</a:t>
            </a:r>
            <a:r>
              <a:rPr sz="1600" dirty="0"/>
              <a:t> </a:t>
            </a:r>
            <a:r>
              <a:rPr sz="1600" dirty="0" err="1"/>
              <a:t>والحفظ</a:t>
            </a:r>
            <a:r>
              <a:rPr sz="1600" dirty="0"/>
              <a:t> (Database &amp; ORM)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Better-SQLite3</a:t>
            </a:r>
            <a:r>
              <a:rPr lang="ar-SA" sz="1600" dirty="0"/>
              <a:t>:</a:t>
            </a:r>
            <a:r>
              <a:rPr sz="1600" dirty="0"/>
              <a:t> </a:t>
            </a:r>
            <a:r>
              <a:rPr sz="1600" dirty="0" err="1"/>
              <a:t>محرك</a:t>
            </a:r>
            <a:r>
              <a:rPr sz="1600" dirty="0"/>
              <a:t> </a:t>
            </a:r>
            <a:r>
              <a:rPr sz="1600" dirty="0" err="1"/>
              <a:t>قواعد</a:t>
            </a:r>
            <a:r>
              <a:rPr sz="1600" dirty="0"/>
              <a:t> </a:t>
            </a:r>
            <a:r>
              <a:rPr sz="1600" dirty="0" err="1"/>
              <a:t>بيانات</a:t>
            </a:r>
            <a:r>
              <a:rPr sz="1600" dirty="0"/>
              <a:t> </a:t>
            </a:r>
            <a:r>
              <a:rPr sz="1600" dirty="0" err="1"/>
              <a:t>محلي</a:t>
            </a:r>
            <a:r>
              <a:rPr sz="1600" dirty="0"/>
              <a:t> </a:t>
            </a:r>
            <a:r>
              <a:rPr sz="1600" dirty="0" err="1"/>
              <a:t>مدمج</a:t>
            </a:r>
            <a:r>
              <a:rPr sz="1600" dirty="0"/>
              <a:t> </a:t>
            </a:r>
            <a:r>
              <a:rPr sz="1600" dirty="0" err="1"/>
              <a:t>عالي</a:t>
            </a:r>
            <a:r>
              <a:rPr sz="1600" dirty="0"/>
              <a:t> </a:t>
            </a:r>
            <a:r>
              <a:rPr sz="1600" dirty="0" err="1"/>
              <a:t>السرعة</a:t>
            </a:r>
            <a:r>
              <a:rPr sz="1600" dirty="0"/>
              <a:t> </a:t>
            </a:r>
            <a:r>
              <a:rPr sz="1600" dirty="0" err="1"/>
              <a:t>والأداء</a:t>
            </a:r>
            <a:r>
              <a:rPr sz="1600" dirty="0"/>
              <a:t>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Drizzle ORM</a:t>
            </a:r>
            <a:r>
              <a:rPr lang="ar-SA" sz="1600" dirty="0"/>
              <a:t>: </a:t>
            </a:r>
            <a:r>
              <a:rPr sz="1600" dirty="0" err="1"/>
              <a:t>معالج</a:t>
            </a:r>
            <a:r>
              <a:rPr sz="1600" dirty="0"/>
              <a:t> </a:t>
            </a:r>
            <a:r>
              <a:rPr sz="1600" dirty="0" err="1"/>
              <a:t>الكائنات</a:t>
            </a:r>
            <a:r>
              <a:rPr sz="1600" dirty="0"/>
              <a:t> </a:t>
            </a:r>
            <a:r>
              <a:rPr sz="1600" dirty="0" err="1"/>
              <a:t>المترابطة</a:t>
            </a:r>
            <a:r>
              <a:rPr sz="1600" dirty="0"/>
              <a:t>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استعلامات</a:t>
            </a:r>
            <a:r>
              <a:rPr sz="1600" dirty="0"/>
              <a:t> </a:t>
            </a:r>
            <a:r>
              <a:rPr sz="1600" dirty="0" err="1"/>
              <a:t>معيارية</a:t>
            </a:r>
            <a:r>
              <a:rPr sz="1600" dirty="0"/>
              <a:t> </a:t>
            </a:r>
            <a:r>
              <a:rPr lang="en-GB" sz="1600" dirty="0"/>
              <a:t>parameterized </a:t>
            </a:r>
            <a:r>
              <a:rPr lang="ar-SA" sz="1600" dirty="0"/>
              <a:t> </a:t>
            </a:r>
            <a:r>
              <a:rPr sz="1600" dirty="0" err="1"/>
              <a:t>توفر</a:t>
            </a:r>
            <a:r>
              <a:rPr sz="1600" dirty="0"/>
              <a:t> </a:t>
            </a: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مدمجة</a:t>
            </a:r>
            <a:r>
              <a:rPr sz="1600" dirty="0"/>
              <a:t> </a:t>
            </a:r>
            <a:r>
              <a:rPr sz="1600" dirty="0" err="1"/>
              <a:t>ضد</a:t>
            </a:r>
            <a:r>
              <a:rPr sz="1600" dirty="0"/>
              <a:t> </a:t>
            </a:r>
            <a:r>
              <a:rPr sz="1600" dirty="0" err="1"/>
              <a:t>هجمات</a:t>
            </a:r>
            <a:r>
              <a:rPr sz="1600" dirty="0"/>
              <a:t> </a:t>
            </a:r>
            <a:r>
              <a:rPr sz="1600" dirty="0" err="1"/>
              <a:t>حقن</a:t>
            </a:r>
            <a:r>
              <a:rPr sz="1600" dirty="0"/>
              <a:t> </a:t>
            </a:r>
            <a:r>
              <a:rPr sz="1600" dirty="0" err="1"/>
              <a:t>قواعد</a:t>
            </a:r>
            <a:r>
              <a:rPr sz="1600" dirty="0"/>
              <a:t> </a:t>
            </a:r>
            <a:r>
              <a:rPr sz="1600" dirty="0" err="1"/>
              <a:t>البيانات</a:t>
            </a:r>
            <a:r>
              <a:rPr sz="1600" dirty="0"/>
              <a:t> (SQL Injection).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تصميم</a:t>
            </a:r>
            <a:r>
              <a:rPr sz="1600" dirty="0"/>
              <a:t> </a:t>
            </a:r>
            <a:r>
              <a:rPr sz="1600" dirty="0" err="1"/>
              <a:t>علائقي</a:t>
            </a:r>
            <a:r>
              <a:rPr sz="1600" dirty="0"/>
              <a:t> </a:t>
            </a:r>
            <a:r>
              <a:rPr sz="1600" dirty="0" err="1"/>
              <a:t>للجداول</a:t>
            </a:r>
            <a:r>
              <a:rPr sz="1600" dirty="0"/>
              <a:t>: </a:t>
            </a:r>
            <a:r>
              <a:rPr lang="ar-SA" sz="1600" dirty="0"/>
              <a:t> </a:t>
            </a:r>
            <a:r>
              <a:rPr sz="1600" dirty="0" err="1"/>
              <a:t>المستخدمين</a:t>
            </a:r>
            <a:r>
              <a:rPr sz="1600" dirty="0"/>
              <a:t>، </a:t>
            </a:r>
            <a:r>
              <a:rPr sz="1600" dirty="0" err="1"/>
              <a:t>الدروس</a:t>
            </a:r>
            <a:r>
              <a:rPr sz="1600" dirty="0"/>
              <a:t>، </a:t>
            </a:r>
            <a:r>
              <a:rPr sz="1600" dirty="0" err="1"/>
              <a:t>الأسئلة</a:t>
            </a:r>
            <a:r>
              <a:rPr sz="1600" dirty="0"/>
              <a:t>، </a:t>
            </a:r>
            <a:r>
              <a:rPr sz="1600" dirty="0" err="1"/>
              <a:t>والسيناريوهات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76495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  <a:defRPr sz="1400" b="1">
                <a:solidFill>
                  <a:srgbClr val="34D399"/>
                </a:solidFill>
                <a:latin typeface="Cairo"/>
              </a:defRPr>
            </a:pPr>
            <a:r>
              <a:rPr sz="1600" dirty="0" err="1"/>
              <a:t>طبقة</a:t>
            </a:r>
            <a:r>
              <a:rPr sz="1600" dirty="0"/>
              <a:t> </a:t>
            </a:r>
            <a:r>
              <a:rPr sz="1600" dirty="0" err="1"/>
              <a:t>الأمان</a:t>
            </a:r>
            <a:r>
              <a:rPr sz="1600" dirty="0"/>
              <a:t> </a:t>
            </a:r>
            <a:r>
              <a:rPr sz="1600" dirty="0" err="1"/>
              <a:t>وضمان</a:t>
            </a:r>
            <a:r>
              <a:rPr sz="1600" dirty="0"/>
              <a:t> </a:t>
            </a:r>
            <a:r>
              <a:rPr sz="1600" dirty="0" err="1"/>
              <a:t>الجودة</a:t>
            </a:r>
            <a:r>
              <a:rPr sz="1600" dirty="0"/>
              <a:t> (Security &amp; QA)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Bcrypt.js</a:t>
            </a:r>
            <a:r>
              <a:rPr lang="ar-SA" sz="1600" dirty="0"/>
              <a:t>:</a:t>
            </a:r>
            <a:r>
              <a:rPr sz="1600" dirty="0"/>
              <a:t> </a:t>
            </a:r>
            <a:r>
              <a:rPr sz="1600" dirty="0" err="1"/>
              <a:t>تشفير</a:t>
            </a:r>
            <a:r>
              <a:rPr sz="1600" dirty="0"/>
              <a:t> </a:t>
            </a:r>
            <a:r>
              <a:rPr sz="1600" dirty="0" err="1"/>
              <a:t>وتمليح</a:t>
            </a:r>
            <a:r>
              <a:rPr sz="1600" dirty="0"/>
              <a:t> </a:t>
            </a:r>
            <a:r>
              <a:rPr sz="1600" dirty="0" err="1"/>
              <a:t>كلمات</a:t>
            </a:r>
            <a:r>
              <a:rPr sz="1600" dirty="0"/>
              <a:t> </a:t>
            </a:r>
            <a:r>
              <a:rPr sz="1600" dirty="0" err="1"/>
              <a:t>المرور</a:t>
            </a:r>
            <a:r>
              <a:rPr sz="1600" dirty="0"/>
              <a:t> </a:t>
            </a:r>
            <a:r>
              <a:rPr sz="1600" dirty="0" err="1"/>
              <a:t>عشوائياً</a:t>
            </a:r>
            <a:r>
              <a:rPr sz="1600" dirty="0"/>
              <a:t> (Salt Rounds).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Rate Limiter</a:t>
            </a:r>
            <a:r>
              <a:rPr lang="ar-SA" sz="1600" dirty="0"/>
              <a:t>:</a:t>
            </a:r>
            <a:r>
              <a:rPr sz="1600" dirty="0"/>
              <a:t> </a:t>
            </a:r>
            <a:r>
              <a:rPr sz="1600" dirty="0" err="1"/>
              <a:t>كبح</a:t>
            </a:r>
            <a:r>
              <a:rPr sz="1600" dirty="0"/>
              <a:t> </a:t>
            </a:r>
            <a:r>
              <a:rPr sz="1600" dirty="0" err="1"/>
              <a:t>هجمات</a:t>
            </a:r>
            <a:r>
              <a:rPr sz="1600" dirty="0"/>
              <a:t> </a:t>
            </a:r>
            <a:r>
              <a:rPr sz="1600" dirty="0" err="1"/>
              <a:t>القوة</a:t>
            </a:r>
            <a:r>
              <a:rPr sz="1600" dirty="0"/>
              <a:t> </a:t>
            </a:r>
            <a:r>
              <a:rPr sz="1600" dirty="0" err="1"/>
              <a:t>الغاشمة</a:t>
            </a:r>
            <a:r>
              <a:rPr sz="1600" dirty="0"/>
              <a:t> </a:t>
            </a:r>
            <a:r>
              <a:rPr sz="1600" dirty="0" err="1"/>
              <a:t>ومحاولات</a:t>
            </a:r>
            <a:r>
              <a:rPr sz="1600" dirty="0"/>
              <a:t> </a:t>
            </a:r>
            <a:r>
              <a:rPr sz="1600" dirty="0" err="1"/>
              <a:t>التخمين</a:t>
            </a:r>
            <a:r>
              <a:rPr sz="1600" dirty="0"/>
              <a:t>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Strict CSP</a:t>
            </a:r>
            <a:r>
              <a:rPr lang="ar-SA" sz="1600" dirty="0"/>
              <a:t>: </a:t>
            </a:r>
            <a:r>
              <a:rPr sz="1600" dirty="0" err="1"/>
              <a:t>سياسة</a:t>
            </a:r>
            <a:r>
              <a:rPr sz="1600" dirty="0"/>
              <a:t> </a:t>
            </a:r>
            <a:r>
              <a:rPr sz="1600" dirty="0" err="1"/>
              <a:t>أمان</a:t>
            </a:r>
            <a:r>
              <a:rPr sz="1600" dirty="0"/>
              <a:t> </a:t>
            </a:r>
            <a:r>
              <a:rPr sz="1600" dirty="0" err="1"/>
              <a:t>محتوى</a:t>
            </a:r>
            <a:r>
              <a:rPr sz="1600" dirty="0"/>
              <a:t> </a:t>
            </a:r>
            <a:r>
              <a:rPr sz="1600" dirty="0" err="1"/>
              <a:t>صارمة</a:t>
            </a:r>
            <a:r>
              <a:rPr sz="1600" dirty="0"/>
              <a:t> </a:t>
            </a:r>
            <a:r>
              <a:rPr sz="1600" dirty="0" err="1"/>
              <a:t>تمنع</a:t>
            </a:r>
            <a:r>
              <a:rPr sz="1600" dirty="0"/>
              <a:t> </a:t>
            </a:r>
            <a:r>
              <a:rPr sz="1600" dirty="0" err="1"/>
              <a:t>ثغرات</a:t>
            </a:r>
            <a:r>
              <a:rPr sz="1600" dirty="0"/>
              <a:t> XSS.</a:t>
            </a:r>
          </a:p>
          <a:p>
            <a:pPr algn="r" rtl="1">
              <a:spcAft>
                <a:spcPts val="200"/>
              </a:spcAft>
              <a:defRPr sz="11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Vitest</a:t>
            </a:r>
            <a:r>
              <a:rPr lang="ar-SA" sz="1600" dirty="0"/>
              <a:t>: </a:t>
            </a:r>
            <a:r>
              <a:rPr sz="1600" dirty="0" err="1"/>
              <a:t>حزمة</a:t>
            </a:r>
            <a:r>
              <a:rPr sz="1600" dirty="0"/>
              <a:t> </a:t>
            </a:r>
            <a:r>
              <a:rPr sz="1600" dirty="0" err="1"/>
              <a:t>الاختبارات</a:t>
            </a:r>
            <a:r>
              <a:rPr sz="1600" dirty="0"/>
              <a:t> </a:t>
            </a:r>
            <a:r>
              <a:rPr sz="1600" dirty="0" err="1"/>
              <a:t>الآلية</a:t>
            </a:r>
            <a:r>
              <a:rPr sz="1600" dirty="0"/>
              <a:t> </a:t>
            </a:r>
            <a:r>
              <a:rPr sz="1600" dirty="0" err="1"/>
              <a:t>الشاملة</a:t>
            </a:r>
            <a:r>
              <a:rPr sz="1600" dirty="0"/>
              <a:t> (157/157 </a:t>
            </a:r>
            <a:r>
              <a:rPr sz="1600" dirty="0" err="1"/>
              <a:t>اختباراً</a:t>
            </a:r>
            <a:r>
              <a:rPr sz="1600" dirty="0"/>
              <a:t> </a:t>
            </a:r>
            <a:r>
              <a:rPr sz="1600" dirty="0" err="1"/>
              <a:t>ناجحاً</a:t>
            </a:r>
            <a:r>
              <a:rPr sz="1600" dirty="0"/>
              <a:t> </a:t>
            </a:r>
            <a:r>
              <a:rPr sz="1600" dirty="0" err="1"/>
              <a:t>بنسبة</a:t>
            </a:r>
            <a:r>
              <a:rPr sz="1600" dirty="0"/>
              <a:t> 100%)</a:t>
            </a:r>
            <a:r>
              <a:rPr lang="ar-SA" sz="1600" dirty="0"/>
              <a:t>. 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مسار</a:t>
            </a:r>
            <a:r>
              <a:rPr sz="2400" dirty="0"/>
              <a:t> </a:t>
            </a:r>
            <a:r>
              <a:rPr sz="2400" dirty="0" err="1"/>
              <a:t>التوعية</a:t>
            </a:r>
            <a:r>
              <a:rPr sz="2400" dirty="0"/>
              <a:t> </a:t>
            </a:r>
            <a:r>
              <a:rPr sz="2400" dirty="0" err="1"/>
              <a:t>التفاعلي</a:t>
            </a:r>
            <a:r>
              <a:rPr sz="2400" dirty="0"/>
              <a:t> </a:t>
            </a:r>
            <a:r>
              <a:rPr sz="2400" dirty="0" err="1"/>
              <a:t>والوحدات</a:t>
            </a:r>
            <a:r>
              <a:rPr sz="2400" dirty="0"/>
              <a:t> </a:t>
            </a:r>
            <a:r>
              <a:rPr sz="2400" dirty="0" err="1"/>
              <a:t>السبع</a:t>
            </a:r>
            <a:r>
              <a:rPr sz="2400" dirty="0"/>
              <a:t> </a:t>
            </a:r>
            <a:r>
              <a:rPr sz="2400" dirty="0" err="1"/>
              <a:t>المعتمدة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609344"/>
            <a:ext cx="5559552" cy="437083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3_learning_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16752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defRPr sz="1000" b="1">
                <a:solidFill>
                  <a:srgbClr val="38BDF8"/>
                </a:solidFill>
                <a:latin typeface="Cairo"/>
              </a:defRPr>
            </a:pPr>
            <a:r>
              <a:rPr sz="1400" dirty="0" err="1"/>
              <a:t>شكل</a:t>
            </a:r>
            <a:r>
              <a:rPr sz="1400" dirty="0"/>
              <a:t> (1): </a:t>
            </a:r>
            <a:r>
              <a:rPr sz="1400" dirty="0" err="1"/>
              <a:t>واجهة</a:t>
            </a:r>
            <a:r>
              <a:rPr sz="1400" dirty="0"/>
              <a:t> </a:t>
            </a:r>
            <a:r>
              <a:rPr sz="1400" dirty="0" err="1"/>
              <a:t>استعراض</a:t>
            </a:r>
            <a:r>
              <a:rPr sz="1400" dirty="0"/>
              <a:t> </a:t>
            </a:r>
            <a:r>
              <a:rPr sz="1400" dirty="0" err="1"/>
              <a:t>مسار</a:t>
            </a:r>
            <a:r>
              <a:rPr sz="1400" dirty="0"/>
              <a:t> </a:t>
            </a:r>
            <a:r>
              <a:rPr sz="1400" dirty="0" err="1"/>
              <a:t>التوعية</a:t>
            </a:r>
            <a:r>
              <a:rPr sz="1400" dirty="0"/>
              <a:t> </a:t>
            </a:r>
            <a:r>
              <a:rPr sz="1400" dirty="0" err="1"/>
              <a:t>والوحدات</a:t>
            </a:r>
            <a:r>
              <a:rPr sz="1400" dirty="0"/>
              <a:t> </a:t>
            </a:r>
            <a:r>
              <a:rPr sz="1400" dirty="0" err="1"/>
              <a:t>السبع</a:t>
            </a:r>
            <a:r>
              <a:rPr sz="1400" dirty="0"/>
              <a:t> </a:t>
            </a:r>
            <a:r>
              <a:rPr sz="1400" dirty="0" err="1"/>
              <a:t>المعتمدة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663440" cy="4271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 sz="130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📚 </a:t>
            </a:r>
            <a:r>
              <a:rPr sz="1600" dirty="0" err="1"/>
              <a:t>شمولية</a:t>
            </a:r>
            <a:r>
              <a:rPr sz="1600" dirty="0"/>
              <a:t> </a:t>
            </a:r>
            <a:r>
              <a:rPr sz="1600" dirty="0" err="1"/>
              <a:t>التغطية</a:t>
            </a:r>
            <a:r>
              <a:rPr sz="1600" dirty="0"/>
              <a:t> </a:t>
            </a:r>
            <a:r>
              <a:rPr sz="1600" dirty="0" err="1"/>
              <a:t>التوعوية</a:t>
            </a:r>
            <a:r>
              <a:rPr sz="1600" dirty="0"/>
              <a:t> (</a:t>
            </a:r>
            <a:r>
              <a:rPr sz="1600" dirty="0" err="1"/>
              <a:t>الوحدات</a:t>
            </a:r>
            <a:r>
              <a:rPr sz="1600" dirty="0"/>
              <a:t> </a:t>
            </a:r>
            <a:r>
              <a:rPr sz="1600" dirty="0" err="1"/>
              <a:t>السبع</a:t>
            </a:r>
            <a:r>
              <a:rPr sz="1600" dirty="0"/>
              <a:t>):</a:t>
            </a:r>
          </a:p>
          <a:p>
            <a:pPr marL="342900" indent="-342900" algn="r" rtl="1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  <a:defRPr sz="1050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الهندسة</a:t>
            </a:r>
            <a:r>
              <a:rPr sz="1600" dirty="0"/>
              <a:t> </a:t>
            </a:r>
            <a:r>
              <a:rPr sz="1600" dirty="0" err="1"/>
              <a:t>الاجتماعية</a:t>
            </a:r>
            <a:r>
              <a:rPr sz="1600" dirty="0"/>
              <a:t>: </a:t>
            </a:r>
            <a:r>
              <a:rPr sz="1600" dirty="0" err="1"/>
              <a:t>أساليب</a:t>
            </a:r>
            <a:r>
              <a:rPr sz="1600" dirty="0"/>
              <a:t> </a:t>
            </a:r>
            <a:r>
              <a:rPr sz="1600" dirty="0" err="1"/>
              <a:t>التلاعب</a:t>
            </a:r>
            <a:r>
              <a:rPr sz="1600" dirty="0"/>
              <a:t> </a:t>
            </a:r>
            <a:r>
              <a:rPr sz="1600" dirty="0" err="1"/>
              <a:t>النفسي</a:t>
            </a:r>
            <a:r>
              <a:rPr sz="1600" dirty="0"/>
              <a:t> </a:t>
            </a:r>
            <a:r>
              <a:rPr sz="1600" dirty="0" err="1"/>
              <a:t>والتصيد</a:t>
            </a:r>
            <a:r>
              <a:rPr sz="1600" dirty="0"/>
              <a:t>.</a:t>
            </a:r>
          </a:p>
          <a:p>
            <a:pPr marL="342900" indent="-342900" algn="r" rtl="1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  <a:defRPr sz="1050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كلمات</a:t>
            </a:r>
            <a:r>
              <a:rPr sz="1600" dirty="0"/>
              <a:t> </a:t>
            </a:r>
            <a:r>
              <a:rPr sz="1600" dirty="0" err="1"/>
              <a:t>المرور</a:t>
            </a:r>
            <a:r>
              <a:rPr sz="1600" dirty="0"/>
              <a:t>: </a:t>
            </a:r>
            <a:r>
              <a:rPr sz="1600" dirty="0" err="1"/>
              <a:t>قواعد</a:t>
            </a:r>
            <a:r>
              <a:rPr sz="1600" dirty="0"/>
              <a:t> </a:t>
            </a:r>
            <a:r>
              <a:rPr sz="1600" dirty="0" err="1"/>
              <a:t>التعقيد</a:t>
            </a:r>
            <a:r>
              <a:rPr sz="1600" dirty="0"/>
              <a:t> </a:t>
            </a:r>
            <a:r>
              <a:rPr sz="1600" dirty="0" err="1"/>
              <a:t>وإدارة</a:t>
            </a:r>
            <a:r>
              <a:rPr sz="1600" dirty="0"/>
              <a:t> </a:t>
            </a:r>
            <a:r>
              <a:rPr sz="1600" dirty="0" err="1"/>
              <a:t>المفاتيح</a:t>
            </a:r>
            <a:r>
              <a:rPr sz="1600" dirty="0"/>
              <a:t> </a:t>
            </a:r>
            <a:r>
              <a:rPr sz="1600" dirty="0" err="1"/>
              <a:t>والتحقق</a:t>
            </a:r>
            <a:r>
              <a:rPr sz="1600" dirty="0"/>
              <a:t> 2FA.</a:t>
            </a:r>
          </a:p>
          <a:p>
            <a:pPr marL="342900" indent="-342900" algn="r" rtl="1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  <a:defRPr sz="1050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البرمجيات</a:t>
            </a:r>
            <a:r>
              <a:rPr sz="1600" dirty="0"/>
              <a:t> </a:t>
            </a:r>
            <a:r>
              <a:rPr sz="1600" dirty="0" err="1"/>
              <a:t>الخبيثة</a:t>
            </a:r>
            <a:r>
              <a:rPr sz="1600" dirty="0"/>
              <a:t>: </a:t>
            </a:r>
            <a:r>
              <a:rPr sz="1600" dirty="0" err="1"/>
              <a:t>برامج</a:t>
            </a:r>
            <a:r>
              <a:rPr sz="1600" dirty="0"/>
              <a:t> </a:t>
            </a:r>
            <a:r>
              <a:rPr sz="1600" dirty="0" err="1"/>
              <a:t>الفدية</a:t>
            </a:r>
            <a:r>
              <a:rPr sz="1600" dirty="0"/>
              <a:t>، </a:t>
            </a:r>
            <a:r>
              <a:rPr sz="1600" dirty="0" err="1"/>
              <a:t>التروجان</a:t>
            </a:r>
            <a:r>
              <a:rPr sz="1600" dirty="0"/>
              <a:t>، </a:t>
            </a:r>
            <a:r>
              <a:rPr sz="1600" dirty="0" err="1"/>
              <a:t>وطرق</a:t>
            </a:r>
            <a:r>
              <a:rPr sz="1600" dirty="0"/>
              <a:t> </a:t>
            </a:r>
            <a:r>
              <a:rPr sz="1600" dirty="0" err="1"/>
              <a:t>الوقاية</a:t>
            </a:r>
            <a:r>
              <a:rPr sz="1600" dirty="0"/>
              <a:t>.</a:t>
            </a:r>
          </a:p>
          <a:p>
            <a:pPr marL="342900" indent="-342900" algn="r" rtl="1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  <a:defRPr sz="1050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أمان</a:t>
            </a:r>
            <a:r>
              <a:rPr sz="1600" dirty="0"/>
              <a:t> </a:t>
            </a:r>
            <a:r>
              <a:rPr sz="1600" dirty="0" err="1"/>
              <a:t>الشبكات</a:t>
            </a:r>
            <a:r>
              <a:rPr sz="1600" dirty="0"/>
              <a:t> </a:t>
            </a:r>
            <a:r>
              <a:rPr sz="1600" dirty="0" err="1"/>
              <a:t>والتصفح</a:t>
            </a:r>
            <a:r>
              <a:rPr sz="1600" dirty="0"/>
              <a:t>: </a:t>
            </a:r>
            <a:r>
              <a:rPr sz="1600" dirty="0" err="1"/>
              <a:t>شهادات</a:t>
            </a:r>
            <a:r>
              <a:rPr sz="1600" dirty="0"/>
              <a:t> SSL </a:t>
            </a:r>
            <a:r>
              <a:rPr sz="1600" dirty="0" err="1"/>
              <a:t>ومخاطر</a:t>
            </a:r>
            <a:r>
              <a:rPr sz="1600" dirty="0"/>
              <a:t> Wi-Fi </a:t>
            </a:r>
            <a:r>
              <a:rPr sz="1600" dirty="0" err="1"/>
              <a:t>العامة</a:t>
            </a:r>
            <a:r>
              <a:rPr sz="1600" dirty="0"/>
              <a:t>.</a:t>
            </a:r>
          </a:p>
          <a:p>
            <a:pPr marL="342900" indent="-342900" algn="r" rtl="1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  <a:defRPr sz="1050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الخصوصية</a:t>
            </a:r>
            <a:r>
              <a:rPr sz="1600" dirty="0"/>
              <a:t>: </a:t>
            </a:r>
            <a:r>
              <a:rPr sz="1600" dirty="0" err="1"/>
              <a:t>تقليل</a:t>
            </a:r>
            <a:r>
              <a:rPr sz="1600" dirty="0"/>
              <a:t> </a:t>
            </a:r>
            <a:r>
              <a:rPr sz="1600" dirty="0" err="1"/>
              <a:t>البصمة</a:t>
            </a:r>
            <a:r>
              <a:rPr sz="1600" dirty="0"/>
              <a:t> </a:t>
            </a:r>
            <a:r>
              <a:rPr sz="1600" dirty="0" err="1"/>
              <a:t>الرقمية</a:t>
            </a:r>
            <a:r>
              <a:rPr sz="1600" dirty="0"/>
              <a:t> </a:t>
            </a:r>
            <a:r>
              <a:rPr sz="1600" dirty="0" err="1"/>
              <a:t>ومكافحة</a:t>
            </a:r>
            <a:r>
              <a:rPr sz="1600" dirty="0"/>
              <a:t> </a:t>
            </a:r>
            <a:r>
              <a:rPr sz="1600" dirty="0" err="1"/>
              <a:t>التتبع</a:t>
            </a:r>
            <a:r>
              <a:rPr sz="1600" dirty="0"/>
              <a:t>.</a:t>
            </a:r>
          </a:p>
          <a:p>
            <a:pPr marL="342900" indent="-342900" algn="r" rtl="1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  <a:defRPr sz="1050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الاحتيال</a:t>
            </a:r>
            <a:r>
              <a:rPr sz="1600" dirty="0"/>
              <a:t> </a:t>
            </a:r>
            <a:r>
              <a:rPr sz="1600" dirty="0" err="1"/>
              <a:t>المالي</a:t>
            </a:r>
            <a:r>
              <a:rPr sz="1600" dirty="0"/>
              <a:t>: </a:t>
            </a:r>
            <a:r>
              <a:rPr sz="1600" dirty="0" err="1"/>
              <a:t>حيل</a:t>
            </a:r>
            <a:r>
              <a:rPr sz="1600" dirty="0"/>
              <a:t> </a:t>
            </a:r>
            <a:r>
              <a:rPr sz="1600" dirty="0" err="1"/>
              <a:t>البطاقات</a:t>
            </a:r>
            <a:r>
              <a:rPr sz="1600" dirty="0"/>
              <a:t> </a:t>
            </a:r>
            <a:r>
              <a:rPr sz="1600" dirty="0" err="1"/>
              <a:t>والمتاجر</a:t>
            </a:r>
            <a:r>
              <a:rPr sz="1600" dirty="0"/>
              <a:t> </a:t>
            </a:r>
            <a:r>
              <a:rPr sz="1600" dirty="0" err="1"/>
              <a:t>الإلكترونية</a:t>
            </a:r>
            <a:r>
              <a:rPr sz="1600" dirty="0"/>
              <a:t> </a:t>
            </a:r>
            <a:r>
              <a:rPr sz="1600" dirty="0" err="1"/>
              <a:t>الوهمية</a:t>
            </a:r>
            <a:r>
              <a:rPr sz="1600" dirty="0"/>
              <a:t>.</a:t>
            </a:r>
          </a:p>
          <a:p>
            <a:pPr marL="342900" indent="-342900" algn="r" rtl="1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  <a:defRPr sz="1050">
                <a:solidFill>
                  <a:srgbClr val="F8FAFC"/>
                </a:solidFill>
                <a:latin typeface="Cairo"/>
              </a:defRPr>
            </a:pPr>
            <a:r>
              <a:rPr sz="1600" dirty="0"/>
              <a:t> </a:t>
            </a:r>
            <a:r>
              <a:rPr sz="1600" dirty="0" err="1"/>
              <a:t>الاستجابة</a:t>
            </a:r>
            <a:r>
              <a:rPr sz="1600" dirty="0"/>
              <a:t> </a:t>
            </a:r>
            <a:r>
              <a:rPr sz="1600" dirty="0" err="1"/>
              <a:t>للحوادث</a:t>
            </a:r>
            <a:r>
              <a:rPr sz="1600" dirty="0"/>
              <a:t>: </a:t>
            </a:r>
            <a:r>
              <a:rPr sz="1600" dirty="0" err="1"/>
              <a:t>خطوات</a:t>
            </a:r>
            <a:r>
              <a:rPr sz="1600" dirty="0"/>
              <a:t> </a:t>
            </a:r>
            <a:r>
              <a:rPr sz="1600" dirty="0" err="1"/>
              <a:t>التصرف</a:t>
            </a:r>
            <a:r>
              <a:rPr sz="1600" dirty="0"/>
              <a:t> </a:t>
            </a:r>
            <a:r>
              <a:rPr sz="1600" dirty="0" err="1"/>
              <a:t>الفوري</a:t>
            </a:r>
            <a:r>
              <a:rPr sz="1600" dirty="0"/>
              <a:t> </a:t>
            </a:r>
            <a:r>
              <a:rPr sz="1600" dirty="0" err="1"/>
              <a:t>والإبلاغ</a:t>
            </a:r>
            <a:r>
              <a:rPr sz="1600" dirty="0"/>
              <a:t> </a:t>
            </a:r>
            <a:r>
              <a:rPr sz="1600" dirty="0" err="1"/>
              <a:t>المعتمد</a:t>
            </a:r>
            <a:r>
              <a:rPr sz="1600" dirty="0"/>
              <a:t>.</a:t>
            </a:r>
          </a:p>
          <a:p>
            <a:pPr algn="r" rtl="1">
              <a:lnSpc>
                <a:spcPct val="150000"/>
              </a:lnSpc>
              <a:defRPr sz="1000" b="1">
                <a:solidFill>
                  <a:srgbClr val="34D399"/>
                </a:solidFill>
                <a:latin typeface="Cairo"/>
              </a:defRPr>
            </a:pPr>
            <a:r>
              <a:rPr sz="1600" dirty="0"/>
              <a:t>🔒 </a:t>
            </a:r>
            <a:r>
              <a:rPr sz="1600" dirty="0" err="1"/>
              <a:t>ميزة</a:t>
            </a:r>
            <a:r>
              <a:rPr sz="1600" dirty="0"/>
              <a:t> </a:t>
            </a:r>
            <a:r>
              <a:rPr sz="1600" dirty="0" err="1"/>
              <a:t>الأمان</a:t>
            </a:r>
            <a:r>
              <a:rPr sz="1600" dirty="0"/>
              <a:t>: </a:t>
            </a:r>
            <a:r>
              <a:rPr sz="1600" dirty="0" err="1"/>
              <a:t>الدروس</a:t>
            </a:r>
            <a:r>
              <a:rPr sz="1600" dirty="0"/>
              <a:t> </a:t>
            </a:r>
            <a:r>
              <a:rPr sz="1600" dirty="0" err="1"/>
              <a:t>السبعة</a:t>
            </a:r>
            <a:r>
              <a:rPr sz="1600" dirty="0"/>
              <a:t> </a:t>
            </a:r>
            <a:r>
              <a:rPr sz="1600" dirty="0" err="1"/>
              <a:t>الرسمية</a:t>
            </a:r>
            <a:r>
              <a:rPr sz="1600" dirty="0"/>
              <a:t> </a:t>
            </a:r>
            <a:r>
              <a:rPr sz="1600" dirty="0" err="1"/>
              <a:t>محصنة</a:t>
            </a:r>
            <a:r>
              <a:rPr sz="1600" dirty="0"/>
              <a:t> </a:t>
            </a:r>
            <a:r>
              <a:rPr sz="1600" dirty="0" err="1"/>
              <a:t>برمجياً</a:t>
            </a:r>
            <a:r>
              <a:rPr sz="1600" dirty="0"/>
              <a:t> </a:t>
            </a:r>
            <a:r>
              <a:rPr sz="1600" dirty="0" err="1"/>
              <a:t>ومحمية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التعديل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الحذف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أي</a:t>
            </a:r>
            <a:r>
              <a:rPr sz="1600" dirty="0"/>
              <a:t> </a:t>
            </a:r>
            <a:r>
              <a:rPr sz="1600" dirty="0" err="1"/>
              <a:t>مستخدم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بنك</a:t>
            </a:r>
            <a:r>
              <a:rPr sz="2400" dirty="0"/>
              <a:t> </a:t>
            </a:r>
            <a:r>
              <a:rPr sz="2400" dirty="0" err="1"/>
              <a:t>الاختبارات</a:t>
            </a:r>
            <a:r>
              <a:rPr sz="2400" dirty="0"/>
              <a:t> </a:t>
            </a:r>
            <a:r>
              <a:rPr sz="2400" dirty="0" err="1"/>
              <a:t>والنزاهة</a:t>
            </a:r>
            <a:r>
              <a:rPr sz="2400" dirty="0"/>
              <a:t> </a:t>
            </a:r>
            <a:r>
              <a:rPr sz="2400" dirty="0" err="1"/>
              <a:t>الأمنية</a:t>
            </a:r>
            <a:r>
              <a:rPr sz="2400" dirty="0"/>
              <a:t> </a:t>
            </a:r>
            <a:r>
              <a:rPr sz="2400" dirty="0" err="1"/>
              <a:t>للتقييم</a:t>
            </a:r>
            <a:r>
              <a:rPr sz="2400" dirty="0"/>
              <a:t> (Quizzes)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609344"/>
            <a:ext cx="5559552" cy="437083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4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16752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defRPr sz="1000" b="1">
                <a:solidFill>
                  <a:srgbClr val="38BDF8"/>
                </a:solidFill>
                <a:latin typeface="Cairo"/>
              </a:defRPr>
            </a:pPr>
            <a:r>
              <a:rPr sz="1400"/>
              <a:t>شكل (2): واجهة خوض الاختبارات التفاعلية وفحص الاستيعاب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66344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  <a:defRPr sz="1300" b="1">
                <a:solidFill>
                  <a:srgbClr val="38BDF8"/>
                </a:solidFill>
                <a:latin typeface="Cairo"/>
              </a:defRPr>
            </a:pPr>
            <a:r>
              <a:rPr sz="1600" dirty="0"/>
              <a:t>🛡️ </a:t>
            </a:r>
            <a:r>
              <a:rPr sz="1600" dirty="0" err="1"/>
              <a:t>معايير</a:t>
            </a:r>
            <a:r>
              <a:rPr sz="1600" dirty="0"/>
              <a:t> </a:t>
            </a:r>
            <a:r>
              <a:rPr sz="1600" dirty="0" err="1"/>
              <a:t>النزاهة</a:t>
            </a:r>
            <a:r>
              <a:rPr sz="1600" dirty="0"/>
              <a:t> </a:t>
            </a:r>
            <a:r>
              <a:rPr sz="1600" dirty="0" err="1"/>
              <a:t>والأمان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الاختبارات</a:t>
            </a:r>
            <a:r>
              <a:rPr sz="1600" dirty="0"/>
              <a:t>: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حظر</a:t>
            </a:r>
            <a:r>
              <a:rPr sz="1600" dirty="0"/>
              <a:t> </a:t>
            </a:r>
            <a:r>
              <a:rPr sz="1600" dirty="0" err="1"/>
              <a:t>تسريب</a:t>
            </a:r>
            <a:r>
              <a:rPr sz="1600" dirty="0"/>
              <a:t> </a:t>
            </a:r>
            <a:r>
              <a:rPr sz="1600" dirty="0" err="1"/>
              <a:t>الإجابات</a:t>
            </a:r>
            <a:r>
              <a:rPr sz="1600" dirty="0"/>
              <a:t> </a:t>
            </a:r>
            <a:r>
              <a:rPr sz="1600" dirty="0" err="1"/>
              <a:t>عبر</a:t>
            </a:r>
            <a:r>
              <a:rPr sz="1600" dirty="0"/>
              <a:t> </a:t>
            </a:r>
            <a:r>
              <a:rPr sz="1600" dirty="0" err="1"/>
              <a:t>الشبكة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ترسل</a:t>
            </a:r>
            <a:r>
              <a:rPr sz="1600" dirty="0"/>
              <a:t> </a:t>
            </a:r>
            <a:r>
              <a:rPr sz="1600" dirty="0" err="1"/>
              <a:t>واجهة</a:t>
            </a:r>
            <a:r>
              <a:rPr sz="1600" dirty="0"/>
              <a:t> </a:t>
            </a:r>
            <a:r>
              <a:rPr sz="1600" dirty="0" err="1"/>
              <a:t>tRPC</a:t>
            </a:r>
            <a:r>
              <a:rPr sz="1600" dirty="0"/>
              <a:t> </a:t>
            </a:r>
            <a:r>
              <a:rPr sz="1600" dirty="0" err="1"/>
              <a:t>الأسئلة</a:t>
            </a:r>
            <a:r>
              <a:rPr sz="1600" dirty="0"/>
              <a:t> </a:t>
            </a:r>
            <a:r>
              <a:rPr sz="1600" dirty="0" err="1"/>
              <a:t>والخيارات</a:t>
            </a:r>
            <a:r>
              <a:rPr sz="1600" dirty="0"/>
              <a:t> </a:t>
            </a:r>
            <a:r>
              <a:rPr sz="1600" dirty="0" err="1"/>
              <a:t>مجردة</a:t>
            </a:r>
            <a:r>
              <a:rPr sz="1600" dirty="0"/>
              <a:t> </a:t>
            </a:r>
            <a:r>
              <a:rPr sz="1600" dirty="0" err="1"/>
              <a:t>تماماً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حقل</a:t>
            </a:r>
            <a:r>
              <a:rPr sz="1600" dirty="0"/>
              <a:t> </a:t>
            </a:r>
            <a:r>
              <a:rPr sz="1600" dirty="0" err="1"/>
              <a:t>الإجابة</a:t>
            </a:r>
            <a:r>
              <a:rPr sz="1600" dirty="0"/>
              <a:t> </a:t>
            </a:r>
            <a:r>
              <a:rPr sz="1600" dirty="0" err="1"/>
              <a:t>الصحيحة</a:t>
            </a:r>
            <a:r>
              <a:rPr sz="1600" dirty="0"/>
              <a:t> (</a:t>
            </a:r>
            <a:r>
              <a:rPr sz="1600" dirty="0" err="1"/>
              <a:t>isCorrect</a:t>
            </a:r>
            <a:r>
              <a:rPr sz="1600" dirty="0"/>
              <a:t>)، </a:t>
            </a:r>
            <a:r>
              <a:rPr sz="1600" dirty="0" err="1"/>
              <a:t>مما</a:t>
            </a:r>
            <a:r>
              <a:rPr sz="1600" dirty="0"/>
              <a:t> </a:t>
            </a:r>
            <a:r>
              <a:rPr sz="1600" dirty="0" err="1"/>
              <a:t>يمنع</a:t>
            </a:r>
            <a:r>
              <a:rPr sz="1600" dirty="0"/>
              <a:t> </a:t>
            </a:r>
            <a:r>
              <a:rPr sz="1600" dirty="0" err="1"/>
              <a:t>استخراجها</a:t>
            </a:r>
            <a:r>
              <a:rPr sz="1600" dirty="0"/>
              <a:t> </a:t>
            </a:r>
            <a:r>
              <a:rPr sz="1600" dirty="0" err="1"/>
              <a:t>عبر</a:t>
            </a:r>
            <a:r>
              <a:rPr sz="1600" dirty="0"/>
              <a:t> </a:t>
            </a:r>
            <a:r>
              <a:rPr sz="1600" dirty="0" err="1"/>
              <a:t>أدوات</a:t>
            </a:r>
            <a:r>
              <a:rPr sz="1600" dirty="0"/>
              <a:t> </a:t>
            </a:r>
            <a:r>
              <a:rPr sz="1600" dirty="0" err="1"/>
              <a:t>فحص</a:t>
            </a:r>
            <a:r>
              <a:rPr sz="1600" dirty="0"/>
              <a:t> </a:t>
            </a:r>
            <a:r>
              <a:rPr sz="1600" dirty="0" err="1"/>
              <a:t>المتصفح</a:t>
            </a:r>
            <a:r>
              <a:rPr sz="1600" dirty="0"/>
              <a:t> (F12).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التصحيح</a:t>
            </a:r>
            <a:r>
              <a:rPr sz="1600" dirty="0"/>
              <a:t> </a:t>
            </a:r>
            <a:r>
              <a:rPr sz="1600" dirty="0" err="1"/>
              <a:t>الحصري</a:t>
            </a:r>
            <a:r>
              <a:rPr sz="1600" dirty="0"/>
              <a:t> </a:t>
            </a:r>
            <a:r>
              <a:rPr sz="1600" dirty="0" err="1"/>
              <a:t>على</a:t>
            </a:r>
            <a:r>
              <a:rPr sz="1600" dirty="0"/>
              <a:t> </a:t>
            </a:r>
            <a:r>
              <a:rPr sz="1600" dirty="0" err="1"/>
              <a:t>الخادم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يتم</a:t>
            </a:r>
            <a:r>
              <a:rPr sz="1600" dirty="0"/>
              <a:t> </a:t>
            </a:r>
            <a:r>
              <a:rPr sz="1600" dirty="0" err="1"/>
              <a:t>تقييم</a:t>
            </a:r>
            <a:r>
              <a:rPr sz="1600" dirty="0"/>
              <a:t> </a:t>
            </a:r>
            <a:r>
              <a:rPr sz="1600" dirty="0" err="1"/>
              <a:t>الإجابة</a:t>
            </a:r>
            <a:r>
              <a:rPr sz="1600" dirty="0"/>
              <a:t> </a:t>
            </a:r>
            <a:r>
              <a:rPr sz="1600" dirty="0" err="1"/>
              <a:t>بعد</a:t>
            </a:r>
            <a:r>
              <a:rPr sz="1600" dirty="0"/>
              <a:t> </a:t>
            </a:r>
            <a:r>
              <a:rPr sz="1600" dirty="0" err="1"/>
              <a:t>استلامها</a:t>
            </a:r>
            <a:r>
              <a:rPr sz="1600" dirty="0"/>
              <a:t> </a:t>
            </a:r>
            <a:r>
              <a:rPr sz="1600" dirty="0" err="1"/>
              <a:t>داخل</a:t>
            </a:r>
            <a:r>
              <a:rPr sz="1600" dirty="0"/>
              <a:t> </a:t>
            </a:r>
            <a:r>
              <a:rPr sz="1600" dirty="0" err="1"/>
              <a:t>الخادم</a:t>
            </a:r>
            <a:r>
              <a:rPr sz="1600" dirty="0"/>
              <a:t> </a:t>
            </a:r>
            <a:r>
              <a:rPr sz="1600" dirty="0" err="1"/>
              <a:t>وتحديد</a:t>
            </a:r>
            <a:r>
              <a:rPr sz="1600" dirty="0"/>
              <a:t> </a:t>
            </a:r>
            <a:r>
              <a:rPr sz="1600" dirty="0" err="1"/>
              <a:t>النتيجة</a:t>
            </a:r>
            <a:r>
              <a:rPr sz="1600" dirty="0"/>
              <a:t> </a:t>
            </a:r>
            <a:r>
              <a:rPr sz="1600" dirty="0" err="1"/>
              <a:t>وإرجاع</a:t>
            </a:r>
            <a:r>
              <a:rPr sz="1600" dirty="0"/>
              <a:t> </a:t>
            </a:r>
            <a:r>
              <a:rPr sz="1600" dirty="0" err="1"/>
              <a:t>الشرح</a:t>
            </a:r>
            <a:r>
              <a:rPr sz="1600" dirty="0"/>
              <a:t> </a:t>
            </a:r>
            <a:r>
              <a:rPr sz="1600" dirty="0" err="1"/>
              <a:t>التوضيحي</a:t>
            </a:r>
            <a:r>
              <a:rPr sz="1600" dirty="0"/>
              <a:t> </a:t>
            </a:r>
            <a:r>
              <a:rPr sz="1600" dirty="0" err="1"/>
              <a:t>المعتمد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التقييم</a:t>
            </a:r>
            <a:r>
              <a:rPr sz="1600" dirty="0"/>
              <a:t> </a:t>
            </a:r>
            <a:r>
              <a:rPr sz="1600" dirty="0" err="1"/>
              <a:t>القبلي</a:t>
            </a:r>
            <a:r>
              <a:rPr sz="1600" dirty="0"/>
              <a:t> </a:t>
            </a:r>
            <a:r>
              <a:rPr sz="1600" dirty="0" err="1"/>
              <a:t>والبعدي</a:t>
            </a:r>
            <a:r>
              <a:rPr sz="1600" dirty="0"/>
              <a:t> </a:t>
            </a:r>
            <a:r>
              <a:rPr sz="1600" dirty="0" err="1"/>
              <a:t>المقنن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تجميد</a:t>
            </a:r>
            <a:r>
              <a:rPr sz="1600" dirty="0"/>
              <a:t> </a:t>
            </a:r>
            <a:r>
              <a:rPr sz="1600" dirty="0" err="1"/>
              <a:t>نتيجة</a:t>
            </a:r>
            <a:r>
              <a:rPr sz="1600" dirty="0"/>
              <a:t> </a:t>
            </a:r>
            <a:r>
              <a:rPr sz="1600" dirty="0" err="1"/>
              <a:t>التقييم</a:t>
            </a:r>
            <a:r>
              <a:rPr sz="1600" dirty="0"/>
              <a:t> </a:t>
            </a:r>
            <a:r>
              <a:rPr sz="1600" dirty="0" err="1"/>
              <a:t>القبلي</a:t>
            </a:r>
            <a:r>
              <a:rPr sz="1600" dirty="0"/>
              <a:t> </a:t>
            </a:r>
            <a:r>
              <a:rPr sz="1600" dirty="0" err="1"/>
              <a:t>الأولية</a:t>
            </a:r>
            <a:r>
              <a:rPr sz="1600" dirty="0"/>
              <a:t> </a:t>
            </a:r>
            <a:r>
              <a:rPr sz="1600" dirty="0" err="1"/>
              <a:t>لمنع</a:t>
            </a:r>
            <a:r>
              <a:rPr sz="1600" dirty="0"/>
              <a:t> </a:t>
            </a:r>
            <a:r>
              <a:rPr sz="1600" dirty="0" err="1"/>
              <a:t>التلاعب</a:t>
            </a:r>
            <a:r>
              <a:rPr sz="1600" dirty="0"/>
              <a:t>، </a:t>
            </a:r>
            <a:r>
              <a:rPr sz="1600" dirty="0" err="1"/>
              <a:t>ومقارنتها</a:t>
            </a:r>
            <a:r>
              <a:rPr sz="1600" dirty="0"/>
              <a:t> </a:t>
            </a:r>
            <a:r>
              <a:rPr sz="1600" dirty="0" err="1"/>
              <a:t>بالتقييم</a:t>
            </a:r>
            <a:r>
              <a:rPr sz="1600" dirty="0"/>
              <a:t> </a:t>
            </a:r>
            <a:r>
              <a:rPr sz="1600" dirty="0" err="1"/>
              <a:t>البعدي</a:t>
            </a:r>
            <a:r>
              <a:rPr sz="1600" dirty="0"/>
              <a:t> </a:t>
            </a:r>
            <a:r>
              <a:rPr sz="1600" dirty="0" err="1"/>
              <a:t>لقياس</a:t>
            </a:r>
            <a:r>
              <a:rPr sz="1600" dirty="0"/>
              <a:t> </a:t>
            </a:r>
            <a:r>
              <a:rPr sz="1600" dirty="0" err="1"/>
              <a:t>نسبة</a:t>
            </a:r>
            <a:r>
              <a:rPr sz="1600" dirty="0"/>
              <a:t> </a:t>
            </a:r>
            <a:r>
              <a:rPr sz="1600" dirty="0" err="1"/>
              <a:t>التطور</a:t>
            </a:r>
            <a:r>
              <a:rPr sz="1600" dirty="0"/>
              <a:t> </a:t>
            </a:r>
            <a:r>
              <a:rPr sz="1600" dirty="0" err="1"/>
              <a:t>الفعلي</a:t>
            </a:r>
            <a:r>
              <a:rPr sz="1600" dirty="0"/>
              <a:t> </a:t>
            </a:r>
            <a:r>
              <a:rPr sz="1600" dirty="0" err="1"/>
              <a:t>بدقة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الربط</a:t>
            </a:r>
            <a:r>
              <a:rPr sz="1600" dirty="0"/>
              <a:t> </a:t>
            </a:r>
            <a:r>
              <a:rPr sz="1600" dirty="0" err="1"/>
              <a:t>التلقائي</a:t>
            </a:r>
            <a:r>
              <a:rPr sz="1600" dirty="0"/>
              <a:t> </a:t>
            </a:r>
            <a:r>
              <a:rPr sz="1600" dirty="0" err="1"/>
              <a:t>بمحرك</a:t>
            </a:r>
            <a:r>
              <a:rPr sz="1600" dirty="0"/>
              <a:t> </a:t>
            </a:r>
            <a:r>
              <a:rPr sz="1600" dirty="0" err="1"/>
              <a:t>التوصيات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تسجيل</a:t>
            </a:r>
            <a:r>
              <a:rPr sz="1600" dirty="0"/>
              <a:t> </a:t>
            </a:r>
            <a:r>
              <a:rPr sz="1600" dirty="0" err="1"/>
              <a:t>الأخطاء</a:t>
            </a:r>
            <a:r>
              <a:rPr sz="1600" dirty="0"/>
              <a:t> </a:t>
            </a:r>
            <a:r>
              <a:rPr sz="1600" dirty="0" err="1"/>
              <a:t>فورياً</a:t>
            </a:r>
            <a:r>
              <a:rPr sz="1600" dirty="0"/>
              <a:t> </a:t>
            </a:r>
            <a:r>
              <a:rPr sz="1600" dirty="0" err="1"/>
              <a:t>لتوجيه</a:t>
            </a:r>
            <a:r>
              <a:rPr sz="1600" dirty="0"/>
              <a:t> </a:t>
            </a:r>
            <a:r>
              <a:rPr sz="1600" dirty="0" err="1"/>
              <a:t>المستخدم</a:t>
            </a:r>
            <a:r>
              <a:rPr sz="1600" dirty="0"/>
              <a:t> </a:t>
            </a:r>
            <a:r>
              <a:rPr sz="1600" dirty="0" err="1"/>
              <a:t>إلى</a:t>
            </a:r>
            <a:r>
              <a:rPr sz="1600" dirty="0"/>
              <a:t> </a:t>
            </a:r>
            <a:r>
              <a:rPr sz="1600" dirty="0" err="1"/>
              <a:t>الدروس</a:t>
            </a:r>
            <a:r>
              <a:rPr sz="1600" dirty="0"/>
              <a:t> </a:t>
            </a:r>
            <a:r>
              <a:rPr sz="1600" dirty="0" err="1"/>
              <a:t>المعالجة</a:t>
            </a:r>
            <a:r>
              <a:rPr sz="1600" dirty="0"/>
              <a:t> </a:t>
            </a:r>
            <a:r>
              <a:rPr sz="1600" dirty="0" err="1"/>
              <a:t>لنقاط</a:t>
            </a:r>
            <a:r>
              <a:rPr sz="1600" dirty="0"/>
              <a:t> </a:t>
            </a:r>
            <a:r>
              <a:rPr sz="1600" dirty="0" err="1"/>
              <a:t>ضعفه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محاكي</a:t>
            </a:r>
            <a:r>
              <a:rPr sz="2400" dirty="0"/>
              <a:t> </a:t>
            </a:r>
            <a:r>
              <a:rPr sz="2400" dirty="0" err="1"/>
              <a:t>السيناريوهات</a:t>
            </a:r>
            <a:r>
              <a:rPr sz="2400" dirty="0"/>
              <a:t> </a:t>
            </a:r>
            <a:r>
              <a:rPr sz="2400" dirty="0" err="1"/>
              <a:t>التفاعلية</a:t>
            </a:r>
            <a:r>
              <a:rPr sz="2400" dirty="0"/>
              <a:t> </a:t>
            </a:r>
            <a:r>
              <a:rPr sz="2400" dirty="0" err="1"/>
              <a:t>والتعلم</a:t>
            </a:r>
            <a:r>
              <a:rPr sz="2400" dirty="0"/>
              <a:t> </a:t>
            </a:r>
            <a:r>
              <a:rPr sz="2400" dirty="0" err="1"/>
              <a:t>التجريبي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609344"/>
            <a:ext cx="5559552" cy="437083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5_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16752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Cairo"/>
              </a:defRPr>
            </a:pPr>
            <a:r>
              <a:rPr sz="1400" dirty="0" err="1"/>
              <a:t>شكل</a:t>
            </a:r>
            <a:r>
              <a:rPr sz="1400" dirty="0"/>
              <a:t> (3): </a:t>
            </a:r>
            <a:r>
              <a:rPr sz="1400" dirty="0" err="1"/>
              <a:t>محاكي</a:t>
            </a:r>
            <a:r>
              <a:rPr sz="1400" dirty="0"/>
              <a:t> </a:t>
            </a:r>
            <a:r>
              <a:rPr sz="1400" dirty="0" err="1"/>
              <a:t>السيناريوهات</a:t>
            </a:r>
            <a:r>
              <a:rPr sz="1400" dirty="0"/>
              <a:t> </a:t>
            </a:r>
            <a:r>
              <a:rPr sz="1400" dirty="0" err="1"/>
              <a:t>التفاعلية</a:t>
            </a:r>
            <a:r>
              <a:rPr sz="1400" dirty="0"/>
              <a:t> </a:t>
            </a:r>
            <a:r>
              <a:rPr sz="1400" dirty="0" err="1"/>
              <a:t>واستلام</a:t>
            </a:r>
            <a:r>
              <a:rPr sz="1400" dirty="0"/>
              <a:t> </a:t>
            </a:r>
            <a:r>
              <a:rPr sz="1400" dirty="0" err="1"/>
              <a:t>الموقف</a:t>
            </a:r>
            <a:r>
              <a:rPr sz="1400" dirty="0"/>
              <a:t> </a:t>
            </a:r>
            <a:r>
              <a:rPr sz="1400" dirty="0" err="1"/>
              <a:t>السيبراني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6634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  <a:defRPr sz="1300" b="1">
                <a:solidFill>
                  <a:srgbClr val="FB923C"/>
                </a:solidFill>
                <a:latin typeface="Cairo"/>
              </a:defRPr>
            </a:pPr>
            <a:r>
              <a:rPr sz="1600" dirty="0"/>
              <a:t>🎮 </a:t>
            </a:r>
            <a:r>
              <a:rPr sz="1600" dirty="0" err="1"/>
              <a:t>مزايا</a:t>
            </a:r>
            <a:r>
              <a:rPr sz="1600" dirty="0"/>
              <a:t> </a:t>
            </a:r>
            <a:r>
              <a:rPr sz="1600" dirty="0" err="1"/>
              <a:t>المحاكاة</a:t>
            </a:r>
            <a:r>
              <a:rPr sz="1600" dirty="0"/>
              <a:t> </a:t>
            </a:r>
            <a:r>
              <a:rPr sz="1600" dirty="0" err="1"/>
              <a:t>التفاعلية</a:t>
            </a:r>
            <a:r>
              <a:rPr sz="1600" dirty="0"/>
              <a:t> (Experiential Learning):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معايشة</a:t>
            </a:r>
            <a:r>
              <a:rPr sz="1600" dirty="0"/>
              <a:t> </a:t>
            </a:r>
            <a:r>
              <a:rPr sz="1600" dirty="0" err="1"/>
              <a:t>واقعية</a:t>
            </a:r>
            <a:r>
              <a:rPr sz="1600" dirty="0"/>
              <a:t> </a:t>
            </a:r>
            <a:r>
              <a:rPr sz="1600" dirty="0" err="1"/>
              <a:t>للتهديد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وضع</a:t>
            </a:r>
            <a:r>
              <a:rPr sz="1600" dirty="0"/>
              <a:t> </a:t>
            </a:r>
            <a:r>
              <a:rPr sz="1600" dirty="0" err="1"/>
              <a:t>المتدرب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قلب</a:t>
            </a:r>
            <a:r>
              <a:rPr sz="1600" dirty="0"/>
              <a:t> </a:t>
            </a:r>
            <a:r>
              <a:rPr sz="1600" dirty="0" err="1"/>
              <a:t>موقف</a:t>
            </a:r>
            <a:r>
              <a:rPr sz="1600" dirty="0"/>
              <a:t> </a:t>
            </a:r>
            <a:r>
              <a:rPr sz="1600" dirty="0" err="1"/>
              <a:t>هجومي</a:t>
            </a:r>
            <a:r>
              <a:rPr sz="1600" dirty="0"/>
              <a:t> </a:t>
            </a:r>
            <a:r>
              <a:rPr sz="1600" dirty="0" err="1"/>
              <a:t>فعلي</a:t>
            </a:r>
            <a:r>
              <a:rPr sz="1600" dirty="0"/>
              <a:t> (</a:t>
            </a:r>
            <a:r>
              <a:rPr sz="1600" dirty="0" err="1"/>
              <a:t>مثل</a:t>
            </a:r>
            <a:r>
              <a:rPr sz="1600" dirty="0"/>
              <a:t> </a:t>
            </a:r>
            <a:r>
              <a:rPr sz="1600" dirty="0" err="1"/>
              <a:t>وصول</a:t>
            </a:r>
            <a:r>
              <a:rPr sz="1600" dirty="0"/>
              <a:t> </a:t>
            </a:r>
            <a:r>
              <a:rPr sz="1600" dirty="0" err="1"/>
              <a:t>بريد</a:t>
            </a:r>
            <a:r>
              <a:rPr sz="1600" dirty="0"/>
              <a:t> </a:t>
            </a:r>
            <a:r>
              <a:rPr sz="1600" dirty="0" err="1"/>
              <a:t>تظاهر</a:t>
            </a:r>
            <a:r>
              <a:rPr sz="1600" dirty="0"/>
              <a:t> </a:t>
            </a:r>
            <a:r>
              <a:rPr sz="1600" dirty="0" err="1"/>
              <a:t>بطلب</a:t>
            </a:r>
            <a:r>
              <a:rPr sz="1600" dirty="0"/>
              <a:t> </a:t>
            </a:r>
            <a:r>
              <a:rPr sz="1600" dirty="0" err="1"/>
              <a:t>تحديث</a:t>
            </a:r>
            <a:r>
              <a:rPr sz="1600" dirty="0"/>
              <a:t> </a:t>
            </a:r>
            <a:r>
              <a:rPr sz="1600" dirty="0" err="1"/>
              <a:t>بيانات</a:t>
            </a:r>
            <a:r>
              <a:rPr sz="1600" dirty="0"/>
              <a:t> </a:t>
            </a:r>
            <a:r>
              <a:rPr sz="1600" dirty="0" err="1"/>
              <a:t>بنكية</a:t>
            </a:r>
            <a:r>
              <a:rPr sz="1600" dirty="0"/>
              <a:t> </a:t>
            </a:r>
            <a:r>
              <a:rPr sz="1600" dirty="0" err="1"/>
              <a:t>عاجلة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رسالة</a:t>
            </a:r>
            <a:r>
              <a:rPr sz="1600" dirty="0"/>
              <a:t> </a:t>
            </a:r>
            <a:r>
              <a:rPr sz="1600" dirty="0" err="1"/>
              <a:t>انتحال</a:t>
            </a:r>
            <a:r>
              <a:rPr sz="1600" dirty="0"/>
              <a:t> </a:t>
            </a:r>
            <a:r>
              <a:rPr sz="1600" dirty="0" err="1"/>
              <a:t>دعم</a:t>
            </a:r>
            <a:r>
              <a:rPr sz="1600" dirty="0"/>
              <a:t> </a:t>
            </a:r>
            <a:r>
              <a:rPr sz="1600" dirty="0" err="1"/>
              <a:t>فني</a:t>
            </a:r>
            <a:r>
              <a:rPr sz="1600" dirty="0"/>
              <a:t>).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تدفق</a:t>
            </a:r>
            <a:r>
              <a:rPr sz="1600" dirty="0"/>
              <a:t> </a:t>
            </a:r>
            <a:r>
              <a:rPr sz="1600" dirty="0" err="1"/>
              <a:t>متعدد</a:t>
            </a:r>
            <a:r>
              <a:rPr sz="1600" dirty="0"/>
              <a:t> </a:t>
            </a:r>
            <a:r>
              <a:rPr sz="1600" dirty="0" err="1"/>
              <a:t>الخطوات</a:t>
            </a:r>
            <a:r>
              <a:rPr sz="1600" dirty="0"/>
              <a:t> (Step-by-Step):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الموقف</a:t>
            </a:r>
            <a:r>
              <a:rPr sz="1600" dirty="0"/>
              <a:t> </a:t>
            </a:r>
            <a:r>
              <a:rPr sz="1600" dirty="0" err="1"/>
              <a:t>لا</a:t>
            </a:r>
            <a:r>
              <a:rPr sz="1600" dirty="0"/>
              <a:t> </a:t>
            </a:r>
            <a:r>
              <a:rPr sz="1600" dirty="0" err="1"/>
              <a:t>ينتهي</a:t>
            </a:r>
            <a:r>
              <a:rPr sz="1600" dirty="0"/>
              <a:t> </a:t>
            </a:r>
            <a:r>
              <a:rPr sz="1600" dirty="0" err="1"/>
              <a:t>بسؤال</a:t>
            </a:r>
            <a:r>
              <a:rPr sz="1600" dirty="0"/>
              <a:t> </a:t>
            </a:r>
            <a:r>
              <a:rPr sz="1600" dirty="0" err="1"/>
              <a:t>منفرد</a:t>
            </a:r>
            <a:r>
              <a:rPr sz="1600" dirty="0"/>
              <a:t>، </a:t>
            </a:r>
            <a:r>
              <a:rPr sz="1600" dirty="0" err="1"/>
              <a:t>بل</a:t>
            </a:r>
            <a:r>
              <a:rPr sz="1600" dirty="0"/>
              <a:t> </a:t>
            </a:r>
            <a:r>
              <a:rPr sz="1600" dirty="0" err="1"/>
              <a:t>تتشعب</a:t>
            </a:r>
            <a:r>
              <a:rPr sz="1600" dirty="0"/>
              <a:t> </a:t>
            </a:r>
            <a:r>
              <a:rPr sz="1600" dirty="0" err="1"/>
              <a:t>الأحداث</a:t>
            </a:r>
            <a:r>
              <a:rPr sz="1600" dirty="0"/>
              <a:t> </a:t>
            </a:r>
            <a:r>
              <a:rPr sz="1600" dirty="0" err="1"/>
              <a:t>وفق</a:t>
            </a:r>
            <a:r>
              <a:rPr sz="1600" dirty="0"/>
              <a:t> </a:t>
            </a:r>
            <a:r>
              <a:rPr sz="1600" dirty="0" err="1"/>
              <a:t>خيار</a:t>
            </a:r>
            <a:r>
              <a:rPr sz="1600" dirty="0"/>
              <a:t> </a:t>
            </a:r>
            <a:r>
              <a:rPr sz="1600" dirty="0" err="1"/>
              <a:t>المتدرب</a:t>
            </a:r>
            <a:r>
              <a:rPr sz="1600" dirty="0"/>
              <a:t> </a:t>
            </a:r>
            <a:r>
              <a:rPr sz="1600" dirty="0" err="1"/>
              <a:t>لاختبار</a:t>
            </a:r>
            <a:r>
              <a:rPr sz="1600" dirty="0"/>
              <a:t> </a:t>
            </a:r>
            <a:r>
              <a:rPr sz="1600" dirty="0" err="1"/>
              <a:t>تبعات</a:t>
            </a:r>
            <a:r>
              <a:rPr sz="1600" dirty="0"/>
              <a:t> </a:t>
            </a:r>
            <a:r>
              <a:rPr sz="1600" dirty="0" err="1"/>
              <a:t>قراره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ملاحظة</a:t>
            </a:r>
            <a:r>
              <a:rPr sz="1600" dirty="0"/>
              <a:t> </a:t>
            </a:r>
            <a:r>
              <a:rPr sz="1600" dirty="0" err="1"/>
              <a:t>الأثر</a:t>
            </a:r>
            <a:r>
              <a:rPr sz="1600" dirty="0"/>
              <a:t> </a:t>
            </a:r>
            <a:r>
              <a:rPr sz="1600" dirty="0" err="1"/>
              <a:t>الفوري</a:t>
            </a:r>
            <a:r>
              <a:rPr sz="1600" dirty="0"/>
              <a:t> </a:t>
            </a:r>
            <a:r>
              <a:rPr sz="1600" dirty="0" err="1"/>
              <a:t>للقرار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حال</a:t>
            </a:r>
            <a:r>
              <a:rPr sz="1600" dirty="0"/>
              <a:t> </a:t>
            </a:r>
            <a:r>
              <a:rPr sz="1600" dirty="0" err="1"/>
              <a:t>اتخاذ</a:t>
            </a:r>
            <a:r>
              <a:rPr sz="1600" dirty="0"/>
              <a:t> </a:t>
            </a:r>
            <a:r>
              <a:rPr sz="1600" dirty="0" err="1"/>
              <a:t>قرار</a:t>
            </a:r>
            <a:r>
              <a:rPr sz="1600" dirty="0"/>
              <a:t> </a:t>
            </a:r>
            <a:r>
              <a:rPr sz="1600" dirty="0" err="1"/>
              <a:t>خاطئ</a:t>
            </a:r>
            <a:r>
              <a:rPr sz="1600" dirty="0"/>
              <a:t>، </a:t>
            </a:r>
            <a:r>
              <a:rPr sz="1600" dirty="0" err="1"/>
              <a:t>يشاهد</a:t>
            </a:r>
            <a:r>
              <a:rPr sz="1600" dirty="0"/>
              <a:t> </a:t>
            </a:r>
            <a:r>
              <a:rPr sz="1600" dirty="0" err="1"/>
              <a:t>المتدرب</a:t>
            </a:r>
            <a:r>
              <a:rPr sz="1600" dirty="0"/>
              <a:t> </a:t>
            </a:r>
            <a:r>
              <a:rPr sz="1600" dirty="0" err="1"/>
              <a:t>تداعيات</a:t>
            </a:r>
            <a:r>
              <a:rPr sz="1600" dirty="0"/>
              <a:t> </a:t>
            </a:r>
            <a:r>
              <a:rPr sz="1600" dirty="0" err="1"/>
              <a:t>الاختراق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بيئة</a:t>
            </a:r>
            <a:r>
              <a:rPr sz="1600" dirty="0"/>
              <a:t> </a:t>
            </a:r>
            <a:r>
              <a:rPr sz="1600" dirty="0" err="1"/>
              <a:t>افتراضية</a:t>
            </a:r>
            <a:r>
              <a:rPr sz="1600" dirty="0"/>
              <a:t> </a:t>
            </a:r>
            <a:r>
              <a:rPr sz="1600" dirty="0" err="1"/>
              <a:t>آمنة</a:t>
            </a:r>
            <a:r>
              <a:rPr sz="1600" dirty="0"/>
              <a:t> </a:t>
            </a:r>
            <a:r>
              <a:rPr sz="1600" dirty="0" err="1"/>
              <a:t>خالية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المخاطر</a:t>
            </a:r>
            <a:r>
              <a:rPr sz="1600" dirty="0"/>
              <a:t> </a:t>
            </a:r>
            <a:r>
              <a:rPr sz="1600" dirty="0" err="1"/>
              <a:t>الحقيقية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مسار</a:t>
            </a:r>
            <a:r>
              <a:rPr sz="1600" dirty="0"/>
              <a:t> </a:t>
            </a:r>
            <a:r>
              <a:rPr sz="1600" dirty="0" err="1"/>
              <a:t>السيناريو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لا</a:t>
            </a:r>
            <a:r>
              <a:rPr sz="1600" dirty="0"/>
              <a:t> </a:t>
            </a:r>
            <a:r>
              <a:rPr sz="1600" dirty="0" err="1"/>
              <a:t>يرسل</a:t>
            </a:r>
            <a:r>
              <a:rPr sz="1600" dirty="0"/>
              <a:t> </a:t>
            </a:r>
            <a:r>
              <a:rPr sz="1600" dirty="0" err="1"/>
              <a:t>الخادم</a:t>
            </a:r>
            <a:r>
              <a:rPr sz="1600" dirty="0"/>
              <a:t> </a:t>
            </a:r>
            <a:r>
              <a:rPr sz="1600" dirty="0" err="1"/>
              <a:t>خطوات</a:t>
            </a:r>
            <a:r>
              <a:rPr sz="1600" dirty="0"/>
              <a:t> </a:t>
            </a:r>
            <a:r>
              <a:rPr sz="1600" dirty="0" err="1"/>
              <a:t>السيناريو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نتائجه</a:t>
            </a:r>
            <a:r>
              <a:rPr sz="1600" dirty="0"/>
              <a:t> </a:t>
            </a:r>
            <a:r>
              <a:rPr sz="1600" dirty="0" err="1"/>
              <a:t>دفعة</a:t>
            </a:r>
            <a:r>
              <a:rPr sz="1600" dirty="0"/>
              <a:t> </a:t>
            </a:r>
            <a:r>
              <a:rPr sz="1600" dirty="0" err="1"/>
              <a:t>واحدة</a:t>
            </a:r>
            <a:r>
              <a:rPr sz="1600" dirty="0"/>
              <a:t>، </a:t>
            </a:r>
            <a:r>
              <a:rPr sz="1600" dirty="0" err="1"/>
              <a:t>بل</a:t>
            </a:r>
            <a:r>
              <a:rPr sz="1600" dirty="0"/>
              <a:t> </a:t>
            </a:r>
            <a:r>
              <a:rPr sz="1600" dirty="0" err="1"/>
              <a:t>يقدم</a:t>
            </a:r>
            <a:r>
              <a:rPr sz="1600" dirty="0"/>
              <a:t> </a:t>
            </a:r>
            <a:r>
              <a:rPr sz="1600" dirty="0" err="1"/>
              <a:t>الخطوة</a:t>
            </a:r>
            <a:r>
              <a:rPr sz="1600" dirty="0"/>
              <a:t> </a:t>
            </a:r>
            <a:r>
              <a:rPr sz="1600" dirty="0" err="1"/>
              <a:t>الحالية</a:t>
            </a:r>
            <a:r>
              <a:rPr sz="1600" dirty="0"/>
              <a:t> </a:t>
            </a:r>
            <a:r>
              <a:rPr sz="1600" dirty="0" err="1"/>
              <a:t>فقط</a:t>
            </a:r>
            <a:r>
              <a:rPr sz="1600" dirty="0"/>
              <a:t> </a:t>
            </a:r>
            <a:r>
              <a:rPr sz="1600" dirty="0" err="1"/>
              <a:t>لمنع</a:t>
            </a:r>
            <a:r>
              <a:rPr sz="1600" dirty="0"/>
              <a:t> </a:t>
            </a:r>
            <a:r>
              <a:rPr sz="1600" dirty="0" err="1"/>
              <a:t>استباق</a:t>
            </a:r>
            <a:r>
              <a:rPr sz="1600" dirty="0"/>
              <a:t> </a:t>
            </a:r>
            <a:r>
              <a:rPr sz="1600" dirty="0" err="1"/>
              <a:t>الحل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المحلل</a:t>
            </a:r>
            <a:r>
              <a:rPr sz="2400" dirty="0"/>
              <a:t> </a:t>
            </a:r>
            <a:r>
              <a:rPr sz="2400" dirty="0" err="1"/>
              <a:t>الآمن</a:t>
            </a:r>
            <a:r>
              <a:rPr sz="2400" dirty="0"/>
              <a:t> </a:t>
            </a:r>
            <a:r>
              <a:rPr sz="2400" dirty="0" err="1"/>
              <a:t>للروابط</a:t>
            </a:r>
            <a:r>
              <a:rPr sz="2400" dirty="0"/>
              <a:t> </a:t>
            </a:r>
            <a:r>
              <a:rPr sz="2400" dirty="0" err="1"/>
              <a:t>والرسائل</a:t>
            </a:r>
            <a:r>
              <a:rPr sz="2400" dirty="0"/>
              <a:t> (Safe Analyzer)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609344"/>
            <a:ext cx="5559552" cy="437083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safe_analy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16752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defRPr sz="1000" b="1">
                <a:solidFill>
                  <a:srgbClr val="38BDF8"/>
                </a:solidFill>
                <a:latin typeface="Cairo"/>
              </a:defRPr>
            </a:pPr>
            <a:r>
              <a:rPr sz="1400" dirty="0" err="1"/>
              <a:t>شكل</a:t>
            </a:r>
            <a:r>
              <a:rPr sz="1400" dirty="0"/>
              <a:t> (4): </a:t>
            </a:r>
            <a:r>
              <a:rPr sz="1400" dirty="0" err="1"/>
              <a:t>واجهة</a:t>
            </a:r>
            <a:r>
              <a:rPr sz="1400" dirty="0"/>
              <a:t> </a:t>
            </a:r>
            <a:r>
              <a:rPr sz="1400" dirty="0" err="1"/>
              <a:t>المحلل</a:t>
            </a:r>
            <a:r>
              <a:rPr sz="1400" dirty="0"/>
              <a:t> </a:t>
            </a:r>
            <a:r>
              <a:rPr sz="1400" dirty="0" err="1"/>
              <a:t>الآمن</a:t>
            </a:r>
            <a:r>
              <a:rPr sz="1400" dirty="0"/>
              <a:t> </a:t>
            </a:r>
            <a:r>
              <a:rPr sz="1400" dirty="0" err="1"/>
              <a:t>لفحص</a:t>
            </a:r>
            <a:r>
              <a:rPr sz="1400" dirty="0"/>
              <a:t> </a:t>
            </a:r>
            <a:r>
              <a:rPr sz="1400" dirty="0" err="1"/>
              <a:t>وتفكيك</a:t>
            </a:r>
            <a:r>
              <a:rPr sz="1400" dirty="0"/>
              <a:t> </a:t>
            </a:r>
            <a:r>
              <a:rPr sz="1400" dirty="0" err="1"/>
              <a:t>بنية</a:t>
            </a:r>
            <a:r>
              <a:rPr sz="1400" dirty="0"/>
              <a:t> </a:t>
            </a:r>
            <a:r>
              <a:rPr sz="1400" dirty="0" err="1"/>
              <a:t>الروابط</a:t>
            </a:r>
            <a:r>
              <a:rPr sz="1400" dirty="0"/>
              <a:t> </a:t>
            </a:r>
            <a:r>
              <a:rPr sz="1400" dirty="0" err="1"/>
              <a:t>المشبوهة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6634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  <a:defRPr sz="1300" b="1">
                <a:solidFill>
                  <a:srgbClr val="A78BFA"/>
                </a:solidFill>
                <a:latin typeface="Cairo"/>
              </a:defRPr>
            </a:pPr>
            <a:r>
              <a:rPr sz="1600" dirty="0"/>
              <a:t>🔍 </a:t>
            </a:r>
            <a:r>
              <a:rPr sz="1600" dirty="0" err="1"/>
              <a:t>الهندسة</a:t>
            </a:r>
            <a:r>
              <a:rPr sz="1600" dirty="0"/>
              <a:t> </a:t>
            </a:r>
            <a:r>
              <a:rPr sz="1600" dirty="0" err="1"/>
              <a:t>الأمنية</a:t>
            </a:r>
            <a:r>
              <a:rPr sz="1600" dirty="0"/>
              <a:t> </a:t>
            </a:r>
            <a:r>
              <a:rPr sz="1600" dirty="0" err="1"/>
              <a:t>للمحلل</a:t>
            </a:r>
            <a:r>
              <a:rPr sz="1600" dirty="0"/>
              <a:t> </a:t>
            </a:r>
            <a:r>
              <a:rPr sz="1600" dirty="0" err="1"/>
              <a:t>الآمن</a:t>
            </a:r>
            <a:r>
              <a:rPr sz="1600" dirty="0"/>
              <a:t> (Zero-Contact):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تفكيك</a:t>
            </a:r>
            <a:r>
              <a:rPr sz="1600" dirty="0"/>
              <a:t> </a:t>
            </a:r>
            <a:r>
              <a:rPr sz="1600" dirty="0" err="1"/>
              <a:t>بنية</a:t>
            </a:r>
            <a:r>
              <a:rPr sz="1600" dirty="0"/>
              <a:t> </a:t>
            </a:r>
            <a:r>
              <a:rPr sz="1600" dirty="0" err="1"/>
              <a:t>النطاق</a:t>
            </a:r>
            <a:r>
              <a:rPr sz="1600" dirty="0"/>
              <a:t> (Domain Parsing):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استخراج</a:t>
            </a:r>
            <a:r>
              <a:rPr sz="1600" dirty="0"/>
              <a:t> </a:t>
            </a:r>
            <a:r>
              <a:rPr sz="1600" dirty="0" err="1"/>
              <a:t>اسم</a:t>
            </a:r>
            <a:r>
              <a:rPr sz="1600" dirty="0"/>
              <a:t> </a:t>
            </a:r>
            <a:r>
              <a:rPr sz="1600" dirty="0" err="1"/>
              <a:t>النطاق</a:t>
            </a:r>
            <a:r>
              <a:rPr sz="1600" dirty="0"/>
              <a:t> </a:t>
            </a:r>
            <a:r>
              <a:rPr sz="1600" dirty="0" err="1"/>
              <a:t>الأساسي</a:t>
            </a:r>
            <a:r>
              <a:rPr sz="1600" dirty="0"/>
              <a:t>، </a:t>
            </a:r>
            <a:r>
              <a:rPr sz="1600" dirty="0" err="1"/>
              <a:t>النطاق</a:t>
            </a:r>
            <a:r>
              <a:rPr sz="1600" dirty="0"/>
              <a:t> </a:t>
            </a:r>
            <a:r>
              <a:rPr sz="1600" dirty="0" err="1"/>
              <a:t>الأعلى</a:t>
            </a:r>
            <a:r>
              <a:rPr sz="1600" dirty="0"/>
              <a:t> (TLD)، </a:t>
            </a:r>
            <a:r>
              <a:rPr sz="1600" dirty="0" err="1"/>
              <a:t>والنطاقات</a:t>
            </a:r>
            <a:r>
              <a:rPr sz="1600" dirty="0"/>
              <a:t> </a:t>
            </a:r>
            <a:r>
              <a:rPr sz="1600" dirty="0" err="1"/>
              <a:t>الفرعية</a:t>
            </a:r>
            <a:r>
              <a:rPr sz="1600" dirty="0"/>
              <a:t> </a:t>
            </a:r>
            <a:r>
              <a:rPr sz="1600" dirty="0" err="1"/>
              <a:t>بدقة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كشف</a:t>
            </a:r>
            <a:r>
              <a:rPr sz="1600" dirty="0"/>
              <a:t> </a:t>
            </a:r>
            <a:r>
              <a:rPr sz="1600" dirty="0" err="1"/>
              <a:t>حيل</a:t>
            </a:r>
            <a:r>
              <a:rPr sz="1600" dirty="0"/>
              <a:t> </a:t>
            </a:r>
            <a:r>
              <a:rPr sz="1600" dirty="0" err="1"/>
              <a:t>التلاعب</a:t>
            </a:r>
            <a:r>
              <a:rPr sz="1600" dirty="0"/>
              <a:t> </a:t>
            </a:r>
            <a:r>
              <a:rPr sz="1600" dirty="0" err="1"/>
              <a:t>البصري</a:t>
            </a:r>
            <a:r>
              <a:rPr sz="1600" dirty="0"/>
              <a:t> (Punycode):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رصد</a:t>
            </a:r>
            <a:r>
              <a:rPr sz="1600" dirty="0"/>
              <a:t> </a:t>
            </a:r>
            <a:r>
              <a:rPr sz="1600" dirty="0" err="1"/>
              <a:t>الحروف</a:t>
            </a:r>
            <a:r>
              <a:rPr sz="1600" dirty="0"/>
              <a:t> </a:t>
            </a:r>
            <a:r>
              <a:rPr sz="1600" dirty="0" err="1"/>
              <a:t>البديلة</a:t>
            </a:r>
            <a:r>
              <a:rPr sz="1600" dirty="0"/>
              <a:t> </a:t>
            </a:r>
            <a:r>
              <a:rPr sz="1600" dirty="0" err="1"/>
              <a:t>والرموز</a:t>
            </a:r>
            <a:r>
              <a:rPr sz="1600" dirty="0"/>
              <a:t> </a:t>
            </a:r>
            <a:r>
              <a:rPr sz="1600" dirty="0" err="1"/>
              <a:t>المتطابقة</a:t>
            </a:r>
            <a:r>
              <a:rPr sz="1600" dirty="0"/>
              <a:t> </a:t>
            </a:r>
            <a:r>
              <a:rPr sz="1600" dirty="0" err="1"/>
              <a:t>شكلاً</a:t>
            </a:r>
            <a:r>
              <a:rPr sz="1600" dirty="0"/>
              <a:t> (Homograph Attacks) </a:t>
            </a:r>
            <a:r>
              <a:rPr sz="1600" dirty="0" err="1"/>
              <a:t>والروابط</a:t>
            </a:r>
            <a:r>
              <a:rPr sz="1600" dirty="0"/>
              <a:t> </a:t>
            </a:r>
            <a:r>
              <a:rPr sz="1600" dirty="0" err="1"/>
              <a:t>المختصرة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رصد</a:t>
            </a:r>
            <a:r>
              <a:rPr sz="1600" dirty="0"/>
              <a:t> </a:t>
            </a:r>
            <a:r>
              <a:rPr sz="1600" dirty="0" err="1"/>
              <a:t>مؤشرات</a:t>
            </a:r>
            <a:r>
              <a:rPr sz="1600" dirty="0"/>
              <a:t> </a:t>
            </a:r>
            <a:r>
              <a:rPr sz="1600" dirty="0" err="1"/>
              <a:t>الهندسة</a:t>
            </a:r>
            <a:r>
              <a:rPr sz="1600" dirty="0"/>
              <a:t> </a:t>
            </a:r>
            <a:r>
              <a:rPr sz="1600" dirty="0" err="1"/>
              <a:t>الاجتماعية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الرسائل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اكتشاف</a:t>
            </a:r>
            <a:r>
              <a:rPr sz="1600" dirty="0"/>
              <a:t> </a:t>
            </a:r>
            <a:r>
              <a:rPr sz="1600" dirty="0" err="1"/>
              <a:t>عبارات</a:t>
            </a:r>
            <a:r>
              <a:rPr sz="1600" dirty="0"/>
              <a:t> </a:t>
            </a:r>
            <a:r>
              <a:rPr sz="1600" dirty="0" err="1"/>
              <a:t>الاستعجال</a:t>
            </a:r>
            <a:r>
              <a:rPr sz="1600" dirty="0"/>
              <a:t> </a:t>
            </a:r>
            <a:r>
              <a:rPr sz="1600" dirty="0" err="1"/>
              <a:t>والتهديد</a:t>
            </a:r>
            <a:r>
              <a:rPr sz="1600" dirty="0"/>
              <a:t> </a:t>
            </a:r>
            <a:r>
              <a:rPr sz="1600" dirty="0" err="1"/>
              <a:t>وطلبات</a:t>
            </a:r>
            <a:r>
              <a:rPr sz="1600" dirty="0"/>
              <a:t> </a:t>
            </a:r>
            <a:r>
              <a:rPr sz="1600" dirty="0" err="1"/>
              <a:t>البيانات</a:t>
            </a:r>
            <a:r>
              <a:rPr sz="1600" dirty="0"/>
              <a:t> </a:t>
            </a:r>
            <a:r>
              <a:rPr sz="1600" dirty="0" err="1"/>
              <a:t>البنكية</a:t>
            </a:r>
            <a:r>
              <a:rPr sz="1600" dirty="0"/>
              <a:t> </a:t>
            </a:r>
            <a:r>
              <a:rPr sz="1600" dirty="0" err="1"/>
              <a:t>والجوائز</a:t>
            </a:r>
            <a:r>
              <a:rPr sz="1600" dirty="0"/>
              <a:t> </a:t>
            </a:r>
            <a:r>
              <a:rPr sz="1600" dirty="0" err="1"/>
              <a:t>الوهمية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الفحص</a:t>
            </a:r>
            <a:r>
              <a:rPr sz="1600" dirty="0"/>
              <a:t> </a:t>
            </a:r>
            <a:r>
              <a:rPr sz="1600" dirty="0" err="1"/>
              <a:t>الاستدلالي</a:t>
            </a:r>
            <a:r>
              <a:rPr sz="1600" dirty="0"/>
              <a:t> </a:t>
            </a:r>
            <a:r>
              <a:rPr sz="1600" dirty="0" err="1"/>
              <a:t>المعزول</a:t>
            </a:r>
            <a:r>
              <a:rPr sz="1600" dirty="0"/>
              <a:t> </a:t>
            </a:r>
            <a:r>
              <a:rPr sz="1600" dirty="0" err="1"/>
              <a:t>كلياً</a:t>
            </a:r>
            <a:r>
              <a:rPr sz="1600" dirty="0"/>
              <a:t> (Local Heuristics):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التحليل</a:t>
            </a:r>
            <a:r>
              <a:rPr sz="1600" dirty="0"/>
              <a:t> </a:t>
            </a:r>
            <a:r>
              <a:rPr sz="1600" dirty="0" err="1"/>
              <a:t>يتم</a:t>
            </a:r>
            <a:r>
              <a:rPr sz="1600" dirty="0"/>
              <a:t> </a:t>
            </a:r>
            <a:r>
              <a:rPr sz="1600" dirty="0" err="1"/>
              <a:t>محلياً</a:t>
            </a:r>
            <a:r>
              <a:rPr sz="1600" dirty="0"/>
              <a:t> </a:t>
            </a:r>
            <a:r>
              <a:rPr sz="1600" dirty="0" err="1"/>
              <a:t>بنسبة</a:t>
            </a:r>
            <a:r>
              <a:rPr sz="1600" dirty="0"/>
              <a:t> 100% </a:t>
            </a:r>
            <a:r>
              <a:rPr sz="1600" dirty="0" err="1"/>
              <a:t>دون</a:t>
            </a:r>
            <a:r>
              <a:rPr sz="1600" dirty="0"/>
              <a:t> </a:t>
            </a:r>
            <a:r>
              <a:rPr sz="1600" dirty="0" err="1"/>
              <a:t>أن</a:t>
            </a:r>
            <a:r>
              <a:rPr sz="1600" dirty="0"/>
              <a:t> </a:t>
            </a:r>
            <a:r>
              <a:rPr sz="1600" dirty="0" err="1"/>
              <a:t>يقوم</a:t>
            </a:r>
            <a:r>
              <a:rPr sz="1600" dirty="0"/>
              <a:t> </a:t>
            </a:r>
            <a:r>
              <a:rPr sz="1600" dirty="0" err="1"/>
              <a:t>المتصفح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الخادم</a:t>
            </a:r>
            <a:r>
              <a:rPr sz="1600" dirty="0"/>
              <a:t> </a:t>
            </a:r>
            <a:r>
              <a:rPr sz="1600" dirty="0" err="1"/>
              <a:t>بزيارة</a:t>
            </a:r>
            <a:r>
              <a:rPr sz="1600" dirty="0"/>
              <a:t> </a:t>
            </a:r>
            <a:r>
              <a:rPr sz="1600" dirty="0" err="1"/>
              <a:t>الرابط</a:t>
            </a:r>
            <a:r>
              <a:rPr sz="1600" dirty="0"/>
              <a:t> </a:t>
            </a:r>
            <a:r>
              <a:rPr sz="1600" dirty="0" err="1"/>
              <a:t>الفعلي</a:t>
            </a:r>
            <a:r>
              <a:rPr sz="1600" dirty="0"/>
              <a:t>، </a:t>
            </a:r>
            <a:r>
              <a:rPr sz="1600" dirty="0" err="1"/>
              <a:t>مما</a:t>
            </a:r>
            <a:r>
              <a:rPr sz="1600" dirty="0"/>
              <a:t> </a:t>
            </a:r>
            <a:r>
              <a:rPr sz="1600" dirty="0" err="1"/>
              <a:t>يوفر</a:t>
            </a:r>
            <a:r>
              <a:rPr sz="1600" dirty="0"/>
              <a:t> </a:t>
            </a: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مطلقة</a:t>
            </a:r>
            <a:r>
              <a:rPr sz="1600" dirty="0"/>
              <a:t> </a:t>
            </a:r>
            <a:r>
              <a:rPr sz="1600" dirty="0" err="1"/>
              <a:t>لبيئة</a:t>
            </a:r>
            <a:r>
              <a:rPr sz="1600" dirty="0"/>
              <a:t> </a:t>
            </a:r>
            <a:r>
              <a:rPr sz="1600" dirty="0" err="1"/>
              <a:t>الفحص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منظومة</a:t>
            </a:r>
            <a:r>
              <a:rPr sz="2400" dirty="0"/>
              <a:t> </a:t>
            </a:r>
            <a:r>
              <a:rPr sz="2400" dirty="0" err="1"/>
              <a:t>الأمان</a:t>
            </a:r>
            <a:r>
              <a:rPr sz="2400" dirty="0"/>
              <a:t> </a:t>
            </a:r>
            <a:r>
              <a:rPr sz="2400" dirty="0" err="1"/>
              <a:t>وحماية</a:t>
            </a:r>
            <a:r>
              <a:rPr sz="2400" dirty="0"/>
              <a:t> </a:t>
            </a:r>
            <a:r>
              <a:rPr sz="2400" dirty="0" err="1"/>
              <a:t>الملكية</a:t>
            </a:r>
            <a:r>
              <a:rPr sz="2400" dirty="0"/>
              <a:t> (Security Architecture &amp; IDOR)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4876495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4B8A6"/>
                </a:solidFill>
                <a:latin typeface="Cairo"/>
              </a:defRPr>
            </a:pPr>
            <a:r>
              <a:rPr lang="ar-SA" sz="1600" dirty="0"/>
              <a:t>2. </a:t>
            </a:r>
            <a:r>
              <a:rPr sz="1600" dirty="0" err="1"/>
              <a:t>التحكم</a:t>
            </a:r>
            <a:r>
              <a:rPr sz="1600" dirty="0"/>
              <a:t> </a:t>
            </a:r>
            <a:r>
              <a:rPr sz="1600" dirty="0" err="1"/>
              <a:t>بالوصول</a:t>
            </a:r>
            <a:r>
              <a:rPr sz="1600" dirty="0"/>
              <a:t> (RBAC)</a:t>
            </a:r>
          </a:p>
          <a:p>
            <a:pPr algn="r" rtl="1">
              <a:defRPr sz="10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فصل</a:t>
            </a:r>
            <a:r>
              <a:rPr sz="1600" dirty="0"/>
              <a:t> </a:t>
            </a:r>
            <a:r>
              <a:rPr sz="1600" dirty="0" err="1"/>
              <a:t>الصلاحيات</a:t>
            </a:r>
            <a:r>
              <a:rPr sz="1600" dirty="0"/>
              <a:t> </a:t>
            </a:r>
            <a:r>
              <a:rPr sz="1600" dirty="0" err="1"/>
              <a:t>بدقة</a:t>
            </a:r>
            <a:r>
              <a:rPr sz="1600" dirty="0"/>
              <a:t> </a:t>
            </a:r>
            <a:r>
              <a:rPr sz="1600" dirty="0" err="1"/>
              <a:t>بين</a:t>
            </a:r>
            <a:r>
              <a:rPr sz="1600" dirty="0"/>
              <a:t> </a:t>
            </a:r>
            <a:r>
              <a:rPr sz="1600" dirty="0" err="1"/>
              <a:t>المتدرب</a:t>
            </a:r>
            <a:r>
              <a:rPr sz="1600" dirty="0"/>
              <a:t> (Student) </a:t>
            </a:r>
            <a:r>
              <a:rPr sz="1600" dirty="0" err="1"/>
              <a:t>والمدرس</a:t>
            </a:r>
            <a:r>
              <a:rPr sz="1600" dirty="0"/>
              <a:t> (Instructor) </a:t>
            </a:r>
            <a:r>
              <a:rPr sz="1600" dirty="0" err="1"/>
              <a:t>والمدير</a:t>
            </a:r>
            <a:r>
              <a:rPr sz="1600" dirty="0"/>
              <a:t> (Admin) </a:t>
            </a:r>
            <a:r>
              <a:rPr sz="1600" dirty="0" err="1"/>
              <a:t>عبر</a:t>
            </a:r>
            <a:r>
              <a:rPr sz="1600" dirty="0"/>
              <a:t> Middleware </a:t>
            </a:r>
            <a:r>
              <a:rPr sz="1600" dirty="0" err="1"/>
              <a:t>متخصص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55648"/>
            <a:ext cx="4876495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FB923C"/>
                </a:solidFill>
                <a:latin typeface="Cairo"/>
              </a:defRPr>
            </a:pPr>
            <a:r>
              <a:rPr lang="ar-SA" sz="1600" dirty="0"/>
              <a:t>1. </a:t>
            </a: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الملكية</a:t>
            </a:r>
            <a:r>
              <a:rPr sz="1600" dirty="0"/>
              <a:t> </a:t>
            </a:r>
            <a:r>
              <a:rPr sz="1600" dirty="0" err="1"/>
              <a:t>ومنع</a:t>
            </a:r>
            <a:r>
              <a:rPr sz="1600" dirty="0"/>
              <a:t> </a:t>
            </a:r>
            <a:r>
              <a:rPr sz="1600" dirty="0" err="1"/>
              <a:t>ثغرات</a:t>
            </a:r>
            <a:r>
              <a:rPr sz="1600" dirty="0"/>
              <a:t> IDOR</a:t>
            </a:r>
          </a:p>
          <a:p>
            <a:pPr algn="r" rtl="1">
              <a:defRPr sz="10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التحقق</a:t>
            </a:r>
            <a:r>
              <a:rPr sz="1600" dirty="0"/>
              <a:t> </a:t>
            </a:r>
            <a:r>
              <a:rPr sz="1600" dirty="0" err="1"/>
              <a:t>الصارم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معرّف</a:t>
            </a:r>
            <a:r>
              <a:rPr sz="1600" dirty="0"/>
              <a:t> </a:t>
            </a:r>
            <a:r>
              <a:rPr sz="1600" dirty="0" err="1"/>
              <a:t>المنشئ</a:t>
            </a:r>
            <a:r>
              <a:rPr sz="1600" dirty="0"/>
              <a:t> (</a:t>
            </a:r>
            <a:r>
              <a:rPr sz="1600" dirty="0" err="1"/>
              <a:t>ownerId</a:t>
            </a:r>
            <a:r>
              <a:rPr sz="1600" dirty="0"/>
              <a:t>)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كل</a:t>
            </a:r>
            <a:r>
              <a:rPr sz="1600" dirty="0"/>
              <a:t> </a:t>
            </a:r>
            <a:r>
              <a:rPr sz="1600" dirty="0" err="1"/>
              <a:t>استعلام</a:t>
            </a:r>
            <a:r>
              <a:rPr sz="1600" dirty="0"/>
              <a:t>،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حصانة</a:t>
            </a:r>
            <a:r>
              <a:rPr sz="1600" dirty="0"/>
              <a:t> </a:t>
            </a:r>
            <a:r>
              <a:rPr sz="1600" dirty="0" err="1"/>
              <a:t>مطلقة</a:t>
            </a:r>
            <a:r>
              <a:rPr sz="1600" dirty="0"/>
              <a:t> </a:t>
            </a:r>
            <a:r>
              <a:rPr sz="1600" dirty="0" err="1"/>
              <a:t>للدروس</a:t>
            </a:r>
            <a:r>
              <a:rPr sz="1600" dirty="0"/>
              <a:t> </a:t>
            </a:r>
            <a:r>
              <a:rPr sz="1600" dirty="0" err="1"/>
              <a:t>الرسمية</a:t>
            </a:r>
            <a:r>
              <a:rPr sz="1600" dirty="0"/>
              <a:t> </a:t>
            </a:r>
            <a:r>
              <a:rPr sz="1600" dirty="0" err="1"/>
              <a:t>السبعة</a:t>
            </a:r>
            <a:r>
              <a:rPr sz="1600" dirty="0"/>
              <a:t> </a:t>
            </a:r>
            <a:r>
              <a:rPr sz="1600" dirty="0" err="1"/>
              <a:t>ضد</a:t>
            </a:r>
            <a:r>
              <a:rPr sz="1600" dirty="0"/>
              <a:t> </a:t>
            </a:r>
            <a:r>
              <a:rPr sz="1600" dirty="0" err="1"/>
              <a:t>التعديل</a:t>
            </a:r>
            <a:r>
              <a:rPr sz="16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2422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4876495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38BDF8"/>
                </a:solidFill>
                <a:latin typeface="Cairo"/>
              </a:defRPr>
            </a:pPr>
            <a:r>
              <a:rPr lang="ar-SA" sz="1600" dirty="0"/>
              <a:t>4. </a:t>
            </a:r>
            <a:r>
              <a:rPr sz="1600" dirty="0" err="1"/>
              <a:t>تشفير</a:t>
            </a:r>
            <a:r>
              <a:rPr sz="1600" dirty="0"/>
              <a:t> </a:t>
            </a:r>
            <a:r>
              <a:rPr sz="1600" dirty="0" err="1"/>
              <a:t>كلمات</a:t>
            </a:r>
            <a:r>
              <a:rPr sz="1600" dirty="0"/>
              <a:t> </a:t>
            </a:r>
            <a:r>
              <a:rPr sz="1600" dirty="0" err="1"/>
              <a:t>المرور</a:t>
            </a:r>
            <a:r>
              <a:rPr sz="1600" dirty="0"/>
              <a:t> (</a:t>
            </a:r>
            <a:r>
              <a:rPr sz="1600" dirty="0" err="1"/>
              <a:t>Bcrypt</a:t>
            </a:r>
            <a:r>
              <a:rPr sz="1600" dirty="0"/>
              <a:t>)</a:t>
            </a:r>
          </a:p>
          <a:p>
            <a:pPr algn="r" rtl="1">
              <a:defRPr sz="10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تجزئة</a:t>
            </a:r>
            <a:r>
              <a:rPr sz="1600" dirty="0"/>
              <a:t> </a:t>
            </a:r>
            <a:r>
              <a:rPr sz="1600" dirty="0" err="1"/>
              <a:t>كلمات</a:t>
            </a:r>
            <a:r>
              <a:rPr sz="1600" dirty="0"/>
              <a:t> </a:t>
            </a:r>
            <a:r>
              <a:rPr sz="1600" dirty="0" err="1"/>
              <a:t>المرور</a:t>
            </a:r>
            <a:r>
              <a:rPr sz="1600" dirty="0"/>
              <a:t> </a:t>
            </a:r>
            <a:r>
              <a:rPr sz="1600" dirty="0" err="1"/>
              <a:t>باستخدام</a:t>
            </a:r>
            <a:r>
              <a:rPr sz="1600" dirty="0"/>
              <a:t> </a:t>
            </a:r>
            <a:r>
              <a:rPr sz="1600" dirty="0" err="1"/>
              <a:t>خوارزمية</a:t>
            </a:r>
            <a:r>
              <a:rPr sz="1600" dirty="0"/>
              <a:t> </a:t>
            </a:r>
            <a:r>
              <a:rPr sz="1600" dirty="0" err="1"/>
              <a:t>Bcrypt</a:t>
            </a:r>
            <a:r>
              <a:rPr sz="1600" dirty="0"/>
              <a:t>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التمليح</a:t>
            </a:r>
            <a:r>
              <a:rPr sz="1600" dirty="0"/>
              <a:t> </a:t>
            </a:r>
            <a:r>
              <a:rPr sz="1600" dirty="0" err="1"/>
              <a:t>العشوائي</a:t>
            </a:r>
            <a:r>
              <a:rPr sz="1600" dirty="0"/>
              <a:t> </a:t>
            </a:r>
            <a:r>
              <a:rPr sz="1600" dirty="0" err="1"/>
              <a:t>القوي</a:t>
            </a:r>
            <a:r>
              <a:rPr sz="1600" dirty="0"/>
              <a:t> (Salt) </a:t>
            </a:r>
            <a:r>
              <a:rPr sz="1600" dirty="0" err="1"/>
              <a:t>لمنع</a:t>
            </a:r>
            <a:r>
              <a:rPr sz="1600" dirty="0"/>
              <a:t> </a:t>
            </a:r>
            <a:r>
              <a:rPr sz="1600" dirty="0" err="1"/>
              <a:t>هجمات</a:t>
            </a:r>
            <a:r>
              <a:rPr sz="1600" dirty="0"/>
              <a:t> </a:t>
            </a:r>
            <a:r>
              <a:rPr sz="1600" dirty="0" err="1"/>
              <a:t>القواميس</a:t>
            </a:r>
            <a:r>
              <a:rPr sz="1600" dirty="0"/>
              <a:t> </a:t>
            </a:r>
            <a:r>
              <a:rPr sz="1600" dirty="0" err="1"/>
              <a:t>والجداول</a:t>
            </a:r>
            <a:r>
              <a:rPr sz="1600" dirty="0"/>
              <a:t> </a:t>
            </a:r>
            <a:r>
              <a:rPr sz="1600" dirty="0" err="1"/>
              <a:t>العكسية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2422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218688"/>
            <a:ext cx="4876495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A78BFA"/>
                </a:solidFill>
                <a:latin typeface="Cairo"/>
              </a:defRPr>
            </a:pPr>
            <a:r>
              <a:rPr lang="ar-SA" sz="1600" dirty="0"/>
              <a:t>3. </a:t>
            </a:r>
            <a:r>
              <a:rPr sz="1600" dirty="0" err="1"/>
              <a:t>أمن</a:t>
            </a:r>
            <a:r>
              <a:rPr sz="1600" dirty="0"/>
              <a:t> </a:t>
            </a:r>
            <a:r>
              <a:rPr sz="1600" dirty="0" err="1"/>
              <a:t>الجلسات</a:t>
            </a:r>
            <a:r>
              <a:rPr sz="1600" dirty="0"/>
              <a:t> (</a:t>
            </a:r>
            <a:r>
              <a:rPr sz="1600" dirty="0" err="1"/>
              <a:t>HttpOnly</a:t>
            </a:r>
            <a:r>
              <a:rPr sz="1600" dirty="0"/>
              <a:t> Cookies)</a:t>
            </a:r>
          </a:p>
          <a:p>
            <a:pPr algn="r" rtl="1">
              <a:defRPr sz="10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إدارة</a:t>
            </a:r>
            <a:r>
              <a:rPr sz="1600" dirty="0"/>
              <a:t> </a:t>
            </a:r>
            <a:r>
              <a:rPr sz="1600" dirty="0" err="1"/>
              <a:t>الجلسات</a:t>
            </a:r>
            <a:r>
              <a:rPr sz="1600" dirty="0"/>
              <a:t> </a:t>
            </a:r>
            <a:r>
              <a:rPr sz="1600" dirty="0" err="1"/>
              <a:t>برموز</a:t>
            </a:r>
            <a:r>
              <a:rPr sz="1600" dirty="0"/>
              <a:t> JWT </a:t>
            </a:r>
            <a:r>
              <a:rPr sz="1600" dirty="0" err="1"/>
              <a:t>موقعة</a:t>
            </a:r>
            <a:r>
              <a:rPr sz="1600" dirty="0"/>
              <a:t> </a:t>
            </a:r>
            <a:r>
              <a:rPr sz="1600" dirty="0" err="1"/>
              <a:t>ومحفوظة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ملفات</a:t>
            </a:r>
            <a:r>
              <a:rPr sz="1600" dirty="0"/>
              <a:t> </a:t>
            </a:r>
            <a:r>
              <a:rPr sz="1600" dirty="0" err="1"/>
              <a:t>تعريف</a:t>
            </a:r>
            <a:r>
              <a:rPr sz="1600" dirty="0"/>
              <a:t> </a:t>
            </a:r>
            <a:r>
              <a:rPr sz="1600" dirty="0" err="1"/>
              <a:t>ارتباط</a:t>
            </a:r>
            <a:r>
              <a:rPr sz="1600" dirty="0"/>
              <a:t> </a:t>
            </a:r>
            <a:r>
              <a:rPr sz="1600" dirty="0" err="1"/>
              <a:t>مشفرة</a:t>
            </a:r>
            <a:r>
              <a:rPr sz="1600" dirty="0"/>
              <a:t> </a:t>
            </a:r>
            <a:r>
              <a:rPr sz="1600" dirty="0" err="1"/>
              <a:t>ومحمية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هجمات</a:t>
            </a:r>
            <a:r>
              <a:rPr sz="1600" dirty="0"/>
              <a:t> XSS </a:t>
            </a:r>
            <a:r>
              <a:rPr sz="1600" dirty="0" err="1"/>
              <a:t>وسرقة</a:t>
            </a:r>
            <a:r>
              <a:rPr sz="1600" dirty="0"/>
              <a:t> </a:t>
            </a:r>
            <a:r>
              <a:rPr sz="1600" dirty="0" err="1"/>
              <a:t>الجلسات</a:t>
            </a:r>
            <a:r>
              <a:rPr sz="16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422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681728"/>
            <a:ext cx="4876495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34D399"/>
                </a:solidFill>
                <a:latin typeface="Cairo"/>
              </a:defRPr>
            </a:pPr>
            <a:r>
              <a:rPr lang="ar-SA" sz="1600" dirty="0"/>
              <a:t>6. ك</a:t>
            </a:r>
            <a:r>
              <a:rPr sz="1600" dirty="0" err="1"/>
              <a:t>بح</a:t>
            </a:r>
            <a:r>
              <a:rPr sz="1600" dirty="0"/>
              <a:t> </a:t>
            </a:r>
            <a:r>
              <a:rPr sz="1600" dirty="0" err="1"/>
              <a:t>القوة</a:t>
            </a:r>
            <a:r>
              <a:rPr sz="1600" dirty="0"/>
              <a:t> </a:t>
            </a:r>
            <a:r>
              <a:rPr sz="1600" dirty="0" err="1"/>
              <a:t>الغاشمة</a:t>
            </a:r>
            <a:r>
              <a:rPr sz="1600" dirty="0"/>
              <a:t> (Rate Limiting)</a:t>
            </a:r>
          </a:p>
          <a:p>
            <a:pPr algn="r" rtl="1">
              <a:defRPr sz="10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حظر</a:t>
            </a:r>
            <a:r>
              <a:rPr sz="1600" dirty="0"/>
              <a:t> </a:t>
            </a:r>
            <a:r>
              <a:rPr sz="1600" dirty="0" err="1"/>
              <a:t>تكرار</a:t>
            </a:r>
            <a:r>
              <a:rPr sz="1600" dirty="0"/>
              <a:t> </a:t>
            </a:r>
            <a:r>
              <a:rPr sz="1600" dirty="0" err="1"/>
              <a:t>الطلبات</a:t>
            </a:r>
            <a:r>
              <a:rPr sz="1600" dirty="0"/>
              <a:t> </a:t>
            </a:r>
            <a:r>
              <a:rPr sz="1600" dirty="0" err="1"/>
              <a:t>آلياً</a:t>
            </a:r>
            <a:r>
              <a:rPr sz="1600" dirty="0"/>
              <a:t> </a:t>
            </a:r>
            <a:r>
              <a:rPr sz="1600" dirty="0" err="1"/>
              <a:t>لمنع</a:t>
            </a:r>
            <a:r>
              <a:rPr sz="1600" dirty="0"/>
              <a:t> </a:t>
            </a:r>
            <a:r>
              <a:rPr sz="1600" dirty="0" err="1"/>
              <a:t>محاولات</a:t>
            </a:r>
            <a:r>
              <a:rPr sz="1600" dirty="0"/>
              <a:t> </a:t>
            </a:r>
            <a:r>
              <a:rPr sz="1600" dirty="0" err="1"/>
              <a:t>التخمين</a:t>
            </a:r>
            <a:r>
              <a:rPr sz="1600" dirty="0"/>
              <a:t> </a:t>
            </a:r>
            <a:r>
              <a:rPr sz="1600" dirty="0" err="1"/>
              <a:t>وهجمات</a:t>
            </a:r>
            <a:r>
              <a:rPr sz="1600" dirty="0"/>
              <a:t> </a:t>
            </a:r>
            <a:r>
              <a:rPr sz="1600" dirty="0" err="1"/>
              <a:t>حجب</a:t>
            </a:r>
            <a:r>
              <a:rPr sz="1600" dirty="0"/>
              <a:t> </a:t>
            </a:r>
            <a:r>
              <a:rPr sz="1600" dirty="0" err="1"/>
              <a:t>الخدمة</a:t>
            </a:r>
            <a:r>
              <a:rPr sz="1600" dirty="0"/>
              <a:t> </a:t>
            </a:r>
            <a:r>
              <a:rPr sz="1600" dirty="0" err="1"/>
              <a:t>على</a:t>
            </a:r>
            <a:r>
              <a:rPr sz="1600" dirty="0"/>
              <a:t> </a:t>
            </a:r>
            <a:r>
              <a:rPr sz="1600" dirty="0" err="1"/>
              <a:t>واجهات</a:t>
            </a:r>
            <a:r>
              <a:rPr sz="1600" dirty="0"/>
              <a:t> </a:t>
            </a:r>
            <a:r>
              <a:rPr sz="1600" dirty="0" err="1"/>
              <a:t>المصادقة</a:t>
            </a:r>
            <a:r>
              <a:rPr sz="1600" dirty="0"/>
              <a:t> </a:t>
            </a:r>
            <a:r>
              <a:rPr sz="1600" dirty="0" err="1"/>
              <a:t>والتقييم</a:t>
            </a:r>
            <a:r>
              <a:rPr sz="1600"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4225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681728"/>
            <a:ext cx="4876495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EC4899"/>
                </a:solidFill>
                <a:latin typeface="Cairo"/>
              </a:defRPr>
            </a:pPr>
            <a:r>
              <a:rPr lang="ar-SA" sz="1600" dirty="0"/>
              <a:t>5. </a:t>
            </a:r>
            <a:r>
              <a:rPr sz="1600" dirty="0" err="1"/>
              <a:t>سياسة</a:t>
            </a:r>
            <a:r>
              <a:rPr sz="1600" dirty="0"/>
              <a:t> </a:t>
            </a:r>
            <a:r>
              <a:rPr sz="1600" dirty="0" err="1"/>
              <a:t>أمان</a:t>
            </a:r>
            <a:r>
              <a:rPr sz="1600" dirty="0"/>
              <a:t> </a:t>
            </a:r>
            <a:r>
              <a:rPr sz="1600" dirty="0" err="1"/>
              <a:t>المحتوى</a:t>
            </a:r>
            <a:r>
              <a:rPr sz="1600" dirty="0"/>
              <a:t> </a:t>
            </a:r>
            <a:r>
              <a:rPr sz="1600" dirty="0" err="1"/>
              <a:t>الصارمة</a:t>
            </a:r>
            <a:r>
              <a:rPr sz="1600" dirty="0"/>
              <a:t> (CSP)</a:t>
            </a:r>
          </a:p>
          <a:p>
            <a:pPr algn="r" rtl="1">
              <a:defRPr sz="105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فرض</a:t>
            </a:r>
            <a:r>
              <a:rPr sz="1600" dirty="0"/>
              <a:t> </a:t>
            </a:r>
            <a:r>
              <a:rPr sz="1600" dirty="0" err="1"/>
              <a:t>قيود</a:t>
            </a:r>
            <a:r>
              <a:rPr sz="1600" dirty="0"/>
              <a:t> </a:t>
            </a:r>
            <a:r>
              <a:rPr sz="1600" dirty="0" err="1"/>
              <a:t>مشددة</a:t>
            </a:r>
            <a:r>
              <a:rPr sz="1600" dirty="0"/>
              <a:t> </a:t>
            </a:r>
            <a:r>
              <a:rPr sz="1600" dirty="0" err="1"/>
              <a:t>على</a:t>
            </a:r>
            <a:r>
              <a:rPr sz="1600" dirty="0"/>
              <a:t> </a:t>
            </a:r>
            <a:r>
              <a:rPr sz="1600" dirty="0" err="1"/>
              <a:t>مصادر</a:t>
            </a:r>
            <a:r>
              <a:rPr sz="1600" dirty="0"/>
              <a:t> </a:t>
            </a:r>
            <a:r>
              <a:rPr sz="1600" dirty="0" err="1"/>
              <a:t>تشغيل</a:t>
            </a:r>
            <a:r>
              <a:rPr sz="1600" dirty="0"/>
              <a:t> </a:t>
            </a:r>
            <a:r>
              <a:rPr sz="1600" dirty="0" err="1"/>
              <a:t>النصوص</a:t>
            </a:r>
            <a:r>
              <a:rPr sz="1600" dirty="0"/>
              <a:t> </a:t>
            </a:r>
            <a:r>
              <a:rPr sz="1600" dirty="0" err="1"/>
              <a:t>والخطوط</a:t>
            </a:r>
            <a:r>
              <a:rPr sz="1600" dirty="0"/>
              <a:t> </a:t>
            </a:r>
            <a:r>
              <a:rPr sz="1600" dirty="0" err="1"/>
              <a:t>الخارجية</a:t>
            </a:r>
            <a:r>
              <a:rPr sz="1600" dirty="0"/>
              <a:t> </a:t>
            </a:r>
            <a:r>
              <a:rPr sz="1600" dirty="0" err="1"/>
              <a:t>لمنع</a:t>
            </a:r>
            <a:r>
              <a:rPr sz="1600" dirty="0"/>
              <a:t> </a:t>
            </a:r>
            <a:r>
              <a:rPr sz="1600" dirty="0" err="1"/>
              <a:t>أي</a:t>
            </a:r>
            <a:r>
              <a:rPr sz="1600" dirty="0"/>
              <a:t> </a:t>
            </a:r>
            <a:r>
              <a:rPr sz="1600" dirty="0" err="1"/>
              <a:t>حقن</a:t>
            </a:r>
            <a:r>
              <a:rPr sz="1600" dirty="0"/>
              <a:t> </a:t>
            </a:r>
            <a:r>
              <a:rPr sz="1600" dirty="0" err="1"/>
              <a:t>برمجي</a:t>
            </a:r>
            <a:r>
              <a:rPr sz="1600" dirty="0"/>
              <a:t> </a:t>
            </a:r>
            <a:r>
              <a:rPr sz="1600" dirty="0" err="1"/>
              <a:t>خبيث</a:t>
            </a:r>
            <a:r>
              <a:rPr sz="1600" dirty="0"/>
              <a:t> </a:t>
            </a:r>
            <a:r>
              <a:rPr sz="1600" dirty="0" err="1"/>
              <a:t>وحماية</a:t>
            </a:r>
            <a:r>
              <a:rPr sz="1600" dirty="0"/>
              <a:t> </a:t>
            </a:r>
            <a:r>
              <a:rPr sz="1600" dirty="0" err="1"/>
              <a:t>المتصفح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التحقق</a:t>
            </a:r>
            <a:r>
              <a:rPr sz="2400" dirty="0"/>
              <a:t> </a:t>
            </a:r>
            <a:r>
              <a:rPr sz="2400" dirty="0" err="1"/>
              <a:t>البرمجي</a:t>
            </a:r>
            <a:r>
              <a:rPr sz="2400" dirty="0"/>
              <a:t> </a:t>
            </a:r>
            <a:r>
              <a:rPr sz="2400" dirty="0" err="1"/>
              <a:t>المعملي</a:t>
            </a:r>
            <a:r>
              <a:rPr sz="2400" dirty="0"/>
              <a:t>: </a:t>
            </a:r>
            <a:r>
              <a:rPr sz="2400" dirty="0" err="1"/>
              <a:t>نجاح</a:t>
            </a:r>
            <a:r>
              <a:rPr sz="2400" dirty="0"/>
              <a:t> 157 </a:t>
            </a:r>
            <a:r>
              <a:rPr sz="2400" dirty="0" err="1"/>
              <a:t>اختباراً</a:t>
            </a:r>
            <a:r>
              <a:rPr sz="2400" dirty="0"/>
              <a:t> </a:t>
            </a:r>
            <a:r>
              <a:rPr sz="2400" dirty="0" err="1"/>
              <a:t>آلياً</a:t>
            </a:r>
            <a:r>
              <a:rPr sz="2400" dirty="0"/>
              <a:t> </a:t>
            </a:r>
            <a:r>
              <a:rPr sz="2400" dirty="0" err="1"/>
              <a:t>بنسبة</a:t>
            </a:r>
            <a:r>
              <a:rPr sz="2400" dirty="0"/>
              <a:t>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609344"/>
            <a:ext cx="5559552" cy="437083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vitest_157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167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Cairo"/>
              </a:defRPr>
            </a:pPr>
            <a:r>
              <a:t>شكل (5): مخرجات تشغيل حزمة الاختبارات الآلية عبر Vitest (157 ناجحاً)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663440" cy="392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20"/>
              </a:spcBef>
              <a:spcAft>
                <a:spcPts val="800"/>
              </a:spcAft>
              <a:defRPr sz="1300" b="1">
                <a:solidFill>
                  <a:srgbClr val="34D399"/>
                </a:solidFill>
                <a:latin typeface="Cairo"/>
              </a:defRPr>
            </a:pPr>
            <a:r>
              <a:rPr sz="1600" dirty="0"/>
              <a:t>🧪 </a:t>
            </a:r>
            <a:r>
              <a:rPr sz="1600" dirty="0" err="1"/>
              <a:t>إحصائيات</a:t>
            </a:r>
            <a:r>
              <a:rPr sz="1600" dirty="0"/>
              <a:t> </a:t>
            </a:r>
            <a:r>
              <a:rPr sz="1600" dirty="0" err="1"/>
              <a:t>حزمة</a:t>
            </a:r>
            <a:r>
              <a:rPr sz="1600" dirty="0"/>
              <a:t> </a:t>
            </a:r>
            <a:r>
              <a:rPr sz="1600" dirty="0" err="1"/>
              <a:t>الاختبارات</a:t>
            </a:r>
            <a:r>
              <a:rPr sz="1600" dirty="0"/>
              <a:t> </a:t>
            </a:r>
            <a:r>
              <a:rPr sz="1600" dirty="0" err="1"/>
              <a:t>الآلية</a:t>
            </a:r>
            <a:r>
              <a:rPr sz="1600" dirty="0"/>
              <a:t> (15 </a:t>
            </a:r>
            <a:r>
              <a:rPr sz="1600" dirty="0" err="1"/>
              <a:t>ملفاً</a:t>
            </a:r>
            <a:r>
              <a:rPr sz="1600" dirty="0"/>
              <a:t> </a:t>
            </a:r>
            <a:r>
              <a:rPr sz="1600" dirty="0" err="1"/>
              <a:t>اختبارياً</a:t>
            </a:r>
            <a:r>
              <a:rPr sz="1600" dirty="0"/>
              <a:t>):</a:t>
            </a:r>
          </a:p>
          <a:p>
            <a:pPr algn="r" rtl="1">
              <a:spcBef>
                <a:spcPts val="120"/>
              </a:spcBef>
              <a:spcAft>
                <a:spcPts val="100"/>
              </a:spcAft>
              <a:defRPr sz="105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اختبارات</a:t>
            </a:r>
            <a:r>
              <a:rPr sz="1600" dirty="0"/>
              <a:t> </a:t>
            </a:r>
            <a:r>
              <a:rPr sz="1600" dirty="0" err="1"/>
              <a:t>المصادقة</a:t>
            </a:r>
            <a:r>
              <a:rPr sz="1600" dirty="0"/>
              <a:t> </a:t>
            </a:r>
            <a:r>
              <a:rPr sz="1600" dirty="0" err="1"/>
              <a:t>والجلسات</a:t>
            </a:r>
            <a:r>
              <a:rPr sz="1600" dirty="0"/>
              <a:t> (Auth &amp; Logout):</a:t>
            </a:r>
          </a:p>
          <a:p>
            <a:pPr algn="r" rtl="1">
              <a:spcBef>
                <a:spcPts val="120"/>
              </a:spcBef>
              <a:spcAft>
                <a:spcPts val="5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20 </a:t>
            </a:r>
            <a:r>
              <a:rPr sz="1600" dirty="0" err="1"/>
              <a:t>اختباراً</a:t>
            </a:r>
            <a:r>
              <a:rPr sz="1600" dirty="0"/>
              <a:t> </a:t>
            </a:r>
            <a:r>
              <a:rPr sz="1600" dirty="0" err="1"/>
              <a:t>تغطي</a:t>
            </a:r>
            <a:r>
              <a:rPr sz="1600" dirty="0"/>
              <a:t> </a:t>
            </a:r>
            <a:r>
              <a:rPr sz="1600" dirty="0" err="1"/>
              <a:t>التشفير</a:t>
            </a:r>
            <a:r>
              <a:rPr sz="1600" dirty="0"/>
              <a:t> </a:t>
            </a:r>
            <a:r>
              <a:rPr sz="1600" dirty="0" err="1"/>
              <a:t>والسياسات</a:t>
            </a:r>
            <a:r>
              <a:rPr sz="1600" dirty="0"/>
              <a:t> </a:t>
            </a:r>
            <a:r>
              <a:rPr sz="1600" dirty="0" err="1"/>
              <a:t>وتطهير</a:t>
            </a:r>
            <a:r>
              <a:rPr sz="1600" dirty="0"/>
              <a:t> </a:t>
            </a:r>
            <a:r>
              <a:rPr sz="1600" dirty="0" err="1"/>
              <a:t>الكوكيز</a:t>
            </a:r>
            <a:r>
              <a:rPr sz="1600" dirty="0"/>
              <a:t> </a:t>
            </a:r>
            <a:r>
              <a:rPr sz="1600" dirty="0" err="1"/>
              <a:t>بنجاح</a:t>
            </a:r>
            <a:r>
              <a:rPr sz="1600" dirty="0"/>
              <a:t> 100%.</a:t>
            </a:r>
          </a:p>
          <a:p>
            <a:pPr algn="r" rtl="1">
              <a:spcBef>
                <a:spcPts val="120"/>
              </a:spcBef>
              <a:spcAft>
                <a:spcPts val="100"/>
              </a:spcAft>
              <a:defRPr sz="105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اختبارات</a:t>
            </a:r>
            <a:r>
              <a:rPr sz="1600" dirty="0"/>
              <a:t> </a:t>
            </a:r>
            <a:r>
              <a:rPr sz="1600" dirty="0" err="1"/>
              <a:t>كبح</a:t>
            </a:r>
            <a:r>
              <a:rPr sz="1600" dirty="0"/>
              <a:t> </a:t>
            </a:r>
            <a:r>
              <a:rPr sz="1600" dirty="0" err="1"/>
              <a:t>القوة</a:t>
            </a:r>
            <a:r>
              <a:rPr sz="1600" dirty="0"/>
              <a:t> </a:t>
            </a:r>
            <a:r>
              <a:rPr sz="1600" dirty="0" err="1"/>
              <a:t>الغاشمة</a:t>
            </a:r>
            <a:r>
              <a:rPr sz="1600" dirty="0"/>
              <a:t> (Rate Limiting):</a:t>
            </a:r>
          </a:p>
          <a:p>
            <a:pPr algn="r" rtl="1">
              <a:spcBef>
                <a:spcPts val="120"/>
              </a:spcBef>
              <a:spcAft>
                <a:spcPts val="5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9 </a:t>
            </a:r>
            <a:r>
              <a:rPr sz="1600" dirty="0" err="1"/>
              <a:t>اختبارات</a:t>
            </a:r>
            <a:r>
              <a:rPr sz="1600" dirty="0"/>
              <a:t> </a:t>
            </a:r>
            <a:r>
              <a:rPr sz="1600" dirty="0" err="1"/>
              <a:t>تؤكد</a:t>
            </a:r>
            <a:r>
              <a:rPr sz="1600" dirty="0"/>
              <a:t> </a:t>
            </a:r>
            <a:r>
              <a:rPr sz="1600" dirty="0" err="1"/>
              <a:t>حظر</a:t>
            </a:r>
            <a:r>
              <a:rPr sz="1600" dirty="0"/>
              <a:t> </a:t>
            </a:r>
            <a:r>
              <a:rPr sz="1600" dirty="0" err="1"/>
              <a:t>تكرار</a:t>
            </a:r>
            <a:r>
              <a:rPr sz="1600" dirty="0"/>
              <a:t> </a:t>
            </a:r>
            <a:r>
              <a:rPr sz="1600" dirty="0" err="1"/>
              <a:t>الطلبات</a:t>
            </a:r>
            <a:r>
              <a:rPr sz="1600" dirty="0"/>
              <a:t> </a:t>
            </a:r>
            <a:r>
              <a:rPr sz="1600" dirty="0" err="1"/>
              <a:t>والتخمين</a:t>
            </a:r>
            <a:r>
              <a:rPr sz="1600" dirty="0"/>
              <a:t> </a:t>
            </a:r>
            <a:r>
              <a:rPr sz="1600" dirty="0" err="1"/>
              <a:t>بنجاح</a:t>
            </a:r>
            <a:r>
              <a:rPr sz="1600" dirty="0"/>
              <a:t> 100%.</a:t>
            </a:r>
          </a:p>
          <a:p>
            <a:pPr algn="r" rtl="1">
              <a:spcBef>
                <a:spcPts val="120"/>
              </a:spcBef>
              <a:spcAft>
                <a:spcPts val="100"/>
              </a:spcAft>
              <a:defRPr sz="105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اختبارات</a:t>
            </a:r>
            <a:r>
              <a:rPr sz="1600" dirty="0"/>
              <a:t> </a:t>
            </a:r>
            <a:r>
              <a:rPr sz="1600" dirty="0" err="1"/>
              <a:t>الملكية</a:t>
            </a:r>
            <a:r>
              <a:rPr sz="1600" dirty="0"/>
              <a:t> </a:t>
            </a:r>
            <a:r>
              <a:rPr sz="1600" dirty="0" err="1"/>
              <a:t>ومنع</a:t>
            </a:r>
            <a:r>
              <a:rPr sz="1600" dirty="0"/>
              <a:t> </a:t>
            </a:r>
            <a:r>
              <a:rPr sz="1600" dirty="0" err="1"/>
              <a:t>ثغرات</a:t>
            </a:r>
            <a:r>
              <a:rPr sz="1600" dirty="0"/>
              <a:t> IDOR:</a:t>
            </a:r>
          </a:p>
          <a:p>
            <a:pPr algn="r" rtl="1">
              <a:spcBef>
                <a:spcPts val="120"/>
              </a:spcBef>
              <a:spcAft>
                <a:spcPts val="5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21 </a:t>
            </a:r>
            <a:r>
              <a:rPr sz="1600" dirty="0" err="1"/>
              <a:t>اختباراً</a:t>
            </a:r>
            <a:r>
              <a:rPr sz="1600" dirty="0"/>
              <a:t> </a:t>
            </a:r>
            <a:r>
              <a:rPr sz="1600" dirty="0" err="1"/>
              <a:t>للمدرسين</a:t>
            </a:r>
            <a:r>
              <a:rPr sz="1600" dirty="0"/>
              <a:t> </a:t>
            </a:r>
            <a:r>
              <a:rPr sz="1600" dirty="0" err="1"/>
              <a:t>والدروس</a:t>
            </a:r>
            <a:r>
              <a:rPr sz="1600" dirty="0"/>
              <a:t> </a:t>
            </a:r>
            <a:r>
              <a:rPr sz="1600" dirty="0" err="1"/>
              <a:t>الرسمية</a:t>
            </a:r>
            <a:r>
              <a:rPr sz="1600" dirty="0"/>
              <a:t> </a:t>
            </a:r>
            <a:r>
              <a:rPr sz="1600" dirty="0" err="1"/>
              <a:t>والأسئلة</a:t>
            </a:r>
            <a:r>
              <a:rPr sz="1600" dirty="0"/>
              <a:t> </a:t>
            </a:r>
            <a:r>
              <a:rPr sz="1600" dirty="0" err="1"/>
              <a:t>بنجاح</a:t>
            </a:r>
            <a:r>
              <a:rPr sz="1600" dirty="0"/>
              <a:t> 100%.</a:t>
            </a:r>
          </a:p>
          <a:p>
            <a:pPr algn="r" rtl="1">
              <a:spcBef>
                <a:spcPts val="120"/>
              </a:spcBef>
              <a:spcAft>
                <a:spcPts val="100"/>
              </a:spcAft>
              <a:defRPr sz="105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اختبارات</a:t>
            </a:r>
            <a:r>
              <a:rPr sz="1600" dirty="0"/>
              <a:t> </a:t>
            </a:r>
            <a:r>
              <a:rPr sz="1600" dirty="0" err="1"/>
              <a:t>الاختبارات</a:t>
            </a:r>
            <a:r>
              <a:rPr sz="1600" dirty="0"/>
              <a:t> </a:t>
            </a:r>
            <a:r>
              <a:rPr sz="1600" dirty="0" err="1"/>
              <a:t>والسيناريوهات</a:t>
            </a:r>
            <a:r>
              <a:rPr sz="1600" dirty="0"/>
              <a:t> (Quiz &amp; Scenarios):</a:t>
            </a:r>
          </a:p>
          <a:p>
            <a:pPr algn="r" rtl="1">
              <a:spcBef>
                <a:spcPts val="120"/>
              </a:spcBef>
              <a:spcAft>
                <a:spcPts val="5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33 </a:t>
            </a:r>
            <a:r>
              <a:rPr sz="1600" dirty="0" err="1"/>
              <a:t>اختباراً</a:t>
            </a:r>
            <a:r>
              <a:rPr sz="1600" dirty="0"/>
              <a:t> </a:t>
            </a:r>
            <a:r>
              <a:rPr sz="1600" dirty="0" err="1"/>
              <a:t>لحظر</a:t>
            </a:r>
            <a:r>
              <a:rPr sz="1600" dirty="0"/>
              <a:t> </a:t>
            </a:r>
            <a:r>
              <a:rPr sz="1600" dirty="0" err="1"/>
              <a:t>تسريب</a:t>
            </a:r>
            <a:r>
              <a:rPr sz="1600" dirty="0"/>
              <a:t> </a:t>
            </a:r>
            <a:r>
              <a:rPr sz="1600" dirty="0" err="1"/>
              <a:t>الإجابات</a:t>
            </a:r>
            <a:r>
              <a:rPr sz="1600" dirty="0"/>
              <a:t> </a:t>
            </a:r>
            <a:r>
              <a:rPr sz="1600" dirty="0" err="1"/>
              <a:t>وتدفق</a:t>
            </a:r>
            <a:r>
              <a:rPr sz="1600" dirty="0"/>
              <a:t> </a:t>
            </a:r>
            <a:r>
              <a:rPr sz="1600" dirty="0" err="1"/>
              <a:t>المراحل</a:t>
            </a:r>
            <a:r>
              <a:rPr sz="1600" dirty="0"/>
              <a:t> </a:t>
            </a:r>
            <a:r>
              <a:rPr sz="1600" dirty="0" err="1"/>
              <a:t>بنجاح</a:t>
            </a:r>
            <a:r>
              <a:rPr sz="1600" dirty="0"/>
              <a:t> 100%.</a:t>
            </a:r>
          </a:p>
          <a:p>
            <a:pPr algn="r" rtl="1">
              <a:spcBef>
                <a:spcPts val="120"/>
              </a:spcBef>
              <a:spcAft>
                <a:spcPts val="100"/>
              </a:spcAft>
              <a:defRPr sz="105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اختبارات</a:t>
            </a:r>
            <a:r>
              <a:rPr sz="1600" dirty="0"/>
              <a:t> </a:t>
            </a:r>
            <a:r>
              <a:rPr sz="1600" dirty="0" err="1"/>
              <a:t>التقييم</a:t>
            </a:r>
            <a:r>
              <a:rPr sz="1600" dirty="0"/>
              <a:t> </a:t>
            </a:r>
            <a:r>
              <a:rPr sz="1600" dirty="0" err="1"/>
              <a:t>والتوصيات</a:t>
            </a:r>
            <a:r>
              <a:rPr sz="1600" dirty="0"/>
              <a:t> </a:t>
            </a:r>
            <a:r>
              <a:rPr sz="1600" dirty="0" err="1"/>
              <a:t>والرحلة</a:t>
            </a:r>
            <a:r>
              <a:rPr sz="1600" dirty="0"/>
              <a:t> </a:t>
            </a:r>
            <a:r>
              <a:rPr sz="1600" dirty="0" err="1"/>
              <a:t>الشاملة</a:t>
            </a:r>
            <a:r>
              <a:rPr sz="1600" dirty="0"/>
              <a:t>:</a:t>
            </a:r>
          </a:p>
          <a:p>
            <a:pPr algn="r" rtl="1">
              <a:spcBef>
                <a:spcPts val="120"/>
              </a:spcBef>
              <a:spcAft>
                <a:spcPts val="500"/>
              </a:spcAft>
              <a:defRPr sz="1000">
                <a:solidFill>
                  <a:srgbClr val="E2E8F0"/>
                </a:solidFill>
                <a:latin typeface="Cairo"/>
              </a:defRPr>
            </a:pPr>
            <a:r>
              <a:rPr sz="1600" dirty="0"/>
              <a:t>74 </a:t>
            </a:r>
            <a:r>
              <a:rPr sz="1600" dirty="0" err="1"/>
              <a:t>اختباراً</a:t>
            </a:r>
            <a:r>
              <a:rPr sz="1600" dirty="0"/>
              <a:t> </a:t>
            </a:r>
            <a:r>
              <a:rPr sz="1600" dirty="0" err="1"/>
              <a:t>للتقييم</a:t>
            </a:r>
            <a:r>
              <a:rPr sz="1600" dirty="0"/>
              <a:t> </a:t>
            </a:r>
            <a:r>
              <a:rPr sz="1600" dirty="0" err="1"/>
              <a:t>القبلي</a:t>
            </a:r>
            <a:r>
              <a:rPr sz="1600" dirty="0"/>
              <a:t> </a:t>
            </a:r>
            <a:r>
              <a:rPr sz="1600" dirty="0" err="1"/>
              <a:t>والبعدي</a:t>
            </a:r>
            <a:r>
              <a:rPr sz="1600" dirty="0"/>
              <a:t> </a:t>
            </a:r>
            <a:r>
              <a:rPr sz="1600" dirty="0" err="1"/>
              <a:t>ولوحة</a:t>
            </a:r>
            <a:r>
              <a:rPr sz="1600" dirty="0"/>
              <a:t> </a:t>
            </a:r>
            <a:r>
              <a:rPr sz="1600" dirty="0" err="1"/>
              <a:t>الإدارة</a:t>
            </a:r>
            <a:r>
              <a:rPr sz="1600" dirty="0"/>
              <a:t> </a:t>
            </a:r>
            <a:r>
              <a:rPr sz="1600" dirty="0" err="1"/>
              <a:t>والرحلة</a:t>
            </a:r>
            <a:r>
              <a:rPr sz="1600" dirty="0"/>
              <a:t> </a:t>
            </a:r>
            <a:r>
              <a:rPr sz="1600" dirty="0" err="1"/>
              <a:t>الكاملة</a:t>
            </a:r>
            <a:r>
              <a:rPr sz="1600" dirty="0"/>
              <a:t>.</a:t>
            </a:r>
          </a:p>
          <a:p>
            <a:pPr algn="r" rtl="1">
              <a:spcBef>
                <a:spcPts val="120"/>
              </a:spcBef>
              <a:defRPr sz="1100" b="1">
                <a:solidFill>
                  <a:srgbClr val="34D399"/>
                </a:solidFill>
                <a:latin typeface="Cairo"/>
              </a:defRPr>
            </a:pPr>
            <a:r>
              <a:rPr sz="1600" dirty="0"/>
              <a:t>🎯 </a:t>
            </a:r>
            <a:r>
              <a:rPr sz="1600" dirty="0" err="1"/>
              <a:t>النتيجة</a:t>
            </a:r>
            <a:r>
              <a:rPr sz="1600" dirty="0"/>
              <a:t> </a:t>
            </a:r>
            <a:r>
              <a:rPr sz="1600" dirty="0" err="1"/>
              <a:t>الإجمالية</a:t>
            </a:r>
            <a:r>
              <a:rPr sz="1600" dirty="0"/>
              <a:t> </a:t>
            </a:r>
            <a:r>
              <a:rPr sz="1600" dirty="0" err="1"/>
              <a:t>الموثقة</a:t>
            </a:r>
            <a:r>
              <a:rPr sz="1600" dirty="0"/>
              <a:t>: 157 / 157 </a:t>
            </a:r>
            <a:r>
              <a:rPr sz="1600" dirty="0" err="1"/>
              <a:t>ناجحاً</a:t>
            </a:r>
            <a:r>
              <a:rPr sz="1600" dirty="0"/>
              <a:t> </a:t>
            </a:r>
            <a:r>
              <a:rPr sz="1600" dirty="0" err="1"/>
              <a:t>بنسبة</a:t>
            </a:r>
            <a:r>
              <a:rPr sz="1600" dirty="0"/>
              <a:t> 100% (157 Passed)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التحديات</a:t>
            </a:r>
            <a:r>
              <a:rPr sz="2400" dirty="0"/>
              <a:t> </a:t>
            </a:r>
            <a:r>
              <a:rPr sz="2400" dirty="0" err="1"/>
              <a:t>الواقعية</a:t>
            </a:r>
            <a:r>
              <a:rPr sz="2400" dirty="0"/>
              <a:t> </a:t>
            </a:r>
            <a:r>
              <a:rPr sz="2400" dirty="0" err="1"/>
              <a:t>أثناء</a:t>
            </a:r>
            <a:r>
              <a:rPr sz="2400" dirty="0"/>
              <a:t> </a:t>
            </a:r>
            <a:r>
              <a:rPr sz="2400" dirty="0" err="1"/>
              <a:t>التطوير</a:t>
            </a:r>
            <a:r>
              <a:rPr sz="2400" dirty="0"/>
              <a:t> </a:t>
            </a:r>
            <a:r>
              <a:rPr sz="2400" dirty="0" err="1"/>
              <a:t>والحلول</a:t>
            </a:r>
            <a:r>
              <a:rPr sz="2400" dirty="0"/>
              <a:t> </a:t>
            </a:r>
            <a:r>
              <a:rPr sz="2400" dirty="0" err="1"/>
              <a:t>الهندسية</a:t>
            </a:r>
            <a:r>
              <a:rPr sz="2400" dirty="0"/>
              <a:t> </a:t>
            </a:r>
            <a:r>
              <a:rPr sz="2400" dirty="0" err="1"/>
              <a:t>المطبقة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1155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292840" y="1737360"/>
            <a:ext cx="73152" cy="9326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1">
                <a:solidFill>
                  <a:srgbClr val="14B8A6"/>
                </a:solidFill>
                <a:latin typeface="Cairo"/>
              </a:defRPr>
            </a:pPr>
            <a:r>
              <a:rPr lang="ar-SA" sz="1600" dirty="0"/>
              <a:t>1. </a:t>
            </a:r>
            <a:r>
              <a:rPr sz="1600" dirty="0"/>
              <a:t> </a:t>
            </a:r>
            <a:r>
              <a:rPr sz="1600" dirty="0" err="1"/>
              <a:t>منع</a:t>
            </a:r>
            <a:r>
              <a:rPr sz="1600" dirty="0"/>
              <a:t> </a:t>
            </a:r>
            <a:r>
              <a:rPr sz="1600" dirty="0" err="1"/>
              <a:t>ثغرات</a:t>
            </a:r>
            <a:r>
              <a:rPr sz="1600" dirty="0"/>
              <a:t> IDOR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حماية</a:t>
            </a:r>
            <a:r>
              <a:rPr sz="1600" dirty="0"/>
              <a:t> </a:t>
            </a:r>
            <a:r>
              <a:rPr sz="1600" dirty="0" err="1"/>
              <a:t>الدروس</a:t>
            </a:r>
            <a:r>
              <a:rPr sz="1600" dirty="0"/>
              <a:t> </a:t>
            </a:r>
            <a:r>
              <a:rPr sz="1600" dirty="0" err="1"/>
              <a:t>الرسمية</a:t>
            </a:r>
            <a:endParaRPr sz="1600" dirty="0"/>
          </a:p>
          <a:p>
            <a:pPr algn="r" rtl="1"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التحدي</a:t>
            </a:r>
            <a:r>
              <a:rPr sz="1600" dirty="0"/>
              <a:t>: </a:t>
            </a:r>
            <a:r>
              <a:rPr sz="1600" dirty="0" err="1"/>
              <a:t>تمكين</a:t>
            </a:r>
            <a:r>
              <a:rPr sz="1600" dirty="0"/>
              <a:t> </a:t>
            </a:r>
            <a:r>
              <a:rPr sz="1600" dirty="0" err="1"/>
              <a:t>المدرس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إنشاء</a:t>
            </a:r>
            <a:r>
              <a:rPr sz="1600" dirty="0"/>
              <a:t> </a:t>
            </a:r>
            <a:r>
              <a:rPr sz="1600" dirty="0" err="1"/>
              <a:t>محتواه</a:t>
            </a:r>
            <a:r>
              <a:rPr sz="1600" dirty="0"/>
              <a:t> </a:t>
            </a:r>
            <a:r>
              <a:rPr sz="1600" dirty="0" err="1"/>
              <a:t>بحرية</a:t>
            </a:r>
            <a:r>
              <a:rPr sz="1600" dirty="0"/>
              <a:t>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منع</a:t>
            </a:r>
            <a:r>
              <a:rPr sz="1600" dirty="0"/>
              <a:t> </a:t>
            </a:r>
            <a:r>
              <a:rPr sz="1600" dirty="0" err="1"/>
              <a:t>التعدي</a:t>
            </a:r>
            <a:r>
              <a:rPr sz="1600" dirty="0"/>
              <a:t> </a:t>
            </a:r>
            <a:r>
              <a:rPr sz="1600" dirty="0" err="1"/>
              <a:t>على</a:t>
            </a:r>
            <a:r>
              <a:rPr sz="1600" dirty="0"/>
              <a:t> </a:t>
            </a:r>
            <a:r>
              <a:rPr sz="1600" dirty="0" err="1"/>
              <a:t>دروس</a:t>
            </a:r>
            <a:r>
              <a:rPr sz="1600" dirty="0"/>
              <a:t> </a:t>
            </a:r>
            <a:r>
              <a:rPr sz="1600" dirty="0" err="1"/>
              <a:t>زملائه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حذف</a:t>
            </a:r>
            <a:r>
              <a:rPr sz="1600" dirty="0"/>
              <a:t> </a:t>
            </a:r>
            <a:r>
              <a:rPr sz="1600" dirty="0" err="1"/>
              <a:t>الدروس</a:t>
            </a:r>
            <a:r>
              <a:rPr sz="1600" dirty="0"/>
              <a:t> </a:t>
            </a:r>
            <a:r>
              <a:rPr sz="1600" dirty="0" err="1"/>
              <a:t>الرسمية</a:t>
            </a:r>
            <a:r>
              <a:rPr sz="1600" dirty="0"/>
              <a:t> </a:t>
            </a:r>
            <a:r>
              <a:rPr sz="1600" dirty="0" err="1"/>
              <a:t>المعتمدة</a:t>
            </a:r>
            <a:r>
              <a:rPr sz="1600" dirty="0"/>
              <a:t>.</a:t>
            </a:r>
          </a:p>
          <a:p>
            <a:pPr algn="r" rtl="1">
              <a:defRPr sz="1000" b="1">
                <a:solidFill>
                  <a:srgbClr val="34D399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الحل</a:t>
            </a:r>
            <a:r>
              <a:rPr sz="1600" dirty="0"/>
              <a:t> </a:t>
            </a:r>
            <a:r>
              <a:rPr sz="1600" dirty="0" err="1"/>
              <a:t>المطبق</a:t>
            </a:r>
            <a:r>
              <a:rPr sz="1600" dirty="0"/>
              <a:t>: </a:t>
            </a:r>
            <a:r>
              <a:rPr sz="1600" dirty="0" err="1"/>
              <a:t>ربط</a:t>
            </a:r>
            <a:r>
              <a:rPr sz="1600" dirty="0"/>
              <a:t> </a:t>
            </a:r>
            <a:r>
              <a:rPr sz="1600" dirty="0" err="1"/>
              <a:t>الكيانات</a:t>
            </a:r>
            <a:r>
              <a:rPr sz="1600" dirty="0"/>
              <a:t> بـ </a:t>
            </a:r>
            <a:r>
              <a:rPr sz="1600" dirty="0" err="1"/>
              <a:t>ownerId</a:t>
            </a:r>
            <a:r>
              <a:rPr sz="1600" dirty="0"/>
              <a:t> </a:t>
            </a:r>
            <a:r>
              <a:rPr sz="1600" dirty="0" err="1"/>
              <a:t>وإنفاذ</a:t>
            </a:r>
            <a:r>
              <a:rPr sz="1600" dirty="0"/>
              <a:t> </a:t>
            </a:r>
            <a:r>
              <a:rPr sz="1600" dirty="0" err="1"/>
              <a:t>التحقق</a:t>
            </a:r>
            <a:r>
              <a:rPr sz="1600" dirty="0"/>
              <a:t> </a:t>
            </a:r>
            <a:r>
              <a:rPr sz="1600" dirty="0" err="1"/>
              <a:t>عبر</a:t>
            </a:r>
            <a:r>
              <a:rPr sz="1600" dirty="0"/>
              <a:t> </a:t>
            </a:r>
            <a:r>
              <a:rPr sz="1600" dirty="0" err="1"/>
              <a:t>instructorProcedure</a:t>
            </a:r>
            <a:r>
              <a:rPr sz="1600" dirty="0"/>
              <a:t>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فرض</a:t>
            </a:r>
            <a:r>
              <a:rPr sz="1600" dirty="0"/>
              <a:t> </a:t>
            </a:r>
            <a:r>
              <a:rPr sz="1600" dirty="0" err="1"/>
              <a:t>حصانة</a:t>
            </a:r>
            <a:r>
              <a:rPr sz="1600" dirty="0"/>
              <a:t> </a:t>
            </a:r>
            <a:r>
              <a:rPr sz="1600" dirty="0" err="1"/>
              <a:t>برمجية</a:t>
            </a:r>
            <a:r>
              <a:rPr sz="1600" dirty="0"/>
              <a:t> </a:t>
            </a:r>
            <a:r>
              <a:rPr sz="1600" dirty="0" err="1"/>
              <a:t>صلبة</a:t>
            </a:r>
            <a:r>
              <a:rPr sz="1600" dirty="0"/>
              <a:t> </a:t>
            </a:r>
            <a:r>
              <a:rPr sz="1600" dirty="0" err="1"/>
              <a:t>للدروس</a:t>
            </a:r>
            <a:r>
              <a:rPr sz="1600" dirty="0"/>
              <a:t> </a:t>
            </a:r>
            <a:r>
              <a:rPr sz="1600" dirty="0" err="1"/>
              <a:t>السبعة</a:t>
            </a:r>
            <a:r>
              <a:rPr sz="16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728655" cy="11155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92840" y="2971800"/>
            <a:ext cx="73152" cy="9326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35224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1">
                <a:solidFill>
                  <a:srgbClr val="38BDF8"/>
                </a:solidFill>
                <a:latin typeface="Cairo"/>
              </a:defRPr>
            </a:pPr>
            <a:r>
              <a:rPr lang="ar-SA" sz="1600" dirty="0"/>
              <a:t>2.  </a:t>
            </a:r>
            <a:r>
              <a:rPr sz="1600" dirty="0" err="1"/>
              <a:t>فحص</a:t>
            </a:r>
            <a:r>
              <a:rPr sz="1600" dirty="0"/>
              <a:t> </a:t>
            </a:r>
            <a:r>
              <a:rPr sz="1600" dirty="0" err="1"/>
              <a:t>الروابط</a:t>
            </a:r>
            <a:r>
              <a:rPr sz="1600" dirty="0"/>
              <a:t> </a:t>
            </a:r>
            <a:r>
              <a:rPr sz="1600" dirty="0" err="1"/>
              <a:t>المشبوهة</a:t>
            </a:r>
            <a:r>
              <a:rPr sz="1600" dirty="0"/>
              <a:t> </a:t>
            </a:r>
            <a:r>
              <a:rPr sz="1600" dirty="0" err="1"/>
              <a:t>بعزل</a:t>
            </a:r>
            <a:r>
              <a:rPr sz="1600" dirty="0"/>
              <a:t> </a:t>
            </a:r>
            <a:r>
              <a:rPr sz="1600" dirty="0" err="1"/>
              <a:t>تام</a:t>
            </a:r>
            <a:endParaRPr sz="1600" dirty="0"/>
          </a:p>
          <a:p>
            <a:pPr algn="r" rtl="1"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التحدي</a:t>
            </a:r>
            <a:r>
              <a:rPr sz="1600" dirty="0"/>
              <a:t>: </a:t>
            </a:r>
            <a:r>
              <a:rPr sz="1600" dirty="0" err="1"/>
              <a:t>تحليل</a:t>
            </a:r>
            <a:r>
              <a:rPr sz="1600" dirty="0"/>
              <a:t> </a:t>
            </a:r>
            <a:r>
              <a:rPr sz="1600" dirty="0" err="1"/>
              <a:t>النطاقات</a:t>
            </a:r>
            <a:r>
              <a:rPr sz="1600" dirty="0"/>
              <a:t> </a:t>
            </a:r>
            <a:r>
              <a:rPr sz="1600" dirty="0" err="1"/>
              <a:t>المشبوهة</a:t>
            </a:r>
            <a:r>
              <a:rPr sz="1600" dirty="0"/>
              <a:t> </a:t>
            </a:r>
            <a:r>
              <a:rPr sz="1600" dirty="0" err="1"/>
              <a:t>دون</a:t>
            </a:r>
            <a:r>
              <a:rPr sz="1600" dirty="0"/>
              <a:t> </a:t>
            </a:r>
            <a:r>
              <a:rPr sz="1600" dirty="0" err="1"/>
              <a:t>أن</a:t>
            </a:r>
            <a:r>
              <a:rPr sz="1600" dirty="0"/>
              <a:t> </a:t>
            </a:r>
            <a:r>
              <a:rPr sz="1600" dirty="0" err="1"/>
              <a:t>يقوم</a:t>
            </a:r>
            <a:r>
              <a:rPr sz="1600" dirty="0"/>
              <a:t> </a:t>
            </a:r>
            <a:r>
              <a:rPr sz="1600" dirty="0" err="1"/>
              <a:t>الخادم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المتصفح</a:t>
            </a:r>
            <a:r>
              <a:rPr sz="1600" dirty="0"/>
              <a:t> </a:t>
            </a:r>
            <a:r>
              <a:rPr sz="1600" dirty="0" err="1"/>
              <a:t>بزيارة</a:t>
            </a:r>
            <a:r>
              <a:rPr sz="1600" dirty="0"/>
              <a:t> </a:t>
            </a:r>
            <a:r>
              <a:rPr sz="1600" dirty="0" err="1"/>
              <a:t>الرابط</a:t>
            </a:r>
            <a:r>
              <a:rPr sz="1600" dirty="0"/>
              <a:t> </a:t>
            </a:r>
            <a:r>
              <a:rPr sz="1600" dirty="0" err="1"/>
              <a:t>الفعلي</a:t>
            </a:r>
            <a:r>
              <a:rPr sz="1600" dirty="0"/>
              <a:t> </a:t>
            </a:r>
            <a:r>
              <a:rPr sz="1600" dirty="0" err="1"/>
              <a:t>وتعريض</a:t>
            </a:r>
            <a:r>
              <a:rPr sz="1600" dirty="0"/>
              <a:t> </a:t>
            </a:r>
            <a:r>
              <a:rPr sz="1600" dirty="0" err="1"/>
              <a:t>النظام</a:t>
            </a:r>
            <a:r>
              <a:rPr sz="1600" dirty="0"/>
              <a:t> </a:t>
            </a:r>
            <a:r>
              <a:rPr sz="1600" dirty="0" err="1"/>
              <a:t>للاختراق</a:t>
            </a:r>
            <a:r>
              <a:rPr sz="1600" dirty="0"/>
              <a:t>.</a:t>
            </a:r>
          </a:p>
          <a:p>
            <a:pPr algn="r" rtl="1">
              <a:defRPr sz="1000" b="1">
                <a:solidFill>
                  <a:srgbClr val="34D399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الحل</a:t>
            </a:r>
            <a:r>
              <a:rPr sz="1600" dirty="0"/>
              <a:t> </a:t>
            </a:r>
            <a:r>
              <a:rPr sz="1600" dirty="0" err="1"/>
              <a:t>المطبق</a:t>
            </a:r>
            <a:r>
              <a:rPr sz="1600" dirty="0"/>
              <a:t>: </a:t>
            </a:r>
            <a:r>
              <a:rPr sz="1600" dirty="0" err="1"/>
              <a:t>بناء</a:t>
            </a:r>
            <a:r>
              <a:rPr sz="1600" dirty="0"/>
              <a:t> </a:t>
            </a:r>
            <a:r>
              <a:rPr sz="1600" dirty="0" err="1"/>
              <a:t>خوارزمية</a:t>
            </a:r>
            <a:r>
              <a:rPr sz="1600" dirty="0"/>
              <a:t> </a:t>
            </a:r>
            <a:r>
              <a:rPr sz="1600" dirty="0" err="1"/>
              <a:t>استدلالية</a:t>
            </a:r>
            <a:r>
              <a:rPr sz="1600" dirty="0"/>
              <a:t> </a:t>
            </a:r>
            <a:r>
              <a:rPr sz="1600" dirty="0" err="1"/>
              <a:t>محلية</a:t>
            </a:r>
            <a:r>
              <a:rPr sz="1600" dirty="0"/>
              <a:t> (Heuristic Domain Parsing) </a:t>
            </a:r>
            <a:r>
              <a:rPr sz="1600" dirty="0" err="1"/>
              <a:t>تفكك</a:t>
            </a:r>
            <a:r>
              <a:rPr sz="1600" dirty="0"/>
              <a:t> </a:t>
            </a:r>
            <a:r>
              <a:rPr sz="1600" dirty="0" err="1"/>
              <a:t>عناصر</a:t>
            </a:r>
            <a:r>
              <a:rPr sz="1600" dirty="0"/>
              <a:t> </a:t>
            </a:r>
            <a:r>
              <a:rPr sz="1600" dirty="0" err="1"/>
              <a:t>الرابط</a:t>
            </a:r>
            <a:r>
              <a:rPr sz="1600" dirty="0"/>
              <a:t> </a:t>
            </a:r>
            <a:r>
              <a:rPr sz="1600" dirty="0" err="1"/>
              <a:t>دون</a:t>
            </a:r>
            <a:r>
              <a:rPr sz="1600" dirty="0"/>
              <a:t> </a:t>
            </a:r>
            <a:r>
              <a:rPr sz="1600" dirty="0" err="1"/>
              <a:t>أي</a:t>
            </a:r>
            <a:r>
              <a:rPr sz="1600" dirty="0"/>
              <a:t> </a:t>
            </a:r>
            <a:r>
              <a:rPr sz="1600" dirty="0" err="1"/>
              <a:t>اتصال</a:t>
            </a:r>
            <a:r>
              <a:rPr sz="1600" dirty="0"/>
              <a:t> </a:t>
            </a:r>
            <a:r>
              <a:rPr sz="1600" dirty="0" err="1"/>
              <a:t>شبكي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728655" cy="11155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292840" y="4206240"/>
            <a:ext cx="73152" cy="9326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169664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1">
                <a:solidFill>
                  <a:srgbClr val="FB923C"/>
                </a:solidFill>
                <a:latin typeface="Cairo"/>
              </a:defRPr>
            </a:pPr>
            <a:r>
              <a:rPr lang="ar-SA" sz="1600" dirty="0"/>
              <a:t>3.  </a:t>
            </a:r>
            <a:r>
              <a:rPr sz="1600" dirty="0" err="1"/>
              <a:t>التوافق</a:t>
            </a:r>
            <a:r>
              <a:rPr sz="1600" dirty="0"/>
              <a:t> </a:t>
            </a:r>
            <a:r>
              <a:rPr sz="1600" dirty="0" err="1"/>
              <a:t>مع</a:t>
            </a:r>
            <a:r>
              <a:rPr sz="1600" dirty="0"/>
              <a:t> </a:t>
            </a:r>
            <a:r>
              <a:rPr sz="1600" dirty="0" err="1"/>
              <a:t>قيود</a:t>
            </a:r>
            <a:r>
              <a:rPr sz="1600" dirty="0"/>
              <a:t> </a:t>
            </a:r>
            <a:r>
              <a:rPr sz="1600" dirty="0" err="1"/>
              <a:t>سياسة</a:t>
            </a:r>
            <a:r>
              <a:rPr sz="1600" dirty="0"/>
              <a:t> </a:t>
            </a:r>
            <a:r>
              <a:rPr sz="1600" dirty="0" err="1"/>
              <a:t>أمان</a:t>
            </a:r>
            <a:r>
              <a:rPr sz="1600" dirty="0"/>
              <a:t> </a:t>
            </a:r>
            <a:r>
              <a:rPr sz="1600" dirty="0" err="1"/>
              <a:t>المحتوى</a:t>
            </a:r>
            <a:r>
              <a:rPr sz="1600" dirty="0"/>
              <a:t> (CSP)</a:t>
            </a:r>
          </a:p>
          <a:p>
            <a:pPr algn="r" rtl="1"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التحدي</a:t>
            </a:r>
            <a:r>
              <a:rPr sz="1600" dirty="0"/>
              <a:t>: </a:t>
            </a:r>
            <a:r>
              <a:rPr sz="1600" dirty="0" err="1"/>
              <a:t>تطبيق</a:t>
            </a:r>
            <a:r>
              <a:rPr sz="1600" dirty="0"/>
              <a:t> CSP </a:t>
            </a:r>
            <a:r>
              <a:rPr sz="1600" dirty="0" err="1"/>
              <a:t>المشدد</a:t>
            </a:r>
            <a:r>
              <a:rPr sz="1600" dirty="0"/>
              <a:t> </a:t>
            </a:r>
            <a:r>
              <a:rPr sz="1600" dirty="0" err="1"/>
              <a:t>تسبب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حظر</a:t>
            </a:r>
            <a:r>
              <a:rPr sz="1600" dirty="0"/>
              <a:t> </a:t>
            </a:r>
            <a:r>
              <a:rPr sz="1600" dirty="0" err="1"/>
              <a:t>تحميل</a:t>
            </a:r>
            <a:r>
              <a:rPr sz="1600" dirty="0"/>
              <a:t> </a:t>
            </a:r>
            <a:r>
              <a:rPr sz="1600" dirty="0" err="1"/>
              <a:t>الخطوط</a:t>
            </a:r>
            <a:r>
              <a:rPr sz="1600" dirty="0"/>
              <a:t> </a:t>
            </a:r>
            <a:r>
              <a:rPr sz="1600" dirty="0" err="1"/>
              <a:t>والمصادر</a:t>
            </a:r>
            <a:r>
              <a:rPr sz="1600" dirty="0"/>
              <a:t> </a:t>
            </a:r>
            <a:r>
              <a:rPr sz="1600" dirty="0" err="1"/>
              <a:t>الخارجية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المتصفح</a:t>
            </a:r>
            <a:r>
              <a:rPr sz="1600" dirty="0"/>
              <a:t>.</a:t>
            </a:r>
          </a:p>
          <a:p>
            <a:pPr algn="r" rtl="1">
              <a:defRPr sz="1000" b="1">
                <a:solidFill>
                  <a:srgbClr val="34D399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الحل</a:t>
            </a:r>
            <a:r>
              <a:rPr sz="1600" dirty="0"/>
              <a:t> </a:t>
            </a:r>
            <a:r>
              <a:rPr sz="1600" dirty="0" err="1"/>
              <a:t>المطبق</a:t>
            </a:r>
            <a:r>
              <a:rPr sz="1600" dirty="0"/>
              <a:t>: </a:t>
            </a:r>
            <a:r>
              <a:rPr sz="1600" dirty="0" err="1"/>
              <a:t>هندسة</a:t>
            </a:r>
            <a:r>
              <a:rPr sz="1600" dirty="0"/>
              <a:t> </a:t>
            </a:r>
            <a:r>
              <a:rPr sz="1600" dirty="0" err="1"/>
              <a:t>رؤوس</a:t>
            </a:r>
            <a:r>
              <a:rPr sz="1600" dirty="0"/>
              <a:t> </a:t>
            </a:r>
            <a:r>
              <a:rPr sz="1600" dirty="0" err="1"/>
              <a:t>أمان</a:t>
            </a:r>
            <a:r>
              <a:rPr sz="1600" dirty="0"/>
              <a:t> </a:t>
            </a:r>
            <a:r>
              <a:rPr sz="1600" dirty="0" err="1"/>
              <a:t>المحتوى</a:t>
            </a:r>
            <a:r>
              <a:rPr sz="1600" dirty="0"/>
              <a:t> </a:t>
            </a:r>
            <a:r>
              <a:rPr sz="1600" dirty="0" err="1"/>
              <a:t>بدقة</a:t>
            </a:r>
            <a:r>
              <a:rPr sz="1600" dirty="0"/>
              <a:t> </a:t>
            </a:r>
            <a:r>
              <a:rPr sz="1600" dirty="0" err="1"/>
              <a:t>عالية</a:t>
            </a:r>
            <a:r>
              <a:rPr sz="1600" dirty="0"/>
              <a:t> </a:t>
            </a:r>
            <a:r>
              <a:rPr sz="1600" dirty="0" err="1"/>
              <a:t>وحصر</a:t>
            </a:r>
            <a:r>
              <a:rPr sz="1600" dirty="0"/>
              <a:t> </a:t>
            </a:r>
            <a:r>
              <a:rPr sz="1600" dirty="0" err="1"/>
              <a:t>النطاقات</a:t>
            </a:r>
            <a:r>
              <a:rPr sz="1600" dirty="0"/>
              <a:t> </a:t>
            </a:r>
            <a:r>
              <a:rPr sz="1600" dirty="0" err="1"/>
              <a:t>المصرحة</a:t>
            </a:r>
            <a:r>
              <a:rPr sz="1600" dirty="0"/>
              <a:t> </a:t>
            </a:r>
            <a:r>
              <a:rPr sz="1600" dirty="0" err="1"/>
              <a:t>لخطوط</a:t>
            </a:r>
            <a:r>
              <a:rPr sz="1600" dirty="0"/>
              <a:t> Google </a:t>
            </a:r>
            <a:r>
              <a:rPr sz="1600" dirty="0" err="1"/>
              <a:t>دون</a:t>
            </a:r>
            <a:r>
              <a:rPr sz="1600" dirty="0"/>
              <a:t> </a:t>
            </a:r>
            <a:r>
              <a:rPr sz="1600" dirty="0" err="1"/>
              <a:t>فتح</a:t>
            </a:r>
            <a:r>
              <a:rPr sz="1600" dirty="0"/>
              <a:t> </a:t>
            </a:r>
            <a:r>
              <a:rPr sz="1600" dirty="0" err="1"/>
              <a:t>أي</a:t>
            </a:r>
            <a:r>
              <a:rPr sz="1600" dirty="0"/>
              <a:t> </a:t>
            </a:r>
            <a:r>
              <a:rPr sz="1600" dirty="0" err="1"/>
              <a:t>ثغرة</a:t>
            </a:r>
            <a:r>
              <a:rPr sz="16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728655" cy="11155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92840" y="5440680"/>
            <a:ext cx="73152" cy="9326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404104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50" b="1">
                <a:solidFill>
                  <a:srgbClr val="A78BFA"/>
                </a:solidFill>
                <a:latin typeface="Cairo"/>
              </a:defRPr>
            </a:pPr>
            <a:r>
              <a:rPr lang="ar-SA" sz="1600" dirty="0"/>
              <a:t>4.  </a:t>
            </a:r>
            <a:r>
              <a:rPr sz="1600" dirty="0" err="1"/>
              <a:t>منع</a:t>
            </a:r>
            <a:r>
              <a:rPr sz="1600" dirty="0"/>
              <a:t> </a:t>
            </a:r>
            <a:r>
              <a:rPr sz="1600" dirty="0" err="1"/>
              <a:t>كشف</a:t>
            </a:r>
            <a:r>
              <a:rPr sz="1600" dirty="0"/>
              <a:t> </a:t>
            </a:r>
            <a:r>
              <a:rPr sz="1600" dirty="0" err="1"/>
              <a:t>خطوات</a:t>
            </a:r>
            <a:r>
              <a:rPr sz="1600" dirty="0"/>
              <a:t> </a:t>
            </a:r>
            <a:r>
              <a:rPr sz="1600" dirty="0" err="1"/>
              <a:t>السيناريو</a:t>
            </a:r>
            <a:r>
              <a:rPr sz="1600" dirty="0"/>
              <a:t> </a:t>
            </a:r>
            <a:r>
              <a:rPr sz="1600" dirty="0" err="1"/>
              <a:t>مسبقاً</a:t>
            </a:r>
            <a:endParaRPr sz="1600" dirty="0"/>
          </a:p>
          <a:p>
            <a:pPr algn="r" rtl="1"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التحدي</a:t>
            </a:r>
            <a:r>
              <a:rPr sz="1600" dirty="0"/>
              <a:t>: </a:t>
            </a:r>
            <a:r>
              <a:rPr sz="1600" dirty="0" err="1"/>
              <a:t>احتمالية</a:t>
            </a:r>
            <a:r>
              <a:rPr sz="1600" dirty="0"/>
              <a:t> </a:t>
            </a:r>
            <a:r>
              <a:rPr sz="1600" dirty="0" err="1"/>
              <a:t>قيام</a:t>
            </a:r>
            <a:r>
              <a:rPr sz="1600" dirty="0"/>
              <a:t> </a:t>
            </a:r>
            <a:r>
              <a:rPr sz="1600" dirty="0" err="1"/>
              <a:t>المتعلم</a:t>
            </a:r>
            <a:r>
              <a:rPr sz="1600" dirty="0"/>
              <a:t> </a:t>
            </a:r>
            <a:r>
              <a:rPr sz="1600" dirty="0" err="1"/>
              <a:t>باستباق</a:t>
            </a:r>
            <a:r>
              <a:rPr sz="1600" dirty="0"/>
              <a:t> </a:t>
            </a:r>
            <a:r>
              <a:rPr sz="1600" dirty="0" err="1"/>
              <a:t>الحل</a:t>
            </a:r>
            <a:r>
              <a:rPr sz="1600" dirty="0"/>
              <a:t> </a:t>
            </a:r>
            <a:r>
              <a:rPr sz="1600" dirty="0" err="1"/>
              <a:t>أو</a:t>
            </a:r>
            <a:r>
              <a:rPr sz="1600" dirty="0"/>
              <a:t> </a:t>
            </a:r>
            <a:r>
              <a:rPr sz="1600" dirty="0" err="1"/>
              <a:t>استخراج</a:t>
            </a:r>
            <a:r>
              <a:rPr sz="1600" dirty="0"/>
              <a:t> </a:t>
            </a:r>
            <a:r>
              <a:rPr sz="1600" dirty="0" err="1"/>
              <a:t>نتائج</a:t>
            </a:r>
            <a:r>
              <a:rPr sz="1600" dirty="0"/>
              <a:t> </a:t>
            </a:r>
            <a:r>
              <a:rPr sz="1600" dirty="0" err="1"/>
              <a:t>السيناريو</a:t>
            </a:r>
            <a:r>
              <a:rPr sz="1600" dirty="0"/>
              <a:t> </a:t>
            </a:r>
            <a:r>
              <a:rPr sz="1600" dirty="0" err="1"/>
              <a:t>عبر</a:t>
            </a:r>
            <a:r>
              <a:rPr sz="1600" dirty="0"/>
              <a:t> </a:t>
            </a:r>
            <a:r>
              <a:rPr sz="1600" dirty="0" err="1"/>
              <a:t>فحص</a:t>
            </a:r>
            <a:r>
              <a:rPr sz="1600" dirty="0"/>
              <a:t> </a:t>
            </a:r>
            <a:r>
              <a:rPr sz="1600" dirty="0" err="1"/>
              <a:t>حزم</a:t>
            </a:r>
            <a:r>
              <a:rPr sz="1600" dirty="0"/>
              <a:t> </a:t>
            </a:r>
            <a:r>
              <a:rPr sz="1600" dirty="0" err="1"/>
              <a:t>الشبكة</a:t>
            </a:r>
            <a:r>
              <a:rPr sz="1600" dirty="0"/>
              <a:t>.</a:t>
            </a:r>
          </a:p>
          <a:p>
            <a:pPr algn="r" rtl="1">
              <a:defRPr sz="1000" b="1">
                <a:solidFill>
                  <a:srgbClr val="34D399"/>
                </a:solidFill>
                <a:latin typeface="Cairo"/>
              </a:defRPr>
            </a:pPr>
            <a:r>
              <a:rPr sz="1600" dirty="0"/>
              <a:t>✔ </a:t>
            </a:r>
            <a:r>
              <a:rPr sz="1600" dirty="0" err="1"/>
              <a:t>الحل</a:t>
            </a:r>
            <a:r>
              <a:rPr sz="1600" dirty="0"/>
              <a:t> </a:t>
            </a:r>
            <a:r>
              <a:rPr sz="1600" dirty="0" err="1"/>
              <a:t>المطبق</a:t>
            </a:r>
            <a:r>
              <a:rPr sz="1600" dirty="0"/>
              <a:t>: </a:t>
            </a:r>
            <a:r>
              <a:rPr sz="1600" dirty="0" err="1"/>
              <a:t>اعتماد</a:t>
            </a:r>
            <a:r>
              <a:rPr sz="1600" dirty="0"/>
              <a:t> </a:t>
            </a:r>
            <a:r>
              <a:rPr sz="1600" dirty="0" err="1"/>
              <a:t>معمارية</a:t>
            </a:r>
            <a:r>
              <a:rPr sz="1600" dirty="0"/>
              <a:t> </a:t>
            </a:r>
            <a:r>
              <a:rPr sz="1600" dirty="0" err="1"/>
              <a:t>تسليم</a:t>
            </a:r>
            <a:r>
              <a:rPr sz="1600" dirty="0"/>
              <a:t> </a:t>
            </a:r>
            <a:r>
              <a:rPr sz="1600" dirty="0" err="1"/>
              <a:t>تدريجي</a:t>
            </a:r>
            <a:r>
              <a:rPr sz="1600" dirty="0"/>
              <a:t> (Step-by-Step Server Flow)؛ </a:t>
            </a:r>
            <a:r>
              <a:rPr sz="1600" dirty="0" err="1"/>
              <a:t>فالخادم</a:t>
            </a:r>
            <a:r>
              <a:rPr sz="1600" dirty="0"/>
              <a:t> </a:t>
            </a:r>
            <a:r>
              <a:rPr sz="1600" dirty="0" err="1"/>
              <a:t>لا</a:t>
            </a:r>
            <a:r>
              <a:rPr sz="1600" dirty="0"/>
              <a:t> </a:t>
            </a:r>
            <a:r>
              <a:rPr sz="1600" dirty="0" err="1"/>
              <a:t>يرسل</a:t>
            </a:r>
            <a:r>
              <a:rPr sz="1600" dirty="0"/>
              <a:t> </a:t>
            </a:r>
            <a:r>
              <a:rPr sz="1600" dirty="0" err="1"/>
              <a:t>الخطوة</a:t>
            </a:r>
            <a:r>
              <a:rPr sz="1600" dirty="0"/>
              <a:t> </a:t>
            </a:r>
            <a:r>
              <a:rPr sz="1600" dirty="0" err="1"/>
              <a:t>التالية</a:t>
            </a:r>
            <a:r>
              <a:rPr sz="1600" dirty="0"/>
              <a:t> </a:t>
            </a:r>
            <a:r>
              <a:rPr sz="1600" dirty="0" err="1"/>
              <a:t>إلا</a:t>
            </a:r>
            <a:r>
              <a:rPr sz="1600" dirty="0"/>
              <a:t> </a:t>
            </a:r>
            <a:r>
              <a:rPr sz="1600" dirty="0" err="1"/>
              <a:t>بعد</a:t>
            </a:r>
            <a:r>
              <a:rPr sz="1600" dirty="0"/>
              <a:t> </a:t>
            </a:r>
            <a:r>
              <a:rPr sz="1600" dirty="0" err="1"/>
              <a:t>اعتماد</a:t>
            </a:r>
            <a:r>
              <a:rPr sz="1600" dirty="0"/>
              <a:t> </a:t>
            </a:r>
            <a:r>
              <a:rPr sz="1600" dirty="0" err="1"/>
              <a:t>السابقة</a:t>
            </a:r>
            <a:r>
              <a:rPr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defRPr sz="2200" b="1">
                <a:solidFill>
                  <a:srgbClr val="F8FAFC"/>
                </a:solidFill>
                <a:latin typeface="Cairo"/>
              </a:defRPr>
            </a:pPr>
            <a:r>
              <a:rPr sz="2400" dirty="0" err="1"/>
              <a:t>الخاتمة</a:t>
            </a:r>
            <a:r>
              <a:rPr sz="2400" dirty="0"/>
              <a:t>، </a:t>
            </a:r>
            <a:r>
              <a:rPr sz="2400" dirty="0" err="1"/>
              <a:t>الرؤية</a:t>
            </a:r>
            <a:r>
              <a:rPr sz="2400" dirty="0"/>
              <a:t> </a:t>
            </a:r>
            <a:r>
              <a:rPr sz="2400" dirty="0" err="1"/>
              <a:t>المستقبلية</a:t>
            </a:r>
            <a:r>
              <a:rPr sz="2400" dirty="0"/>
              <a:t> </a:t>
            </a:r>
            <a:r>
              <a:rPr sz="2400" dirty="0" err="1"/>
              <a:t>وفتح</a:t>
            </a:r>
            <a:r>
              <a:rPr sz="2400" dirty="0"/>
              <a:t> </a:t>
            </a:r>
            <a:r>
              <a:rPr sz="2400" dirty="0" err="1"/>
              <a:t>باب</a:t>
            </a:r>
            <a:r>
              <a:rPr sz="2400" dirty="0"/>
              <a:t> </a:t>
            </a:r>
            <a:r>
              <a:rPr sz="2400" dirty="0" err="1"/>
              <a:t>المناقشة</a:t>
            </a:r>
            <a:r>
              <a:rPr sz="2400" dirty="0"/>
              <a:t> (Q&amp;A)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  <a:defRPr sz="1400" b="1">
                <a:solidFill>
                  <a:srgbClr val="14B8A6"/>
                </a:solidFill>
                <a:latin typeface="Cairo"/>
              </a:defRPr>
            </a:pPr>
            <a:r>
              <a:rPr sz="1600" dirty="0"/>
              <a:t>🏆 </a:t>
            </a:r>
            <a:r>
              <a:rPr sz="1600" dirty="0" err="1"/>
              <a:t>ثمار</a:t>
            </a:r>
            <a:r>
              <a:rPr sz="1600" dirty="0"/>
              <a:t> </a:t>
            </a:r>
            <a:r>
              <a:rPr sz="1600" dirty="0" err="1"/>
              <a:t>المشروع</a:t>
            </a:r>
            <a:r>
              <a:rPr sz="1600" dirty="0"/>
              <a:t> </a:t>
            </a:r>
            <a:r>
              <a:rPr sz="1600" dirty="0" err="1"/>
              <a:t>والتوصيات</a:t>
            </a:r>
            <a:r>
              <a:rPr sz="1600" dirty="0"/>
              <a:t> </a:t>
            </a:r>
            <a:r>
              <a:rPr sz="1600" dirty="0" err="1"/>
              <a:t>المستقبلية</a:t>
            </a:r>
            <a:r>
              <a:rPr sz="1600" dirty="0"/>
              <a:t>: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إثبات</a:t>
            </a:r>
            <a:r>
              <a:rPr sz="1600" dirty="0"/>
              <a:t> </a:t>
            </a:r>
            <a:r>
              <a:rPr sz="1600" dirty="0" err="1"/>
              <a:t>تفوق</a:t>
            </a:r>
            <a:r>
              <a:rPr sz="1600" dirty="0"/>
              <a:t> </a:t>
            </a:r>
            <a:r>
              <a:rPr sz="1600" dirty="0" err="1"/>
              <a:t>التعلم</a:t>
            </a:r>
            <a:r>
              <a:rPr sz="1600" dirty="0"/>
              <a:t> </a:t>
            </a:r>
            <a:r>
              <a:rPr sz="1600" dirty="0" err="1"/>
              <a:t>التجريبي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أكدت</a:t>
            </a:r>
            <a:r>
              <a:rPr sz="1600" dirty="0"/>
              <a:t> </a:t>
            </a:r>
            <a:r>
              <a:rPr sz="1600" dirty="0" err="1"/>
              <a:t>النتائج</a:t>
            </a:r>
            <a:r>
              <a:rPr sz="1600" dirty="0"/>
              <a:t> </a:t>
            </a:r>
            <a:r>
              <a:rPr sz="1600" dirty="0" err="1"/>
              <a:t>تفوق</a:t>
            </a:r>
            <a:r>
              <a:rPr sz="1600" dirty="0"/>
              <a:t> </a:t>
            </a:r>
            <a:r>
              <a:rPr sz="1600" dirty="0" err="1"/>
              <a:t>المحاكاة</a:t>
            </a:r>
            <a:r>
              <a:rPr sz="1600" dirty="0"/>
              <a:t> </a:t>
            </a:r>
            <a:r>
              <a:rPr sz="1600" dirty="0" err="1"/>
              <a:t>التفاعلية</a:t>
            </a:r>
            <a:r>
              <a:rPr sz="1600" dirty="0"/>
              <a:t> </a:t>
            </a:r>
            <a:r>
              <a:rPr sz="1600" dirty="0" err="1"/>
              <a:t>في</a:t>
            </a:r>
            <a:r>
              <a:rPr sz="1600" dirty="0"/>
              <a:t> </a:t>
            </a:r>
            <a:r>
              <a:rPr sz="1600" dirty="0" err="1"/>
              <a:t>ترسيخ</a:t>
            </a:r>
            <a:r>
              <a:rPr sz="1600" dirty="0"/>
              <a:t> </a:t>
            </a:r>
            <a:r>
              <a:rPr sz="1600" dirty="0" err="1"/>
              <a:t>السلوك</a:t>
            </a:r>
            <a:r>
              <a:rPr sz="1600" dirty="0"/>
              <a:t> </a:t>
            </a:r>
            <a:r>
              <a:rPr sz="1600" dirty="0" err="1"/>
              <a:t>الدفاعي</a:t>
            </a:r>
            <a:r>
              <a:rPr sz="1600" dirty="0"/>
              <a:t> </a:t>
            </a:r>
            <a:r>
              <a:rPr sz="1600" dirty="0" err="1"/>
              <a:t>مقارنة</a:t>
            </a:r>
            <a:r>
              <a:rPr sz="1600" dirty="0"/>
              <a:t> </a:t>
            </a:r>
            <a:r>
              <a:rPr sz="1600" dirty="0" err="1"/>
              <a:t>بالتوعية</a:t>
            </a:r>
            <a:r>
              <a:rPr sz="1600" dirty="0"/>
              <a:t> </a:t>
            </a:r>
            <a:r>
              <a:rPr sz="1600" dirty="0" err="1"/>
              <a:t>الساكنة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الجاهزية</a:t>
            </a:r>
            <a:r>
              <a:rPr sz="1600" dirty="0"/>
              <a:t> </a:t>
            </a:r>
            <a:r>
              <a:rPr sz="1600" dirty="0" err="1"/>
              <a:t>والامتثال</a:t>
            </a:r>
            <a:r>
              <a:rPr sz="1600" dirty="0"/>
              <a:t> </a:t>
            </a:r>
            <a:r>
              <a:rPr sz="1600" dirty="0" err="1"/>
              <a:t>الأمني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تأكيد</a:t>
            </a:r>
            <a:r>
              <a:rPr sz="1600" dirty="0"/>
              <a:t> </a:t>
            </a:r>
            <a:r>
              <a:rPr sz="1600" dirty="0" err="1"/>
              <a:t>مناعة</a:t>
            </a:r>
            <a:r>
              <a:rPr sz="1600" dirty="0"/>
              <a:t> </a:t>
            </a:r>
            <a:r>
              <a:rPr sz="1600" dirty="0" err="1"/>
              <a:t>النظام</a:t>
            </a:r>
            <a:r>
              <a:rPr sz="1600" dirty="0"/>
              <a:t> </a:t>
            </a:r>
            <a:r>
              <a:rPr sz="1600" dirty="0" err="1"/>
              <a:t>وخلوه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الثغرات</a:t>
            </a:r>
            <a:r>
              <a:rPr sz="1600" dirty="0"/>
              <a:t> </a:t>
            </a:r>
            <a:r>
              <a:rPr sz="1600" dirty="0" err="1"/>
              <a:t>باجتياز</a:t>
            </a:r>
            <a:r>
              <a:rPr sz="1600" dirty="0"/>
              <a:t> 157 </a:t>
            </a:r>
            <a:r>
              <a:rPr sz="1600" dirty="0" err="1"/>
              <a:t>اختباراً</a:t>
            </a:r>
            <a:r>
              <a:rPr sz="1600" dirty="0"/>
              <a:t> </a:t>
            </a:r>
            <a:r>
              <a:rPr sz="1600" dirty="0" err="1"/>
              <a:t>آلياً</a:t>
            </a:r>
            <a:r>
              <a:rPr sz="1600" dirty="0"/>
              <a:t> </a:t>
            </a:r>
            <a:r>
              <a:rPr sz="1600" dirty="0" err="1"/>
              <a:t>بنسبة</a:t>
            </a:r>
            <a:r>
              <a:rPr sz="1600" dirty="0"/>
              <a:t> 100%.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دمج</a:t>
            </a:r>
            <a:r>
              <a:rPr sz="1600" dirty="0"/>
              <a:t> </a:t>
            </a:r>
            <a:r>
              <a:rPr sz="1600" dirty="0" err="1"/>
              <a:t>الذكاء</a:t>
            </a:r>
            <a:r>
              <a:rPr sz="1600" dirty="0"/>
              <a:t> </a:t>
            </a:r>
            <a:r>
              <a:rPr sz="1600" dirty="0" err="1"/>
              <a:t>الاصطناعي</a:t>
            </a:r>
            <a:r>
              <a:rPr sz="1600" dirty="0"/>
              <a:t> </a:t>
            </a:r>
            <a:r>
              <a:rPr sz="1600" dirty="0" err="1"/>
              <a:t>مستقبلاً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توسيع</a:t>
            </a:r>
            <a:r>
              <a:rPr sz="1600" dirty="0"/>
              <a:t> </a:t>
            </a:r>
            <a:r>
              <a:rPr sz="1600" dirty="0" err="1"/>
              <a:t>المنصة</a:t>
            </a:r>
            <a:r>
              <a:rPr sz="1600" dirty="0"/>
              <a:t> </a:t>
            </a:r>
            <a:r>
              <a:rPr sz="1600" dirty="0" err="1"/>
              <a:t>بنماذج</a:t>
            </a:r>
            <a:r>
              <a:rPr sz="1600" dirty="0"/>
              <a:t> </a:t>
            </a:r>
            <a:r>
              <a:rPr sz="1600" dirty="0" err="1"/>
              <a:t>ذكاء</a:t>
            </a:r>
            <a:r>
              <a:rPr sz="1600" dirty="0"/>
              <a:t> </a:t>
            </a:r>
            <a:r>
              <a:rPr sz="1600" dirty="0" err="1"/>
              <a:t>اصطناعي</a:t>
            </a:r>
            <a:r>
              <a:rPr sz="1600" dirty="0"/>
              <a:t> </a:t>
            </a:r>
            <a:r>
              <a:rPr sz="1600" dirty="0" err="1"/>
              <a:t>تحاكي</a:t>
            </a:r>
            <a:r>
              <a:rPr sz="1600" dirty="0"/>
              <a:t> </a:t>
            </a:r>
            <a:r>
              <a:rPr sz="1600" dirty="0" err="1"/>
              <a:t>هجمات</a:t>
            </a:r>
            <a:r>
              <a:rPr sz="1600" dirty="0"/>
              <a:t> </a:t>
            </a:r>
            <a:r>
              <a:rPr sz="1600" dirty="0" err="1"/>
              <a:t>التزييف</a:t>
            </a:r>
            <a:r>
              <a:rPr sz="1600" dirty="0"/>
              <a:t> </a:t>
            </a:r>
            <a:r>
              <a:rPr sz="1600" dirty="0" err="1"/>
              <a:t>العميق</a:t>
            </a:r>
            <a:r>
              <a:rPr sz="1600" dirty="0"/>
              <a:t> (Deepfake) </a:t>
            </a:r>
            <a:r>
              <a:rPr sz="1600" dirty="0" err="1"/>
              <a:t>المتقدمة</a:t>
            </a:r>
            <a:r>
              <a:rPr sz="1600" dirty="0"/>
              <a:t>.</a:t>
            </a:r>
          </a:p>
          <a:p>
            <a:pPr algn="r" rtl="1">
              <a:spcAft>
                <a:spcPts val="100"/>
              </a:spcAft>
              <a:defRPr sz="1100" b="1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تطبيقات</a:t>
            </a:r>
            <a:r>
              <a:rPr sz="1600" dirty="0"/>
              <a:t> </a:t>
            </a:r>
            <a:r>
              <a:rPr sz="1600" dirty="0" err="1"/>
              <a:t>الهواتف</a:t>
            </a:r>
            <a:r>
              <a:rPr sz="1600" dirty="0"/>
              <a:t> </a:t>
            </a:r>
            <a:r>
              <a:rPr sz="1600" dirty="0" err="1"/>
              <a:t>المحمولة</a:t>
            </a:r>
            <a:r>
              <a:rPr sz="1600" dirty="0"/>
              <a:t>:</a:t>
            </a:r>
          </a:p>
          <a:p>
            <a:pPr algn="r" rtl="1">
              <a:spcAft>
                <a:spcPts val="600"/>
              </a:spcAft>
              <a:defRPr sz="1000">
                <a:solidFill>
                  <a:srgbClr val="94A3B8"/>
                </a:solidFill>
                <a:latin typeface="Cairo"/>
              </a:defRPr>
            </a:pPr>
            <a:r>
              <a:rPr sz="1600" dirty="0" err="1"/>
              <a:t>إطلاق</a:t>
            </a:r>
            <a:r>
              <a:rPr sz="1600" dirty="0"/>
              <a:t> </a:t>
            </a:r>
            <a:r>
              <a:rPr sz="1600" dirty="0" err="1"/>
              <a:t>تطبيق</a:t>
            </a:r>
            <a:r>
              <a:rPr sz="1600" dirty="0"/>
              <a:t> </a:t>
            </a:r>
            <a:r>
              <a:rPr sz="1600" dirty="0" err="1"/>
              <a:t>للهواتف</a:t>
            </a:r>
            <a:r>
              <a:rPr sz="1600" dirty="0"/>
              <a:t> </a:t>
            </a:r>
            <a:r>
              <a:rPr sz="1600" dirty="0" err="1"/>
              <a:t>الذكية</a:t>
            </a:r>
            <a:r>
              <a:rPr sz="1600" dirty="0"/>
              <a:t> </a:t>
            </a:r>
            <a:r>
              <a:rPr sz="1600" dirty="0" err="1"/>
              <a:t>لزيادة</a:t>
            </a:r>
            <a:r>
              <a:rPr sz="1600" dirty="0"/>
              <a:t> </a:t>
            </a:r>
            <a:r>
              <a:rPr sz="1600" dirty="0" err="1"/>
              <a:t>الانتشار</a:t>
            </a:r>
            <a:r>
              <a:rPr sz="1600" dirty="0"/>
              <a:t> </a:t>
            </a:r>
            <a:r>
              <a:rPr sz="1600" dirty="0" err="1"/>
              <a:t>وتوفير</a:t>
            </a:r>
            <a:r>
              <a:rPr sz="1600" dirty="0"/>
              <a:t> </a:t>
            </a:r>
            <a:r>
              <a:rPr sz="1600" dirty="0" err="1"/>
              <a:t>إشعارات</a:t>
            </a:r>
            <a:r>
              <a:rPr sz="1600" dirty="0"/>
              <a:t> </a:t>
            </a:r>
            <a:r>
              <a:rPr sz="1600" dirty="0" err="1"/>
              <a:t>توعوية</a:t>
            </a:r>
            <a:r>
              <a:rPr sz="1600" dirty="0"/>
              <a:t> </a:t>
            </a:r>
            <a:r>
              <a:rPr sz="1600" dirty="0" err="1"/>
              <a:t>دورية</a:t>
            </a:r>
            <a:r>
              <a:rPr sz="1600" dirty="0"/>
              <a:t> </a:t>
            </a:r>
            <a:r>
              <a:rPr sz="1600" dirty="0" err="1"/>
              <a:t>للمجتمع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2011680"/>
            <a:ext cx="48463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1000"/>
              </a:spcAft>
              <a:defRPr sz="2600" b="1">
                <a:solidFill>
                  <a:srgbClr val="F8FAFC"/>
                </a:solidFill>
                <a:latin typeface="Cairo"/>
              </a:defRPr>
            </a:pPr>
            <a:r>
              <a:rPr sz="1600" dirty="0" err="1"/>
              <a:t>شكراً</a:t>
            </a:r>
            <a:r>
              <a:rPr sz="1600" dirty="0"/>
              <a:t> </a:t>
            </a:r>
            <a:r>
              <a:rPr sz="1600" dirty="0" err="1"/>
              <a:t>لحسن</a:t>
            </a:r>
            <a:r>
              <a:rPr sz="1600" dirty="0"/>
              <a:t> </a:t>
            </a:r>
            <a:r>
              <a:rPr sz="1600" dirty="0" err="1"/>
              <a:t>استماعكم</a:t>
            </a:r>
            <a:endParaRPr sz="1600" dirty="0"/>
          </a:p>
          <a:p>
            <a:pPr algn="ctr" rtl="1">
              <a:defRPr sz="1300">
                <a:solidFill>
                  <a:srgbClr val="14B8A6"/>
                </a:solidFill>
                <a:latin typeface="Cairo"/>
              </a:defRPr>
            </a:pPr>
            <a:r>
              <a:rPr sz="1600" dirty="0" err="1"/>
              <a:t>خالص</a:t>
            </a:r>
            <a:r>
              <a:rPr sz="1600" dirty="0"/>
              <a:t> </a:t>
            </a:r>
            <a:r>
              <a:rPr sz="1600" dirty="0" err="1"/>
              <a:t>الشكر</a:t>
            </a:r>
            <a:r>
              <a:rPr sz="1600" dirty="0"/>
              <a:t> </a:t>
            </a:r>
            <a:r>
              <a:rPr sz="1600" dirty="0" err="1"/>
              <a:t>والتقدير</a:t>
            </a:r>
            <a:r>
              <a:rPr sz="1600" dirty="0"/>
              <a:t> </a:t>
            </a:r>
            <a:r>
              <a:rPr sz="1600" dirty="0" err="1"/>
              <a:t>للمدربة</a:t>
            </a:r>
            <a:r>
              <a:rPr sz="1600" dirty="0"/>
              <a:t> </a:t>
            </a:r>
            <a:r>
              <a:rPr sz="1600" dirty="0" err="1"/>
              <a:t>القديرة</a:t>
            </a:r>
            <a:r>
              <a:rPr sz="1600" dirty="0"/>
              <a:t>:</a:t>
            </a:r>
          </a:p>
          <a:p>
            <a:pPr algn="ctr" rtl="1">
              <a:spcAft>
                <a:spcPts val="1000"/>
              </a:spcAft>
              <a:defRPr sz="1600" b="1">
                <a:solidFill>
                  <a:srgbClr val="FB923C"/>
                </a:solidFill>
                <a:latin typeface="Cairo"/>
              </a:defRPr>
            </a:pPr>
            <a:r>
              <a:rPr sz="1600" dirty="0" err="1"/>
              <a:t>الأستاذة</a:t>
            </a:r>
            <a:r>
              <a:rPr sz="1600" dirty="0"/>
              <a:t> / </a:t>
            </a:r>
            <a:r>
              <a:rPr sz="1600" dirty="0" err="1"/>
              <a:t>عفاف</a:t>
            </a:r>
            <a:r>
              <a:rPr sz="1600" dirty="0"/>
              <a:t> </a:t>
            </a:r>
            <a:r>
              <a:rPr sz="1600" dirty="0" err="1"/>
              <a:t>أحمد</a:t>
            </a:r>
            <a:endParaRPr sz="1600" dirty="0"/>
          </a:p>
          <a:p>
            <a:pPr algn="ctr" rtl="1">
              <a:spcAft>
                <a:spcPts val="1600"/>
              </a:spcAft>
              <a:defRPr sz="1200">
                <a:solidFill>
                  <a:srgbClr val="E2E8F0"/>
                </a:solidFill>
                <a:latin typeface="Cairo"/>
              </a:defRPr>
            </a:pPr>
            <a:r>
              <a:rPr sz="1600" dirty="0" err="1"/>
              <a:t>ولأعضاء</a:t>
            </a:r>
            <a:r>
              <a:rPr sz="1600" dirty="0"/>
              <a:t> </a:t>
            </a:r>
            <a:r>
              <a:rPr sz="1600" dirty="0" err="1"/>
              <a:t>لجنة</a:t>
            </a:r>
            <a:r>
              <a:rPr sz="1600" dirty="0"/>
              <a:t> </a:t>
            </a:r>
            <a:r>
              <a:rPr sz="1600" dirty="0" err="1"/>
              <a:t>التقييم</a:t>
            </a:r>
            <a:r>
              <a:rPr sz="1600" dirty="0"/>
              <a:t> </a:t>
            </a:r>
            <a:r>
              <a:rPr sz="1600" dirty="0" err="1"/>
              <a:t>الموقرة</a:t>
            </a:r>
            <a:r>
              <a:rPr sz="1600" dirty="0"/>
              <a:t> </a:t>
            </a:r>
            <a:r>
              <a:rPr sz="1600" dirty="0" err="1"/>
              <a:t>على</a:t>
            </a:r>
            <a:r>
              <a:rPr sz="1600" dirty="0"/>
              <a:t> </a:t>
            </a:r>
            <a:r>
              <a:rPr sz="1600" dirty="0" err="1"/>
              <a:t>وقتهم</a:t>
            </a:r>
            <a:r>
              <a:rPr sz="1600" dirty="0"/>
              <a:t> </a:t>
            </a:r>
            <a:r>
              <a:rPr sz="1600" dirty="0" err="1"/>
              <a:t>وملاحظاتهم</a:t>
            </a:r>
            <a:r>
              <a:rPr sz="1600" dirty="0"/>
              <a:t> </a:t>
            </a:r>
            <a:r>
              <a:rPr sz="1600" dirty="0" err="1"/>
              <a:t>القيمة</a:t>
            </a:r>
            <a:endParaRPr sz="1600" dirty="0"/>
          </a:p>
          <a:p>
            <a:pPr algn="ctr" rtl="1">
              <a:spcAft>
                <a:spcPts val="800"/>
              </a:spcAft>
              <a:defRPr sz="1600" b="1">
                <a:solidFill>
                  <a:srgbClr val="38BDF8"/>
                </a:solidFill>
                <a:latin typeface="Cairo"/>
              </a:defRPr>
            </a:pPr>
            <a:r>
              <a:rPr sz="1600" dirty="0"/>
              <a:t>💬 </a:t>
            </a:r>
            <a:r>
              <a:rPr sz="1600" dirty="0" err="1"/>
              <a:t>نرحب</a:t>
            </a:r>
            <a:r>
              <a:rPr sz="1600" dirty="0"/>
              <a:t> </a:t>
            </a:r>
            <a:r>
              <a:rPr sz="1600" dirty="0" err="1"/>
              <a:t>بأسئلتكم</a:t>
            </a:r>
            <a:r>
              <a:rPr sz="1600" dirty="0"/>
              <a:t> </a:t>
            </a:r>
            <a:r>
              <a:rPr sz="1600" dirty="0" err="1"/>
              <a:t>واستفساراتكم</a:t>
            </a:r>
            <a:r>
              <a:rPr sz="1600" dirty="0"/>
              <a:t> (Q&amp;A)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2532</Words>
  <Application>Microsoft Office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Ezzaldeen Al-kholaidy</cp:lastModifiedBy>
  <cp:revision>2</cp:revision>
  <dcterms:created xsi:type="dcterms:W3CDTF">2013-01-27T09:14:16Z</dcterms:created>
  <dcterms:modified xsi:type="dcterms:W3CDTF">2026-09-17T16:42:56Z</dcterms:modified>
  <cp:category/>
</cp:coreProperties>
</file>