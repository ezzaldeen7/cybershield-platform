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بسم الله الرحمن الرحيم، والصلاة والسلام على أشرف الأنبياء والمرسلين.</a:t>
            </a:r>
          </a:p>
          <a:p>
            <a:r>
              <a:t>أهلاً وسهلاً بمدربتنا القديرة الأستاذة عفاف أحمد وأعضاء لجنة التقييم الموقرة.</a:t>
            </a:r>
          </a:p>
          <a:p>
            <a:r>
              <a:t>يسعدنا أن نقدم لكم اليوم مشروع تخرجنا بعنوان: 'الحماية من الجرائم الإلكترونية – دراسة تأصيلية وتطبيقية لتطوير منصة تفاعلية متكاملة للتقييم الأمني والتوعية السيبرانية الذكية (CyberShield Platform)'.</a:t>
            </a:r>
          </a:p>
          <a:p>
            <a:r>
              <a:t>يهدف هذا المشروع إلى سد الفجوة بين المعرفة النظرية والسلوك الأمني الوقائي، وتقديم منتج برمجي متكامل ومجرب معملياً لحماية المجتمع الرقمي.</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في مستهل حديثنا، لا يخفى على أحد التسارع الهائل في التحول الرقمي الذي نعيشه.</a:t>
            </a:r>
          </a:p>
          <a:p>
            <a:r>
              <a:t>ولكن هذا التحول رافقه تطور خطير في أنماط الجرائم الإلكترونية.</a:t>
            </a:r>
          </a:p>
          <a:p>
            <a:r>
              <a:t>الملاحظ في الدراسات الأمنية الحديثة، مثل تقارير معهد NIST والاتحاد الدولي للاتصالات، أن المهاجمين لم يعودوا يركزون على كسر التشفير المعقد للخوادم، بل يركزون مباشرة على استغلال العامل البشري باعتباره الحلقة الأكثر استهدافاً.</a:t>
            </a:r>
          </a:p>
          <a:p>
            <a:r>
              <a:t>ومن هنا انطلقت رؤيتنا لبناء حل يركز على تحصين السلوك البشري بصورة تفاعلية.</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تتمحور مشكلة المشروع في وجود فجوة عميقة بين امتلاك المؤسسات والأفراد لأجهزة حديثة، وبين قصور الوعي الأمني العملي.</a:t>
            </a:r>
          </a:p>
          <a:p>
            <a:r>
              <a:t>التوعية التقليدية الساكنة التي تقتصر على القراءة لم تعد تجدي نفعاً، لأن الشخص عندما يصله بريد احتيالي في الواقع يقع في الفخ نتيجة التوتر أو الاستعجال.</a:t>
            </a:r>
          </a:p>
          <a:p>
            <a:r>
              <a:t>المشكلة تتلخص في السؤال المحوري: كيف نبني بيئة محاكاة عملية تضع المستخدم أمام الهجوم الافتراضي وتكسبه المناعة قبل وقوع الكارثة في العالم الحقيقي؟</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تكتسب منصة CyberShield أهميتها من 4 أبعاد متكاملة:</a:t>
            </a:r>
          </a:p>
          <a:p>
            <a:r>
              <a:t>أولاً: البعد الأكاديمي بإثراء المكتبة العربية ببحث تطبيقي معتمد.</a:t>
            </a:r>
          </a:p>
          <a:p>
            <a:r>
              <a:t>ثانياً: البعد التقني بتقديم نظام آمن خالٍ من الثغرات المبرمجة بشهادة 157 اختباراً آلياً.</a:t>
            </a:r>
          </a:p>
          <a:p>
            <a:r>
              <a:t>ثالثاً: البعد الوطني بدعم مستهدفات رؤية المملكة 2030 في تمكين المجتمع من أدوات الاقتصاد الرقمي الآمن.</a:t>
            </a:r>
          </a:p>
          <a:p>
            <a:r>
              <a:t>ورابعاً: البعد الاقتصادي، فالاستثمار في تدريب الإنسان استباقياً يوفر مبالغ طائلة تُهدر في معالجة تداعيات الاحتيال والتسريب.</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تم تحديد هدف عام رئيس لمنصة CyberShield وتفرع عنه ستة أهداف إجرائية محددة وقابلة للقياس والتحقق:</a:t>
            </a:r>
          </a:p>
          <a:p>
            <a:r>
              <a:t>بدءاً من التشخيص القبلي، مروراً بالمسار التعليمي ذي الوحدات السبعة، والسيناريوهات التفاعلية، وأداة الفحص الآمن، وانتهاءً بالتقييم البعدي وإدارة المحتوى للمدرسين.</a:t>
            </a:r>
          </a:p>
          <a:p>
            <a:r>
              <a:t>وجميع هذه الأهداف تم تحويلها بنجاح إلى وظائف مبرمجة ومختبرة في المنصة الفعلية.</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توضح هذه الشريحة آلية عمل المنصة من خلال دورة حياة متكاملة للبيانات:</a:t>
            </a:r>
          </a:p>
          <a:p>
            <a:r>
              <a:t>المدخلات: تشمل استجابات المتعلم، الروابط المشبوهة، وقراراته في المحاكاة.</a:t>
            </a:r>
          </a:p>
          <a:p>
            <a:r>
              <a:t>المعالجة: تتم على الخادم عبر طبقة tRPC المحمية، بمحرك تحليل استدلالي محلي، ونظام حماية الملكية.</a:t>
            </a:r>
          </a:p>
          <a:p>
            <a:r>
              <a:t>المخرجات: تتجسد في واجهة المستخدم عبر قياس نسبة الوعي وتوليد خطة التوصيات الذكية لسد الثغرات المعرفية.</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حرصنا في بناء CyberShield على انتقاء منظومة تقنية حديثة ورصينة تحقق أعلى معايير الأمان والأداء:</a:t>
            </a:r>
          </a:p>
          <a:p>
            <a:r>
              <a:t>في الواجهة الأمامية اعتمدنا React 19 مع TypeScript لإلغاء أي أخطاء نوعية.</a:t>
            </a:r>
          </a:p>
          <a:p>
            <a:r>
              <a:t>وفي الواجهة الخلفية طبقنا تقنية tRPC التي تشكل نقلة نوعية مقارنة بـ REST APIs التقليدية، لأنها تضمن Type-Safety من العميل للخادم وتمنع تسريب أي حقول غير مصرح بها.</a:t>
            </a:r>
          </a:p>
          <a:p>
            <a:r>
              <a:t>أما قواعد البيانات فأدارها Drizzle ORM مع SQLite3 لمنع ثغرات الحقن تماماً، مع تشفير Bcrypt لكلمات المرور واختبار المنظومة عبر Vitest.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صُممت المنصة لتلبي احتياجات ثلاثة أطراف رئيسية وفق نموذج RBAC محكم:</a:t>
            </a:r>
          </a:p>
          <a:p>
            <a:r>
              <a:t>المتعلم: الذي يخوض رحلة التوعية والتقييم وفحص الروابط المشبوهة.</a:t>
            </a:r>
          </a:p>
          <a:p>
            <a:r>
              <a:t>المدرس: الذي يمتلك صلاحية تأليف محتوى تعليمي واختبارات خاصة مع ضمان عدم المساس بالدروس الرسمية أو التعديل على محتوى زملائه.</a:t>
            </a:r>
          </a:p>
          <a:p>
            <a:r>
              <a:t>ومدير النظام: الذي يمتلك رؤية كاملة لإدارة المستخدمين وسجلات التدقيق ومؤشرات الأمان العامة.</a:t>
            </a:r>
          </a:p>
          <a:p>
            <a:r>
              <a:t>توضح الصور نافذة الدخول وتسجيل حساب جديد بضوابط كلمات المرور المعقدة.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تبدأ رحلة المتدرب في منصة CyberShield بمرحلة بالغة الأهمية وهي 'التقييم القبلي التشخيصي'.</a:t>
            </a:r>
          </a:p>
          <a:p>
            <a:r>
              <a:t>الهدف هنا ليس إعطاء درجات للنجاح أو الرسوب، بل رصد خط الأساس الأمني للمستخدم (Baseline).</a:t>
            </a:r>
          </a:p>
          <a:p>
            <a:r>
              <a:t>الأسئلة مصممة بعناية لتغطي مختلف أبعاد التهديدات السيبرانية.</a:t>
            </a:r>
          </a:p>
          <a:p>
            <a:r>
              <a:t>والأهم من ذلك أمنياً: النتيجة الأولى يتم تجميدها برمجياً لضمان النزاهة العلمية عند مقارنتها بالتقييم البعدي لإثبات مدى الفائدة المحققة من المنصة.</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يحتوي المسار التعليمي في CyberShield على 7 وحدات معتمدة ومحمية تغطي أهم التحديات السيبرانية اليومية.</a:t>
            </a:r>
          </a:p>
          <a:p>
            <a:r>
              <a:t>الوحدات تم تصميمها بأسلوب تعليمي سلس يبتعد عن التعقيد الأكاديمي الجاف، وتتضمن وسائط تفاعلية وأمثلة من واقع الحياة.</a:t>
            </a:r>
          </a:p>
          <a:p>
            <a:r>
              <a:t>واجهة قارئ الدرس توفر بيئة قراءة مريحة مع شريط تقدم وتدرج في إيصال المعلومة.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نظام الاختبارات في CyberShield يجسد نموذجاً حقيقياً للأمان والنزاهة الأكاديمية.</a:t>
            </a:r>
          </a:p>
          <a:p>
            <a:r>
              <a:t>النقطة الأمنية الجوهرية هنا هي: 'حظر تسريب الإجابات'. في كثير من المواقع، إذا فتحت أدوات المطور في المتصفح، يمكنك رؤية حقل 'isCorrect' في استجابة الشبكة.</a:t>
            </a:r>
          </a:p>
          <a:p>
            <a:r>
              <a:t>أما في نظامنا، فالخادم يرسل الأسئلة والخيارات مجردة تماماً، والتصحيح يتم على الخادم بعد إرسال الخيار، وهذا ما أثبتته اختبارات quiz.test.ts الآلية بنجاح 100%.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السيناريوهات التفاعلية هي جوهر التميز في CyberShield.</a:t>
            </a:r>
          </a:p>
          <a:p>
            <a:r>
              <a:t>بدلاً من مجرد إخبار الطالب: 'لا تضغط على الروابط المشبوهة'، نضعه داخل بيئة تحاكي استلام رسالة من جهة تبدو موثوقة ونطلب منه التصرف.</a:t>
            </a:r>
          </a:p>
          <a:p>
            <a:r>
              <a:t>إذا اتخذ قراراً خاطئاً، يشاهد أثر تسريب البيانات فوراً في بيئة معزولة، مما يرسخ في ذاكرته الحذر الدائم.</a:t>
            </a:r>
          </a:p>
          <a:p>
            <a:r>
              <a:t>معمارياً، تم تأمين السيناريوهات بحيث لا يتم إرسال نتيجة الخطوة التالية مسبقاً إلى المتصفح.</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من أبرز الأدوات العملية التي يقدمها مشروعنا: 'المحلل الآمن (Safe Analyzer)'.</a:t>
            </a:r>
          </a:p>
          <a:p>
            <a:r>
              <a:t>يتيح هذا المحلل للمستخدمين وضع أي رابط أو رسالة مشكوك فيها وفحصها فورياً.</a:t>
            </a:r>
          </a:p>
          <a:p>
            <a:r>
              <a:t>أهم تحدٍّ واجهنا هنا هو: كيف نفحص الرابط دون أن نزوره ونتعرض للبرمجيات الخبيثة؟</a:t>
            </a:r>
          </a:p>
          <a:p>
            <a:r>
              <a:t>الحل البرمجي كان عبر بناء خوارزمية استدلالية تفكك بنية الرابط وتفحص عناصر النطاق ومؤشرات الخداع محلياً دون إرسال أي طلب شبكي، مما يضمن أماناً بنسبة 100%.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منصة CyberShield لا تكتفي بتقديم المعلومات، بل تمتلك 'محرك توصيات ذكي' يحلل إجابات كل متدرب.</a:t>
            </a:r>
          </a:p>
          <a:p>
            <a:r>
              <a:t>إذا أخطأ الطالب في سيناريو يتعلق بالاحتيال المالي، تظهر له توصية فورية تنبهه لنقطة الضعف وترشده للدرس المناسب.</a:t>
            </a:r>
          </a:p>
          <a:p>
            <a:r>
              <a:t>وفي ختام الرحلة، يخوض الطالب التقييم البعدي ليقارن رصيده بما قبل الدخول للمنصة، مما يثبت علمياً القيمة المضافة ومعدل التطور المعرفي المحرز.</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تم تزويد المنصة بلوحة متطورة للكوادر التدريسية (Instructors) تسمح لهم بتأليف دروس جديدة وإنشاء بنوك اختبارات خاصة بهم.</a:t>
            </a:r>
          </a:p>
          <a:p>
            <a:r>
              <a:t>وقد أولينا الجانب الأمني اهتماماً فائقاً عبر تطبيق حماية صارمة ضد ثغرات IDOR.</a:t>
            </a:r>
          </a:p>
          <a:p>
            <a:r>
              <a:t>فلا يمكن لأي مدرس أن يعدل أو يحذف درساً أنشأه زميل آخر بمجرد التلاعب برقم المعرّف (ID)، كما تم فرض حصانة برمجية على الدروس السبعة الرسمية بحيث لا يمكن لأحد العبث بمحتواها المعتمد.</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لوحة مدير النظام (Admin Dashboard) توفر الحوكمة الشاملة للمنصة.</a:t>
            </a:r>
          </a:p>
          <a:p>
            <a:r>
              <a:t>من خلالها يستطيع المشرف إدارة الحسابات، ترقية المستخدمين إلى مدرسين، والاطلاع على مؤشرات الأداء العامة.</a:t>
            </a:r>
          </a:p>
          <a:p>
            <a:r>
              <a:t>كما تتضمن المنصة نظام سجلات التدقيق الأمني (Audit Logs) الذي يسجل كل حدث إداري أو أمني مع التوقيت وهوية الفاعل، تماشياً مع أفضل معايير الحوكمة والامتثال السيبراني.</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بما أن مشروعنا متخصص في الأمن السيبراني، كان من الواجب أن تكون المنصة نفسها نموذجاً في الأمان البرمجي الخالي من الثغرات.</a:t>
            </a:r>
          </a:p>
          <a:p>
            <a:r>
              <a:t>طبقنا 8 طبقات حماية أساسية:</a:t>
            </a:r>
          </a:p>
          <a:p>
            <a:r>
              <a:t>من تشفير كلمات المرور بـ Bcrypt، وتأمين الجلسات بـ HttpOnly Cookies، إلى سياسات أمان المحتوى CSP، وتحديد معدل الطلبات Rate Limiting، وحماية الموارد من ثغرات IDOR، وحظر تسريب إجابات الاختبارات.</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الجودة والموثوقية في CyberShield ليست مجرد كلام نظري، بل هي مدعومة بـ 157 اختباراً آلياً شاملاً تم تشغيلها عبر إطار Vitest.</a:t>
            </a:r>
          </a:p>
          <a:p>
            <a:r>
              <a:t>وقد حققت المنظومة نسبة نجاح كاملة: 157 اختباراً ناجحاً من أصل 157 بنسبة 100% (157 Passed).</a:t>
            </a:r>
          </a:p>
          <a:p>
            <a:r>
              <a:t>شملت الاختبارات فحص هجمات IDOR، التحقق من عدم تسريب الإجابات، كبح هجمات القوة الغاشمة، وتكامل العميل والخادم عبر رحلة المتعلم الكاملة.</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خلال مسيرة تطوير المشروع، واجهتنا تحديات برمجية وأمنية حقيقية استطعنا التغلب عليها بحلول مبتكرة:</a:t>
            </a:r>
          </a:p>
          <a:p>
            <a:r>
              <a:t>منعنا ثغرات IDOR بالتحقق المزدوج من المالك وتأمين الدروس الرسمية.</a:t>
            </a:r>
          </a:p>
          <a:p>
            <a:r>
              <a:t>حققنا فحص الروابط المشبوهة بنموذج محلي دون أي اتصال خارجي.</a:t>
            </a:r>
          </a:p>
          <a:p>
            <a:r>
              <a:t>أعدنا ضبط قيود CSP لتوافق الخطوط دون الإخلال بالحماية.</a:t>
            </a:r>
          </a:p>
          <a:p>
            <a:r>
              <a:t>وضمنا سرية مسارات السيناريوهات بالتدفق التدريجي على الخادم.</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في ختام عرضنا، نخلص إلى أن منصة CyberShield حققت أهدافها التأصيلية والتطبيقية بالكامل.</a:t>
            </a:r>
          </a:p>
          <a:p>
            <a:r>
              <a:t>النتائج أثبتت كفاءة المحاكاة العملية في تغيير السلوك، ومناعة النظام البرمجي بـ 157 اختباراً ناجحاً.</a:t>
            </a:r>
          </a:p>
          <a:p>
            <a:r>
              <a:t>ونتطلع مستقبلاً إلى توسيع المنصة عبر دمج خوارزميات الذكاء الاصطناعي لرصد هجمات التزييف العميق، وإطلاق تطبيق الهواتف الذكية لتعميم الفائدة على مستوى الوطن.</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في الختام، نتقدم بجزيل الشكر والعرفان لأستاذتنا الفاضلة عفاف أحمد، ولأعضاء لجنة التقييم الموقرة على وقتهم وحسن استماعهم وملاحظاتهم التي نعتز بها ونسترشد بها في تطوير هذا المشروع.</a:t>
            </a:r>
          </a:p>
          <a:p>
            <a:r>
              <a:t>نحن الآن على أتم الاستعداد لتلقي أسئلتكم ومناقشة تفاصيل المشروع.</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914400" y="548640"/>
            <a:ext cx="10362895" cy="548640"/>
          </a:xfrm>
          <a:prstGeom prst="rect">
            <a:avLst/>
          </a:prstGeom>
          <a:noFill/>
        </p:spPr>
        <p:txBody>
          <a:bodyPr wrap="none">
            <a:spAutoFit/>
          </a:bodyPr>
          <a:lstStyle/>
          <a:p>
            <a:pPr algn="ctr">
              <a:defRPr sz="1200" b="1">
                <a:solidFill>
                  <a:srgbClr val="00E5FF"/>
                </a:solidFill>
                <a:latin typeface="Cairo"/>
              </a:defRPr>
            </a:pPr>
            <a:r>
              <a:t>المملكة العربية السعودية  •  وزارة التعليم  •  قسم علوم الحاسب وتقنية المعلومات  •  مشروع التخرج الأكاديمي</a:t>
            </a:r>
          </a:p>
        </p:txBody>
      </p:sp>
      <p:sp>
        <p:nvSpPr>
          <p:cNvPr id="3" name="Rounded Rectangle 2"/>
          <p:cNvSpPr/>
          <p:nvPr/>
        </p:nvSpPr>
        <p:spPr>
          <a:xfrm>
            <a:off x="914400" y="1188720"/>
            <a:ext cx="10362895" cy="2377440"/>
          </a:xfrm>
          <a:prstGeom prst="roundRect">
            <a:avLst/>
          </a:prstGeom>
          <a:solidFill>
            <a:srgbClr val="162035"/>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371600"/>
            <a:ext cx="9997135" cy="2011680"/>
          </a:xfrm>
          <a:prstGeom prst="rect">
            <a:avLst/>
          </a:prstGeom>
          <a:noFill/>
        </p:spPr>
        <p:txBody>
          <a:bodyPr wrap="square">
            <a:spAutoFit/>
          </a:bodyPr>
          <a:lstStyle/>
          <a:p>
            <a:pPr algn="ctr">
              <a:spcAft>
                <a:spcPts val="800"/>
              </a:spcAft>
              <a:defRPr sz="3000" b="1">
                <a:solidFill>
                  <a:srgbClr val="FFFFFF"/>
                </a:solidFill>
                <a:latin typeface="Cairo"/>
              </a:defRPr>
            </a:pPr>
            <a:r>
              <a:t>الحماية من الجرائم الإلكترونية</a:t>
            </a:r>
          </a:p>
          <a:p>
            <a:pPr algn="ctr">
              <a:spcAft>
                <a:spcPts val="800"/>
              </a:spcAft>
              <a:defRPr sz="1500">
                <a:solidFill>
                  <a:srgbClr val="E2E8F0"/>
                </a:solidFill>
                <a:latin typeface="Cairo"/>
              </a:defRPr>
            </a:pPr>
            <a:r>
              <a:t>دراسة تأصيلية وتطبيقية لتطوير منصة تفاعلية متكاملة للتقييم الأمني والتوعية السيبرانية الذكية</a:t>
            </a:r>
          </a:p>
          <a:p>
            <a:pPr algn="ctr">
              <a:defRPr sz="2000" b="1">
                <a:solidFill>
                  <a:srgbClr val="00E5FF"/>
                </a:solidFill>
                <a:latin typeface="Cairo"/>
              </a:defRPr>
            </a:pPr>
            <a:r>
              <a:t>CyberShield Platform</a:t>
            </a:r>
          </a:p>
        </p:txBody>
      </p:sp>
      <p:sp>
        <p:nvSpPr>
          <p:cNvPr id="5" name="Rounded Rectangle 4"/>
          <p:cNvSpPr/>
          <p:nvPr/>
        </p:nvSpPr>
        <p:spPr>
          <a:xfrm>
            <a:off x="914400" y="3840480"/>
            <a:ext cx="4937760" cy="22860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4023360"/>
            <a:ext cx="4572000" cy="1920240"/>
          </a:xfrm>
          <a:prstGeom prst="rect">
            <a:avLst/>
          </a:prstGeom>
          <a:noFill/>
        </p:spPr>
        <p:txBody>
          <a:bodyPr wrap="square">
            <a:spAutoFit/>
          </a:bodyPr>
          <a:lstStyle/>
          <a:p>
            <a:pPr algn="r">
              <a:spcAft>
                <a:spcPts val="600"/>
              </a:spcAft>
              <a:defRPr sz="1400" b="1">
                <a:solidFill>
                  <a:srgbClr val="00E5FF"/>
                </a:solidFill>
                <a:latin typeface="Cairo"/>
              </a:defRPr>
            </a:pPr>
            <a:r>
              <a:t>👥 إعداد الطالبات:</a:t>
            </a:r>
          </a:p>
          <a:p>
            <a:pPr algn="r">
              <a:spcAft>
                <a:spcPts val="200"/>
              </a:spcAft>
              <a:defRPr sz="1200">
                <a:solidFill>
                  <a:srgbClr val="E2E8F0"/>
                </a:solidFill>
                <a:latin typeface="Cairo"/>
              </a:defRPr>
            </a:pPr>
            <a:r>
              <a:t>1. رؤى عبدالله</a:t>
            </a:r>
          </a:p>
          <a:p>
            <a:pPr algn="r">
              <a:spcAft>
                <a:spcPts val="200"/>
              </a:spcAft>
              <a:defRPr sz="1200">
                <a:solidFill>
                  <a:srgbClr val="E2E8F0"/>
                </a:solidFill>
                <a:latin typeface="Cairo"/>
              </a:defRPr>
            </a:pPr>
            <a:r>
              <a:t>2. غالية محمد</a:t>
            </a:r>
          </a:p>
          <a:p>
            <a:pPr algn="r">
              <a:spcAft>
                <a:spcPts val="200"/>
              </a:spcAft>
              <a:defRPr sz="1200">
                <a:solidFill>
                  <a:srgbClr val="E2E8F0"/>
                </a:solidFill>
                <a:latin typeface="Cairo"/>
              </a:defRPr>
            </a:pPr>
            <a:r>
              <a:t>3. ريم كليبي</a:t>
            </a:r>
          </a:p>
          <a:p>
            <a:pPr algn="r">
              <a:spcAft>
                <a:spcPts val="200"/>
              </a:spcAft>
              <a:defRPr sz="1200">
                <a:solidFill>
                  <a:srgbClr val="E2E8F0"/>
                </a:solidFill>
                <a:latin typeface="Cairo"/>
              </a:defRPr>
            </a:pPr>
            <a:r>
              <a:t>4. لولوه فهد</a:t>
            </a:r>
          </a:p>
          <a:p>
            <a:pPr algn="r">
              <a:spcAft>
                <a:spcPts val="200"/>
              </a:spcAft>
              <a:defRPr sz="1200">
                <a:solidFill>
                  <a:srgbClr val="E2E8F0"/>
                </a:solidFill>
                <a:latin typeface="Cairo"/>
              </a:defRPr>
            </a:pPr>
            <a:r>
              <a:t>5. روابي موسى</a:t>
            </a:r>
          </a:p>
          <a:p>
            <a:pPr algn="r">
              <a:spcAft>
                <a:spcPts val="200"/>
              </a:spcAft>
              <a:defRPr sz="1200">
                <a:solidFill>
                  <a:srgbClr val="E2E8F0"/>
                </a:solidFill>
                <a:latin typeface="Cairo"/>
              </a:defRPr>
            </a:pPr>
            <a:r>
              <a:t>6. حسناء أحمد</a:t>
            </a:r>
          </a:p>
        </p:txBody>
      </p:sp>
      <p:sp>
        <p:nvSpPr>
          <p:cNvPr id="7" name="Rounded Rectangle 6"/>
          <p:cNvSpPr/>
          <p:nvPr/>
        </p:nvSpPr>
        <p:spPr>
          <a:xfrm>
            <a:off x="6339535" y="3840480"/>
            <a:ext cx="4937760" cy="22860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22415" y="4023360"/>
            <a:ext cx="4572000" cy="1920240"/>
          </a:xfrm>
          <a:prstGeom prst="rect">
            <a:avLst/>
          </a:prstGeom>
          <a:noFill/>
        </p:spPr>
        <p:txBody>
          <a:bodyPr wrap="square">
            <a:spAutoFit/>
          </a:bodyPr>
          <a:lstStyle/>
          <a:p>
            <a:pPr algn="r">
              <a:spcAft>
                <a:spcPts val="600"/>
              </a:spcAft>
              <a:defRPr sz="1400" b="1">
                <a:solidFill>
                  <a:srgbClr val="10B981"/>
                </a:solidFill>
                <a:latin typeface="Cairo"/>
              </a:defRPr>
            </a:pPr>
            <a:r>
              <a:t>🎓 إشراف المدربة القديرة:</a:t>
            </a:r>
          </a:p>
          <a:p>
            <a:pPr algn="r">
              <a:spcAft>
                <a:spcPts val="1600"/>
              </a:spcAft>
              <a:defRPr sz="1600" b="1">
                <a:solidFill>
                  <a:srgbClr val="FFFFFF"/>
                </a:solidFill>
                <a:latin typeface="Cairo"/>
              </a:defRPr>
            </a:pPr>
            <a:r>
              <a:t>الأستاذة / عفاف أحمد</a:t>
            </a:r>
          </a:p>
          <a:p>
            <a:pPr algn="r">
              <a:spcAft>
                <a:spcPts val="400"/>
              </a:spcAft>
              <a:defRPr sz="1300" b="1">
                <a:solidFill>
                  <a:srgbClr val="F59E0B"/>
                </a:solidFill>
                <a:latin typeface="Cairo"/>
              </a:defRPr>
            </a:pPr>
            <a:r>
              <a:t>📅 العام الجامعي:</a:t>
            </a:r>
          </a:p>
          <a:p>
            <a:pPr algn="r">
              <a:defRPr sz="1400">
                <a:solidFill>
                  <a:srgbClr val="E2E8F0"/>
                </a:solidFill>
                <a:latin typeface="Cairo"/>
              </a:defRPr>
            </a:pPr>
            <a:r>
              <a:t>1448هـ – 1449هـ</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المقدمة والمدخل التأصيلي لموضوع البحث</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728655" cy="12801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292840" y="1783080"/>
            <a:ext cx="91440" cy="100584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83080"/>
            <a:ext cx="10241280" cy="1005840"/>
          </a:xfrm>
          <a:prstGeom prst="rect">
            <a:avLst/>
          </a:prstGeom>
          <a:noFill/>
        </p:spPr>
        <p:txBody>
          <a:bodyPr wrap="square">
            <a:spAutoFit/>
          </a:bodyPr>
          <a:lstStyle/>
          <a:p>
            <a:pPr algn="r">
              <a:spcAft>
                <a:spcPts val="400"/>
              </a:spcAft>
              <a:defRPr sz="1600" b="1">
                <a:solidFill>
                  <a:srgbClr val="00E5FF"/>
                </a:solidFill>
                <a:latin typeface="Cairo"/>
              </a:defRPr>
            </a:pPr>
            <a:r>
              <a:t>🌐 التحول الرقمي المتسارع</a:t>
            </a:r>
          </a:p>
          <a:p>
            <a:pPr algn="r">
              <a:defRPr sz="1300">
                <a:solidFill>
                  <a:srgbClr val="E2E8F0"/>
                </a:solidFill>
                <a:latin typeface="Cairo"/>
              </a:defRPr>
            </a:pPr>
            <a:r>
              <a:t>شهد العصر الحالي تحولاً رقمياً شاملاً في كافة القطاعات الحيوية (المصرفية، التعليمية، والحكومية)، مما جعل الفضاء السيبراني عصب الحياة اليومية ورفع قيمة الأصول الرقمية.</a:t>
            </a:r>
          </a:p>
        </p:txBody>
      </p:sp>
      <p:sp>
        <p:nvSpPr>
          <p:cNvPr id="8" name="Rounded Rectangle 7"/>
          <p:cNvSpPr/>
          <p:nvPr/>
        </p:nvSpPr>
        <p:spPr>
          <a:xfrm>
            <a:off x="731520" y="3200400"/>
            <a:ext cx="10728655" cy="12801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92840" y="3337560"/>
            <a:ext cx="91440" cy="100584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337560"/>
            <a:ext cx="10241280" cy="1005840"/>
          </a:xfrm>
          <a:prstGeom prst="rect">
            <a:avLst/>
          </a:prstGeom>
          <a:noFill/>
        </p:spPr>
        <p:txBody>
          <a:bodyPr wrap="square">
            <a:spAutoFit/>
          </a:bodyPr>
          <a:lstStyle/>
          <a:p>
            <a:pPr algn="r">
              <a:spcAft>
                <a:spcPts val="400"/>
              </a:spcAft>
              <a:defRPr sz="1600" b="1">
                <a:solidFill>
                  <a:srgbClr val="F59E0B"/>
                </a:solidFill>
                <a:latin typeface="Cairo"/>
              </a:defRPr>
            </a:pPr>
            <a:r>
              <a:t>⚠️ تطور التهديدات المعاصرة</a:t>
            </a:r>
          </a:p>
          <a:p>
            <a:pPr algn="r">
              <a:defRPr sz="1300">
                <a:solidFill>
                  <a:srgbClr val="E2E8F0"/>
                </a:solidFill>
                <a:latin typeface="Cairo"/>
              </a:defRPr>
            </a:pPr>
            <a:r>
              <a:t>انتقلت الجرائم الإلكترونية من الهجمات العشوائية البسيطة إلى هجمات ذكية ومنظمة تستهدف سرقة الهويات، الاحتيال المالي، وتسريب البيانات الحساسة عبر تقنيات متعددة.</a:t>
            </a:r>
          </a:p>
        </p:txBody>
      </p:sp>
      <p:sp>
        <p:nvSpPr>
          <p:cNvPr id="11" name="Rounded Rectangle 10"/>
          <p:cNvSpPr/>
          <p:nvPr/>
        </p:nvSpPr>
        <p:spPr>
          <a:xfrm>
            <a:off x="731520" y="4754880"/>
            <a:ext cx="10728655" cy="12801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292840" y="4892040"/>
            <a:ext cx="91440" cy="100584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892040"/>
            <a:ext cx="10241280" cy="1005840"/>
          </a:xfrm>
          <a:prstGeom prst="rect">
            <a:avLst/>
          </a:prstGeom>
          <a:noFill/>
        </p:spPr>
        <p:txBody>
          <a:bodyPr wrap="square">
            <a:spAutoFit/>
          </a:bodyPr>
          <a:lstStyle/>
          <a:p>
            <a:pPr algn="r">
              <a:spcAft>
                <a:spcPts val="400"/>
              </a:spcAft>
              <a:defRPr sz="1600" b="1">
                <a:solidFill>
                  <a:srgbClr val="10B981"/>
                </a:solidFill>
                <a:latin typeface="Cairo"/>
              </a:defRPr>
            </a:pPr>
            <a:r>
              <a:t>🎯 استهداف العنصر البشري</a:t>
            </a:r>
          </a:p>
          <a:p>
            <a:pPr algn="r">
              <a:defRPr sz="1300">
                <a:solidFill>
                  <a:srgbClr val="E2E8F0"/>
                </a:solidFill>
                <a:latin typeface="Cairo"/>
              </a:defRPr>
            </a:pPr>
            <a:r>
              <a:t>تؤكد التقارير الأمنية الدولية أن أكثر من 85% من الاختراقات الناجحة تعود إلى ثغرات في سلوك المستخدم البشري؛ حيث يركز المهاجمون على أساليب الهندسة الاجتماعية (Social Engineering).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مشكلة البحث ومبررات المشروع</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42255" cy="146304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876495" cy="1188720"/>
          </a:xfrm>
          <a:prstGeom prst="rect">
            <a:avLst/>
          </a:prstGeom>
          <a:noFill/>
        </p:spPr>
        <p:txBody>
          <a:bodyPr wrap="square">
            <a:spAutoFit/>
          </a:bodyPr>
          <a:lstStyle/>
          <a:p>
            <a:pPr algn="r">
              <a:spcAft>
                <a:spcPts val="400"/>
              </a:spcAft>
              <a:defRPr sz="1500" b="1">
                <a:solidFill>
                  <a:srgbClr val="F59E0B"/>
                </a:solidFill>
                <a:latin typeface="Cairo"/>
              </a:defRPr>
            </a:pPr>
            <a:r>
              <a:t>1. استهداف الحلقة الأضعف</a:t>
            </a:r>
          </a:p>
          <a:p>
            <a:pPr algn="r">
              <a:defRPr sz="1200">
                <a:solidFill>
                  <a:srgbClr val="E2E8F0"/>
                </a:solidFill>
                <a:latin typeface="Cairo"/>
              </a:defRPr>
            </a:pPr>
            <a:r>
              <a:t>تركيز الهجمات على المشاعر النفسية (كالاستعجال، الفضول، أو الخوف) لإيقاع الضحايا في فخ التصيد دون إدراك.</a:t>
            </a:r>
          </a:p>
        </p:txBody>
      </p:sp>
      <p:sp>
        <p:nvSpPr>
          <p:cNvPr id="7" name="Rounded Rectangle 6"/>
          <p:cNvSpPr/>
          <p:nvPr/>
        </p:nvSpPr>
        <p:spPr>
          <a:xfrm>
            <a:off x="6217920" y="1645920"/>
            <a:ext cx="5242255" cy="146304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76495" cy="1188720"/>
          </a:xfrm>
          <a:prstGeom prst="rect">
            <a:avLst/>
          </a:prstGeom>
          <a:noFill/>
        </p:spPr>
        <p:txBody>
          <a:bodyPr wrap="square">
            <a:spAutoFit/>
          </a:bodyPr>
          <a:lstStyle/>
          <a:p>
            <a:pPr algn="r">
              <a:spcAft>
                <a:spcPts val="400"/>
              </a:spcAft>
              <a:defRPr sz="1500" b="1">
                <a:solidFill>
                  <a:srgbClr val="F59E0B"/>
                </a:solidFill>
                <a:latin typeface="Cairo"/>
              </a:defRPr>
            </a:pPr>
            <a:r>
              <a:t>2. قصور التوعية التقليدية</a:t>
            </a:r>
          </a:p>
          <a:p>
            <a:pPr algn="r">
              <a:defRPr sz="1200">
                <a:solidFill>
                  <a:srgbClr val="E2E8F0"/>
                </a:solidFill>
                <a:latin typeface="Cairo"/>
              </a:defRPr>
            </a:pPr>
            <a:r>
              <a:t>اعتماد البرامج الحالية على المحاضرات النظرية والمطويات الصامتة التي تفشل في بناء المهارة السلوكية والتطبيقية.</a:t>
            </a:r>
          </a:p>
        </p:txBody>
      </p:sp>
      <p:sp>
        <p:nvSpPr>
          <p:cNvPr id="9" name="Rounded Rectangle 8"/>
          <p:cNvSpPr/>
          <p:nvPr/>
        </p:nvSpPr>
        <p:spPr>
          <a:xfrm>
            <a:off x="731520" y="3291840"/>
            <a:ext cx="5242255" cy="146304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429000"/>
            <a:ext cx="4876495" cy="1188720"/>
          </a:xfrm>
          <a:prstGeom prst="rect">
            <a:avLst/>
          </a:prstGeom>
          <a:noFill/>
        </p:spPr>
        <p:txBody>
          <a:bodyPr wrap="square">
            <a:spAutoFit/>
          </a:bodyPr>
          <a:lstStyle/>
          <a:p>
            <a:pPr algn="r">
              <a:spcAft>
                <a:spcPts val="400"/>
              </a:spcAft>
              <a:defRPr sz="1500" b="1">
                <a:solidFill>
                  <a:srgbClr val="F59E0B"/>
                </a:solidFill>
                <a:latin typeface="Cairo"/>
              </a:defRPr>
            </a:pPr>
            <a:r>
              <a:t>3. انعدام بيئات المحاكاة الآمنة</a:t>
            </a:r>
          </a:p>
          <a:p>
            <a:pPr algn="r">
              <a:defRPr sz="1200">
                <a:solidFill>
                  <a:srgbClr val="E2E8F0"/>
                </a:solidFill>
                <a:latin typeface="Cairo"/>
              </a:defRPr>
            </a:pPr>
            <a:r>
              <a:t>افتقار الطلاب والمتدربين إلى بيئات افتراضية معزولة (Sandboxes) تمكنهم من ممارسة اتخاذ القرار الأمني دون مخاطرة.</a:t>
            </a:r>
          </a:p>
        </p:txBody>
      </p:sp>
      <p:sp>
        <p:nvSpPr>
          <p:cNvPr id="11" name="Rounded Rectangle 10"/>
          <p:cNvSpPr/>
          <p:nvPr/>
        </p:nvSpPr>
        <p:spPr>
          <a:xfrm>
            <a:off x="6217920" y="3291840"/>
            <a:ext cx="5242255" cy="146304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3429000"/>
            <a:ext cx="4876495" cy="1188720"/>
          </a:xfrm>
          <a:prstGeom prst="rect">
            <a:avLst/>
          </a:prstGeom>
          <a:noFill/>
        </p:spPr>
        <p:txBody>
          <a:bodyPr wrap="square">
            <a:spAutoFit/>
          </a:bodyPr>
          <a:lstStyle/>
          <a:p>
            <a:pPr algn="r">
              <a:spcAft>
                <a:spcPts val="400"/>
              </a:spcAft>
              <a:defRPr sz="1500" b="1">
                <a:solidFill>
                  <a:srgbClr val="F59E0B"/>
                </a:solidFill>
                <a:latin typeface="Cairo"/>
              </a:defRPr>
            </a:pPr>
            <a:r>
              <a:t>4. صعوبة التحقق الذاتي من التهديدات</a:t>
            </a:r>
          </a:p>
          <a:p>
            <a:pPr algn="r">
              <a:defRPr sz="1200">
                <a:solidFill>
                  <a:srgbClr val="E2E8F0"/>
                </a:solidFill>
                <a:latin typeface="Cairo"/>
              </a:defRPr>
            </a:pPr>
            <a:r>
              <a:t>عدم توفر أدوات سهلة ومحلية تمكن الفرد من فحص الروابط والنصوص المشبوهة دون تعريض جهازه للتهديد.</a:t>
            </a:r>
          </a:p>
        </p:txBody>
      </p:sp>
      <p:sp>
        <p:nvSpPr>
          <p:cNvPr id="13" name="Rounded Rectangle 12"/>
          <p:cNvSpPr/>
          <p:nvPr/>
        </p:nvSpPr>
        <p:spPr>
          <a:xfrm>
            <a:off x="731520" y="4937760"/>
            <a:ext cx="10728655" cy="1280160"/>
          </a:xfrm>
          <a:prstGeom prst="roundRect">
            <a:avLst/>
          </a:prstGeom>
          <a:solidFill>
            <a:srgbClr val="162035"/>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029200"/>
            <a:ext cx="10362895" cy="1097280"/>
          </a:xfrm>
          <a:prstGeom prst="rect">
            <a:avLst/>
          </a:prstGeom>
          <a:noFill/>
        </p:spPr>
        <p:txBody>
          <a:bodyPr wrap="square">
            <a:spAutoFit/>
          </a:bodyPr>
          <a:lstStyle/>
          <a:p>
            <a:pPr algn="r">
              <a:spcAft>
                <a:spcPts val="400"/>
              </a:spcAft>
              <a:defRPr sz="1400" b="1">
                <a:solidFill>
                  <a:srgbClr val="00E5FF"/>
                </a:solidFill>
                <a:latin typeface="Cairo"/>
              </a:defRPr>
            </a:pPr>
            <a:r>
              <a:t>❓ السؤال الرئيس لمشروع البحث:</a:t>
            </a:r>
          </a:p>
          <a:p>
            <a:pPr algn="r">
              <a:defRPr sz="1300" b="1">
                <a:solidFill>
                  <a:srgbClr val="FFFFFF"/>
                </a:solidFill>
                <a:latin typeface="Cairo"/>
              </a:defRPr>
            </a:pPr>
            <a:r>
              <a:t>"كيف يمكن بناء وتطوير منصة تعليمية تفاعلية متكاملة تسهم بفاعلية في تقييم ورفع مستوى الوعي الأمني للمستخدمين ضد مختلف أنماط الجرائم الإلكترونية عبر بيئة محاكاة واختبارات ذكية وآمنة؟"</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أهمية المشروع وأبعاده المتعددة</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42255" cy="201168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852160" y="1828800"/>
            <a:ext cx="91440" cy="164592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1645920"/>
          </a:xfrm>
          <a:prstGeom prst="rect">
            <a:avLst/>
          </a:prstGeom>
          <a:noFill/>
        </p:spPr>
        <p:txBody>
          <a:bodyPr wrap="square">
            <a:spAutoFit/>
          </a:bodyPr>
          <a:lstStyle/>
          <a:p>
            <a:pPr algn="r">
              <a:spcAft>
                <a:spcPts val="800"/>
              </a:spcAft>
              <a:defRPr sz="1600" b="1">
                <a:solidFill>
                  <a:srgbClr val="00E5FF"/>
                </a:solidFill>
                <a:latin typeface="Cairo"/>
              </a:defRPr>
            </a:pPr>
            <a:r>
              <a:t>الأهمية الأكاديمية والعلمية</a:t>
            </a:r>
          </a:p>
          <a:p>
            <a:pPr algn="r">
              <a:defRPr sz="1300">
                <a:solidFill>
                  <a:srgbClr val="E2E8F0"/>
                </a:solidFill>
                <a:latin typeface="Cairo"/>
              </a:defRPr>
            </a:pPr>
            <a:r>
              <a:t>إثراء المحتوى العلمي العربي في هندسة السلوك السيبراني، وتقديم دراسة موثقة تجمع بين المعايير التربوية والتحقق البرمجي المعملي الشامل.</a:t>
            </a:r>
          </a:p>
        </p:txBody>
      </p:sp>
      <p:sp>
        <p:nvSpPr>
          <p:cNvPr id="8" name="Rounded Rectangle 7"/>
          <p:cNvSpPr/>
          <p:nvPr/>
        </p:nvSpPr>
        <p:spPr>
          <a:xfrm>
            <a:off x="6217920" y="1645920"/>
            <a:ext cx="5242255" cy="201168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338560" y="1828800"/>
            <a:ext cx="91440" cy="16459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1828800"/>
            <a:ext cx="4846320" cy="1645920"/>
          </a:xfrm>
          <a:prstGeom prst="rect">
            <a:avLst/>
          </a:prstGeom>
          <a:noFill/>
        </p:spPr>
        <p:txBody>
          <a:bodyPr wrap="square">
            <a:spAutoFit/>
          </a:bodyPr>
          <a:lstStyle/>
          <a:p>
            <a:pPr algn="r">
              <a:spcAft>
                <a:spcPts val="800"/>
              </a:spcAft>
              <a:defRPr sz="1600" b="1">
                <a:solidFill>
                  <a:srgbClr val="10B981"/>
                </a:solidFill>
                <a:latin typeface="Cairo"/>
              </a:defRPr>
            </a:pPr>
            <a:r>
              <a:t>الأهمية التقنية والأمنية</a:t>
            </a:r>
          </a:p>
          <a:p>
            <a:pPr algn="r">
              <a:defRPr sz="1300">
                <a:solidFill>
                  <a:srgbClr val="E2E8F0"/>
                </a:solidFill>
                <a:latin typeface="Cairo"/>
              </a:defRPr>
            </a:pPr>
            <a:r>
              <a:t>تطوير منصة ويب متطورة تطبق أعلى معايير الحماية (RBAC, IDOR, CSP) وتوفر أدوات فحص استدلالي محلي للروابط دون الاتصال بمواقع خبيثة.</a:t>
            </a:r>
          </a:p>
        </p:txBody>
      </p:sp>
      <p:sp>
        <p:nvSpPr>
          <p:cNvPr id="11" name="Rounded Rectangle 10"/>
          <p:cNvSpPr/>
          <p:nvPr/>
        </p:nvSpPr>
        <p:spPr>
          <a:xfrm>
            <a:off x="731520" y="3931920"/>
            <a:ext cx="5242255" cy="201168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52160" y="4114800"/>
            <a:ext cx="91440" cy="16459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14800"/>
            <a:ext cx="4846320" cy="1645920"/>
          </a:xfrm>
          <a:prstGeom prst="rect">
            <a:avLst/>
          </a:prstGeom>
          <a:noFill/>
        </p:spPr>
        <p:txBody>
          <a:bodyPr wrap="square">
            <a:spAutoFit/>
          </a:bodyPr>
          <a:lstStyle/>
          <a:p>
            <a:pPr algn="r">
              <a:spcAft>
                <a:spcPts val="800"/>
              </a:spcAft>
              <a:defRPr sz="1600" b="1">
                <a:solidFill>
                  <a:srgbClr val="F59E0B"/>
                </a:solidFill>
                <a:latin typeface="Cairo"/>
              </a:defRPr>
            </a:pPr>
            <a:r>
              <a:t>الأهمية المجتمعية والوطنية</a:t>
            </a:r>
          </a:p>
          <a:p>
            <a:pPr algn="r">
              <a:defRPr sz="1300">
                <a:solidFill>
                  <a:srgbClr val="E2E8F0"/>
                </a:solidFill>
                <a:latin typeface="Cairo"/>
              </a:defRPr>
            </a:pPr>
            <a:r>
              <a:t>تعزيز ثقافة الأمن السيبراني لدى الطلاب والمجتمع، دعماً لمستهدفات رؤية المملكة 2030 في التحول الرقمي الآمن وصون الفضاء السيبراني.</a:t>
            </a:r>
          </a:p>
        </p:txBody>
      </p:sp>
      <p:sp>
        <p:nvSpPr>
          <p:cNvPr id="14" name="Rounded Rectangle 13"/>
          <p:cNvSpPr/>
          <p:nvPr/>
        </p:nvSpPr>
        <p:spPr>
          <a:xfrm>
            <a:off x="6217920" y="3931920"/>
            <a:ext cx="5242255" cy="201168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338560" y="4114800"/>
            <a:ext cx="91440" cy="1645920"/>
          </a:xfrm>
          <a:prstGeom prst="rect">
            <a:avLst/>
          </a:prstGeom>
          <a:solidFill>
            <a:srgbClr val="EC48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4114800"/>
            <a:ext cx="4846320" cy="1645920"/>
          </a:xfrm>
          <a:prstGeom prst="rect">
            <a:avLst/>
          </a:prstGeom>
          <a:noFill/>
        </p:spPr>
        <p:txBody>
          <a:bodyPr wrap="square">
            <a:spAutoFit/>
          </a:bodyPr>
          <a:lstStyle/>
          <a:p>
            <a:pPr algn="r">
              <a:spcAft>
                <a:spcPts val="800"/>
              </a:spcAft>
              <a:defRPr sz="1600" b="1">
                <a:solidFill>
                  <a:srgbClr val="EC4899"/>
                </a:solidFill>
                <a:latin typeface="Cairo"/>
              </a:defRPr>
            </a:pPr>
            <a:r>
              <a:t>الأهمية الوقائية والاقتصادية</a:t>
            </a:r>
          </a:p>
          <a:p>
            <a:pPr algn="r">
              <a:defRPr sz="1300">
                <a:solidFill>
                  <a:srgbClr val="E2E8F0"/>
                </a:solidFill>
                <a:latin typeface="Cairo"/>
              </a:defRPr>
            </a:pPr>
            <a:r>
              <a:t>ترسيخ مبدأ 'الأمن الاستباقي' الذي يقلل تكاليف وخسائر التعافي من الاختراقات والاحتيال المالي بنسب تتجاوز 70% عند تدريب المستخدم بكفاءة.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أهداف المشروع (الهدف العام والأهداف الفرعية)</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728655" cy="1280160"/>
          </a:xfrm>
          <a:prstGeom prst="roundRect">
            <a:avLst/>
          </a:prstGeom>
          <a:solidFill>
            <a:srgbClr val="162035"/>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37360"/>
            <a:ext cx="10362895" cy="1097280"/>
          </a:xfrm>
          <a:prstGeom prst="rect">
            <a:avLst/>
          </a:prstGeom>
          <a:noFill/>
        </p:spPr>
        <p:txBody>
          <a:bodyPr wrap="square">
            <a:spAutoFit/>
          </a:bodyPr>
          <a:lstStyle/>
          <a:p>
            <a:pPr algn="r">
              <a:spcAft>
                <a:spcPts val="400"/>
              </a:spcAft>
              <a:defRPr sz="1500" b="1">
                <a:solidFill>
                  <a:srgbClr val="00E5FF"/>
                </a:solidFill>
                <a:latin typeface="Cairo"/>
              </a:defRPr>
            </a:pPr>
            <a:r>
              <a:t>🎯 الهدف العام للمشروع:</a:t>
            </a:r>
          </a:p>
          <a:p>
            <a:pPr algn="r">
              <a:defRPr sz="1300">
                <a:solidFill>
                  <a:srgbClr val="FFFFFF"/>
                </a:solidFill>
                <a:latin typeface="Cairo"/>
              </a:defRPr>
            </a:pPr>
            <a:r>
              <a:t>تطوير منصة ويب تفاعلية ذكية ومتكاملة (CyberShield Platform) تسهم في تقييم ورفع الوعي الأمني للمستخدمين وحمايتهم من الجرائم الإلكترونية عبر مسار تعليمي مقنن، وسيناريوهات محاكاة واقعية، وأدوات فحص آمنة.</a:t>
            </a:r>
          </a:p>
        </p:txBody>
      </p:sp>
      <p:sp>
        <p:nvSpPr>
          <p:cNvPr id="7" name="Rounded Rectangle 6"/>
          <p:cNvSpPr/>
          <p:nvPr/>
        </p:nvSpPr>
        <p:spPr>
          <a:xfrm>
            <a:off x="731520" y="3108960"/>
            <a:ext cx="5242255" cy="96012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3200400"/>
            <a:ext cx="4937760" cy="777240"/>
          </a:xfrm>
          <a:prstGeom prst="rect">
            <a:avLst/>
          </a:prstGeom>
          <a:noFill/>
        </p:spPr>
        <p:txBody>
          <a:bodyPr wrap="square">
            <a:spAutoFit/>
          </a:bodyPr>
          <a:lstStyle/>
          <a:p>
            <a:pPr algn="r">
              <a:defRPr sz="1300" b="1">
                <a:solidFill>
                  <a:srgbClr val="10B981"/>
                </a:solidFill>
                <a:latin typeface="Cairo"/>
              </a:defRPr>
            </a:pPr>
            <a:r>
              <a:t>1. التشخيص الأولي</a:t>
            </a:r>
          </a:p>
          <a:p>
            <a:pPr algn="r">
              <a:defRPr sz="1100">
                <a:solidFill>
                  <a:srgbClr val="E2E8F0"/>
                </a:solidFill>
                <a:latin typeface="Cairo"/>
              </a:defRPr>
            </a:pPr>
            <a:r>
              <a:t>قياس مستوى الوعي المعرفي عبر تقييم قبلي (Pre-Assessment) لتحديد خط الأساس.</a:t>
            </a:r>
          </a:p>
        </p:txBody>
      </p:sp>
      <p:sp>
        <p:nvSpPr>
          <p:cNvPr id="9" name="Rounded Rectangle 8"/>
          <p:cNvSpPr/>
          <p:nvPr/>
        </p:nvSpPr>
        <p:spPr>
          <a:xfrm>
            <a:off x="6217920" y="3108960"/>
            <a:ext cx="5242255" cy="96012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3200400"/>
            <a:ext cx="4937760" cy="777240"/>
          </a:xfrm>
          <a:prstGeom prst="rect">
            <a:avLst/>
          </a:prstGeom>
          <a:noFill/>
        </p:spPr>
        <p:txBody>
          <a:bodyPr wrap="square">
            <a:spAutoFit/>
          </a:bodyPr>
          <a:lstStyle/>
          <a:p>
            <a:pPr algn="r">
              <a:defRPr sz="1300" b="1">
                <a:solidFill>
                  <a:srgbClr val="10B981"/>
                </a:solidFill>
                <a:latin typeface="Cairo"/>
              </a:defRPr>
            </a:pPr>
            <a:r>
              <a:t>2. مسار تعليمي مقنن</a:t>
            </a:r>
          </a:p>
          <a:p>
            <a:pPr algn="r">
              <a:defRPr sz="1100">
                <a:solidFill>
                  <a:srgbClr val="E2E8F0"/>
                </a:solidFill>
                <a:latin typeface="Cairo"/>
              </a:defRPr>
            </a:pPr>
            <a:r>
              <a:t>تغطية 7 وحدات أساسية للجرائم الإلكترونية بالوسائط والتوضيحات العملية.</a:t>
            </a:r>
          </a:p>
        </p:txBody>
      </p:sp>
      <p:sp>
        <p:nvSpPr>
          <p:cNvPr id="11" name="Rounded Rectangle 10"/>
          <p:cNvSpPr/>
          <p:nvPr/>
        </p:nvSpPr>
        <p:spPr>
          <a:xfrm>
            <a:off x="731520" y="4206240"/>
            <a:ext cx="5242255" cy="96012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297680"/>
            <a:ext cx="4937760" cy="777240"/>
          </a:xfrm>
          <a:prstGeom prst="rect">
            <a:avLst/>
          </a:prstGeom>
          <a:noFill/>
        </p:spPr>
        <p:txBody>
          <a:bodyPr wrap="square">
            <a:spAutoFit/>
          </a:bodyPr>
          <a:lstStyle/>
          <a:p>
            <a:pPr algn="r">
              <a:defRPr sz="1300" b="1">
                <a:solidFill>
                  <a:srgbClr val="10B981"/>
                </a:solidFill>
                <a:latin typeface="Cairo"/>
              </a:defRPr>
            </a:pPr>
            <a:r>
              <a:t>3. محاكاة السيناريوهات</a:t>
            </a:r>
          </a:p>
          <a:p>
            <a:pPr algn="r">
              <a:defRPr sz="1100">
                <a:solidFill>
                  <a:srgbClr val="E2E8F0"/>
                </a:solidFill>
                <a:latin typeface="Cairo"/>
              </a:defRPr>
            </a:pPr>
            <a:r>
              <a:t>تطوير مواقف تفاعلية متعددة الخطوات تدرب المستخدم على اتخاذ القرار الأمني.</a:t>
            </a:r>
          </a:p>
        </p:txBody>
      </p:sp>
      <p:sp>
        <p:nvSpPr>
          <p:cNvPr id="13" name="Rounded Rectangle 12"/>
          <p:cNvSpPr/>
          <p:nvPr/>
        </p:nvSpPr>
        <p:spPr>
          <a:xfrm>
            <a:off x="6217920" y="4206240"/>
            <a:ext cx="5242255" cy="96012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4297680"/>
            <a:ext cx="4937760" cy="777240"/>
          </a:xfrm>
          <a:prstGeom prst="rect">
            <a:avLst/>
          </a:prstGeom>
          <a:noFill/>
        </p:spPr>
        <p:txBody>
          <a:bodyPr wrap="square">
            <a:spAutoFit/>
          </a:bodyPr>
          <a:lstStyle/>
          <a:p>
            <a:pPr algn="r">
              <a:defRPr sz="1300" b="1">
                <a:solidFill>
                  <a:srgbClr val="10B981"/>
                </a:solidFill>
                <a:latin typeface="Cairo"/>
              </a:defRPr>
            </a:pPr>
            <a:r>
              <a:t>4. المحلل الآمن (Safe Analyzer)</a:t>
            </a:r>
          </a:p>
          <a:p>
            <a:pPr algn="r">
              <a:defRPr sz="1100">
                <a:solidFill>
                  <a:srgbClr val="E2E8F0"/>
                </a:solidFill>
                <a:latin typeface="Cairo"/>
              </a:defRPr>
            </a:pPr>
            <a:r>
              <a:t>توفير أدوات فحص استدلالي محلي للروابط والرسائل المشبوهة دون مخاطرة.</a:t>
            </a:r>
          </a:p>
        </p:txBody>
      </p:sp>
      <p:sp>
        <p:nvSpPr>
          <p:cNvPr id="15" name="Rounded Rectangle 14"/>
          <p:cNvSpPr/>
          <p:nvPr/>
        </p:nvSpPr>
        <p:spPr>
          <a:xfrm>
            <a:off x="731520" y="5303520"/>
            <a:ext cx="5242255" cy="96012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5394960"/>
            <a:ext cx="4937760" cy="777240"/>
          </a:xfrm>
          <a:prstGeom prst="rect">
            <a:avLst/>
          </a:prstGeom>
          <a:noFill/>
        </p:spPr>
        <p:txBody>
          <a:bodyPr wrap="square">
            <a:spAutoFit/>
          </a:bodyPr>
          <a:lstStyle/>
          <a:p>
            <a:pPr algn="r">
              <a:defRPr sz="1300" b="1">
                <a:solidFill>
                  <a:srgbClr val="10B981"/>
                </a:solidFill>
                <a:latin typeface="Cairo"/>
              </a:defRPr>
            </a:pPr>
            <a:r>
              <a:t>5. قياس نسبة التحسن</a:t>
            </a:r>
          </a:p>
          <a:p>
            <a:pPr algn="r">
              <a:defRPr sz="1100">
                <a:solidFill>
                  <a:srgbClr val="E2E8F0"/>
                </a:solidFill>
                <a:latin typeface="Cairo"/>
              </a:defRPr>
            </a:pPr>
            <a:r>
              <a:t>إجراء تقييم بعدي ومقارنته بالقبلي لتوليد توصيات مخصصة لعلاج نقاط الضعف.</a:t>
            </a:r>
          </a:p>
        </p:txBody>
      </p:sp>
      <p:sp>
        <p:nvSpPr>
          <p:cNvPr id="17" name="Rounded Rectangle 16"/>
          <p:cNvSpPr/>
          <p:nvPr/>
        </p:nvSpPr>
        <p:spPr>
          <a:xfrm>
            <a:off x="6217920" y="5303520"/>
            <a:ext cx="5242255" cy="96012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5394960"/>
            <a:ext cx="4937760" cy="777240"/>
          </a:xfrm>
          <a:prstGeom prst="rect">
            <a:avLst/>
          </a:prstGeom>
          <a:noFill/>
        </p:spPr>
        <p:txBody>
          <a:bodyPr wrap="square">
            <a:spAutoFit/>
          </a:bodyPr>
          <a:lstStyle/>
          <a:p>
            <a:pPr algn="r">
              <a:defRPr sz="1300" b="1">
                <a:solidFill>
                  <a:srgbClr val="10B981"/>
                </a:solidFill>
                <a:latin typeface="Cairo"/>
              </a:defRPr>
            </a:pPr>
            <a:r>
              <a:t>6. إدارة المحتوى والصلاحيات</a:t>
            </a:r>
          </a:p>
          <a:p>
            <a:pPr algn="r">
              <a:defRPr sz="1100">
                <a:solidFill>
                  <a:srgbClr val="E2E8F0"/>
                </a:solidFill>
                <a:latin typeface="Cairo"/>
              </a:defRPr>
            </a:pPr>
            <a:r>
              <a:t>تمكين الكوادر التدريسية والإدارية من إدارة المنظومة بحماية ملكية محكمة.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فكرة المنصة وآلية عملها (تدفق المدخلات والمعالجة والمخرجات)</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600200"/>
            <a:ext cx="5394960" cy="4480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_1_homepage.png"/>
          <p:cNvPicPr>
            <a:picLocks noChangeAspect="1"/>
          </p:cNvPicPr>
          <p:nvPr/>
        </p:nvPicPr>
        <p:blipFill>
          <a:blip r:embed="rId2"/>
          <a:stretch>
            <a:fillRect/>
          </a:stretch>
        </p:blipFill>
        <p:spPr>
          <a:xfrm>
            <a:off x="731520" y="1645920"/>
            <a:ext cx="5303520" cy="4389120"/>
          </a:xfrm>
          <a:prstGeom prst="rect">
            <a:avLst/>
          </a:prstGeom>
        </p:spPr>
      </p:pic>
      <p:sp>
        <p:nvSpPr>
          <p:cNvPr id="7" name="TextBox 6"/>
          <p:cNvSpPr txBox="1"/>
          <p:nvPr/>
        </p:nvSpPr>
        <p:spPr>
          <a:xfrm>
            <a:off x="731520" y="6108192"/>
            <a:ext cx="5303520" cy="320040"/>
          </a:xfrm>
          <a:prstGeom prst="rect">
            <a:avLst/>
          </a:prstGeom>
          <a:noFill/>
        </p:spPr>
        <p:txBody>
          <a:bodyPr wrap="square" lIns="0" tIns="0" rIns="0" bIns="0">
            <a:spAutoFit/>
          </a:bodyPr>
          <a:lstStyle/>
          <a:p>
            <a:pPr algn="ctr">
              <a:defRPr sz="1000">
                <a:solidFill>
                  <a:srgbClr val="00E5FF"/>
                </a:solidFill>
                <a:latin typeface="Cairo"/>
              </a:defRPr>
            </a:pPr>
            <a:r>
              <a:t>شكل (2-1): الواجهة الترحيبية ونظرة عامة على منصة CyberShield</a:t>
            </a:r>
          </a:p>
        </p:txBody>
      </p:sp>
      <p:sp>
        <p:nvSpPr>
          <p:cNvPr id="8" name="Rounded Rectangle 7"/>
          <p:cNvSpPr/>
          <p:nvPr/>
        </p:nvSpPr>
        <p:spPr>
          <a:xfrm>
            <a:off x="6309360" y="1645920"/>
            <a:ext cx="5150815" cy="13716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46520" y="1737360"/>
            <a:ext cx="4846320" cy="1188720"/>
          </a:xfrm>
          <a:prstGeom prst="rect">
            <a:avLst/>
          </a:prstGeom>
          <a:noFill/>
        </p:spPr>
        <p:txBody>
          <a:bodyPr wrap="square">
            <a:spAutoFit/>
          </a:bodyPr>
          <a:lstStyle/>
          <a:p>
            <a:pPr algn="r">
              <a:spcAft>
                <a:spcPts val="300"/>
              </a:spcAft>
              <a:defRPr sz="1300" b="1">
                <a:solidFill>
                  <a:srgbClr val="00E5FF"/>
                </a:solidFill>
                <a:latin typeface="Cairo"/>
              </a:defRPr>
            </a:pPr>
            <a:r>
              <a:t>📥 1. المدخلات (Inputs)</a:t>
            </a:r>
          </a:p>
          <a:p>
            <a:pPr algn="r">
              <a:defRPr sz="1000">
                <a:solidFill>
                  <a:srgbClr val="E2E8F0"/>
                </a:solidFill>
                <a:latin typeface="Cairo"/>
              </a:defRPr>
            </a:pPr>
            <a:r>
              <a:t>▪ إجابات التقييم القبلي والبعدي للمتعلم.</a:t>
            </a:r>
          </a:p>
          <a:p>
            <a:pPr algn="r">
              <a:defRPr sz="1000">
                <a:solidFill>
                  <a:srgbClr val="E2E8F0"/>
                </a:solidFill>
                <a:latin typeface="Cairo"/>
              </a:defRPr>
            </a:pPr>
            <a:r>
              <a:t>▪ نصوص الرسائل والروابط المراد فحصها.</a:t>
            </a:r>
          </a:p>
          <a:p>
            <a:pPr algn="r">
              <a:defRPr sz="1000">
                <a:solidFill>
                  <a:srgbClr val="E2E8F0"/>
                </a:solidFill>
                <a:latin typeface="Cairo"/>
              </a:defRPr>
            </a:pPr>
            <a:r>
              <a:t>▪ قرارات واستجابات المستخدم في السيناريوهات.</a:t>
            </a:r>
          </a:p>
          <a:p>
            <a:pPr algn="r">
              <a:defRPr sz="1000">
                <a:solidFill>
                  <a:srgbClr val="E2E8F0"/>
                </a:solidFill>
                <a:latin typeface="Cairo"/>
              </a:defRPr>
            </a:pPr>
            <a:r>
              <a:t>▪ محتوى الدروس والاختبارات المضافة من المدرس.</a:t>
            </a:r>
          </a:p>
        </p:txBody>
      </p:sp>
      <p:sp>
        <p:nvSpPr>
          <p:cNvPr id="10" name="Rounded Rectangle 9"/>
          <p:cNvSpPr/>
          <p:nvPr/>
        </p:nvSpPr>
        <p:spPr>
          <a:xfrm>
            <a:off x="6309360" y="3154680"/>
            <a:ext cx="5150815" cy="13716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3246120"/>
            <a:ext cx="4846320" cy="1188720"/>
          </a:xfrm>
          <a:prstGeom prst="rect">
            <a:avLst/>
          </a:prstGeom>
          <a:noFill/>
        </p:spPr>
        <p:txBody>
          <a:bodyPr wrap="square">
            <a:spAutoFit/>
          </a:bodyPr>
          <a:lstStyle/>
          <a:p>
            <a:pPr algn="r">
              <a:spcAft>
                <a:spcPts val="300"/>
              </a:spcAft>
              <a:defRPr sz="1300" b="1">
                <a:solidFill>
                  <a:srgbClr val="F59E0B"/>
                </a:solidFill>
                <a:latin typeface="Cairo"/>
              </a:defRPr>
            </a:pPr>
            <a:r>
              <a:t>⚙️ 2. المعالجة والتحليل (Processing)</a:t>
            </a:r>
          </a:p>
          <a:p>
            <a:pPr algn="r">
              <a:defRPr sz="1000">
                <a:solidFill>
                  <a:srgbClr val="E2E8F0"/>
                </a:solidFill>
                <a:latin typeface="Cairo"/>
              </a:defRPr>
            </a:pPr>
            <a:r>
              <a:t>▪ التحقق الصارم من الصلاحيات وجلسات العمل المشفرة.</a:t>
            </a:r>
          </a:p>
          <a:p>
            <a:pPr algn="r">
              <a:defRPr sz="1000">
                <a:solidFill>
                  <a:srgbClr val="E2E8F0"/>
                </a:solidFill>
                <a:latin typeface="Cairo"/>
              </a:defRPr>
            </a:pPr>
            <a:r>
              <a:t>▪ خوارزميات الفحص الاستدلالي للروابط دون الاتصال بالشبكة.</a:t>
            </a:r>
          </a:p>
          <a:p>
            <a:pPr algn="r">
              <a:defRPr sz="1000">
                <a:solidFill>
                  <a:srgbClr val="E2E8F0"/>
                </a:solidFill>
                <a:latin typeface="Cairo"/>
              </a:defRPr>
            </a:pPr>
            <a:r>
              <a:t>▪ محرك تحليل نقاط الضعف السلوكية ومقارنة التقييمين.</a:t>
            </a:r>
          </a:p>
          <a:p>
            <a:pPr algn="r">
              <a:defRPr sz="1000">
                <a:solidFill>
                  <a:srgbClr val="E2E8F0"/>
                </a:solidFill>
                <a:latin typeface="Cairo"/>
              </a:defRPr>
            </a:pPr>
            <a:r>
              <a:t>▪ إنفاذ ضوابط حماية الملكية ومنع ثغرات IDOR.</a:t>
            </a:r>
          </a:p>
        </p:txBody>
      </p:sp>
      <p:sp>
        <p:nvSpPr>
          <p:cNvPr id="12" name="Rounded Rectangle 11"/>
          <p:cNvSpPr/>
          <p:nvPr/>
        </p:nvSpPr>
        <p:spPr>
          <a:xfrm>
            <a:off x="6309360" y="4663440"/>
            <a:ext cx="5150815" cy="13716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4754880"/>
            <a:ext cx="4846320" cy="1188720"/>
          </a:xfrm>
          <a:prstGeom prst="rect">
            <a:avLst/>
          </a:prstGeom>
          <a:noFill/>
        </p:spPr>
        <p:txBody>
          <a:bodyPr wrap="square">
            <a:spAutoFit/>
          </a:bodyPr>
          <a:lstStyle/>
          <a:p>
            <a:pPr algn="r">
              <a:spcAft>
                <a:spcPts val="300"/>
              </a:spcAft>
              <a:defRPr sz="1300" b="1">
                <a:solidFill>
                  <a:srgbClr val="10B981"/>
                </a:solidFill>
                <a:latin typeface="Cairo"/>
              </a:defRPr>
            </a:pPr>
            <a:r>
              <a:t>📤 3. المخرجات والنتائج (Outputs)</a:t>
            </a:r>
          </a:p>
          <a:p>
            <a:pPr algn="r">
              <a:defRPr sz="1000">
                <a:solidFill>
                  <a:srgbClr val="E2E8F0"/>
                </a:solidFill>
                <a:latin typeface="Cairo"/>
              </a:defRPr>
            </a:pPr>
            <a:r>
              <a:t>▪ مؤشر وعي سيبراني تفاعلي ونسبة إتقان مكتملة (100%).</a:t>
            </a:r>
          </a:p>
          <a:p>
            <a:pPr algn="r">
              <a:defRPr sz="1000">
                <a:solidFill>
                  <a:srgbClr val="E2E8F0"/>
                </a:solidFill>
                <a:latin typeface="Cairo"/>
              </a:defRPr>
            </a:pPr>
            <a:r>
              <a:t>▪ تقارير تفصيلية بمكامن الخطر والتوصيات الوقائية الذكية.</a:t>
            </a:r>
          </a:p>
          <a:p>
            <a:pPr algn="r">
              <a:defRPr sz="1000">
                <a:solidFill>
                  <a:srgbClr val="E2E8F0"/>
                </a:solidFill>
                <a:latin typeface="Cairo"/>
              </a:defRPr>
            </a:pPr>
            <a:r>
              <a:t>▪ تغذية راجعة فورية لخيارات السيناريوهات.</a:t>
            </a:r>
          </a:p>
          <a:p>
            <a:pPr algn="r">
              <a:defRPr sz="1000">
                <a:solidFill>
                  <a:srgbClr val="E2E8F0"/>
                </a:solidFill>
                <a:latin typeface="Cairo"/>
              </a:defRPr>
            </a:pPr>
            <a:r>
              <a:t>▪ لوحات إحصائية وتحكمية متقدمة للمدرس والإدارة.</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المعمارية والتقنيات البرمجية المستخدمة فعلياً</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42255" cy="210312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783080"/>
            <a:ext cx="4876495" cy="1828800"/>
          </a:xfrm>
          <a:prstGeom prst="rect">
            <a:avLst/>
          </a:prstGeom>
          <a:noFill/>
        </p:spPr>
        <p:txBody>
          <a:bodyPr wrap="square">
            <a:spAutoFit/>
          </a:bodyPr>
          <a:lstStyle/>
          <a:p>
            <a:pPr algn="r">
              <a:spcAft>
                <a:spcPts val="600"/>
              </a:spcAft>
              <a:defRPr sz="1500" b="1">
                <a:solidFill>
                  <a:srgbClr val="00E5FF"/>
                </a:solidFill>
                <a:latin typeface="Cairo"/>
              </a:defRPr>
            </a:pPr>
            <a:r>
              <a:t>الواجهة الأمامية (Frontend)</a:t>
            </a:r>
          </a:p>
          <a:p>
            <a:pPr algn="r">
              <a:spcAft>
                <a:spcPts val="200"/>
              </a:spcAft>
              <a:defRPr sz="1100">
                <a:solidFill>
                  <a:srgbClr val="E2E8F0"/>
                </a:solidFill>
                <a:latin typeface="Cairo"/>
              </a:defRPr>
            </a:pPr>
            <a:r>
              <a:t>▪ React 19: بناء واجهة مستخدم تفاعلية بنظام المكونات المعيارية.</a:t>
            </a:r>
          </a:p>
          <a:p>
            <a:pPr algn="r">
              <a:spcAft>
                <a:spcPts val="200"/>
              </a:spcAft>
              <a:defRPr sz="1100">
                <a:solidFill>
                  <a:srgbClr val="E2E8F0"/>
                </a:solidFill>
                <a:latin typeface="Cairo"/>
              </a:defRPr>
            </a:pPr>
            <a:r>
              <a:t>▪ TypeScript: ضمان التوافق ومنع الأخطاء النوعية (Type-Safety).</a:t>
            </a:r>
          </a:p>
          <a:p>
            <a:pPr algn="r">
              <a:spcAft>
                <a:spcPts val="200"/>
              </a:spcAft>
              <a:defRPr sz="1100">
                <a:solidFill>
                  <a:srgbClr val="E2E8F0"/>
                </a:solidFill>
                <a:latin typeface="Cairo"/>
              </a:defRPr>
            </a:pPr>
            <a:r>
              <a:t>▪ Tailwind CSS: تصميم عصري باللغة العربية بدعم أصيل لـ RTL الهوية الداكنة.</a:t>
            </a:r>
          </a:p>
          <a:p>
            <a:pPr algn="r">
              <a:spcAft>
                <a:spcPts val="200"/>
              </a:spcAft>
              <a:defRPr sz="1100">
                <a:solidFill>
                  <a:srgbClr val="E2E8F0"/>
                </a:solidFill>
                <a:latin typeface="Cairo"/>
              </a:defRPr>
            </a:pPr>
            <a:r>
              <a:t>▪ Lucide React &amp; Framer Motion: أيقونات وحركات بصرية معبرة.</a:t>
            </a:r>
          </a:p>
        </p:txBody>
      </p:sp>
      <p:sp>
        <p:nvSpPr>
          <p:cNvPr id="7" name="Rounded Rectangle 6"/>
          <p:cNvSpPr/>
          <p:nvPr/>
        </p:nvSpPr>
        <p:spPr>
          <a:xfrm>
            <a:off x="6217920" y="1645920"/>
            <a:ext cx="5242255" cy="210312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783080"/>
            <a:ext cx="4876495" cy="1828800"/>
          </a:xfrm>
          <a:prstGeom prst="rect">
            <a:avLst/>
          </a:prstGeom>
          <a:noFill/>
        </p:spPr>
        <p:txBody>
          <a:bodyPr wrap="square">
            <a:spAutoFit/>
          </a:bodyPr>
          <a:lstStyle/>
          <a:p>
            <a:pPr algn="r">
              <a:spcAft>
                <a:spcPts val="600"/>
              </a:spcAft>
              <a:defRPr sz="1500" b="1">
                <a:solidFill>
                  <a:srgbClr val="10B981"/>
                </a:solidFill>
                <a:latin typeface="Cairo"/>
              </a:defRPr>
            </a:pPr>
            <a:r>
              <a:t>الواجهة الخلفية والخادم (Backend)</a:t>
            </a:r>
          </a:p>
          <a:p>
            <a:pPr algn="r">
              <a:spcAft>
                <a:spcPts val="200"/>
              </a:spcAft>
              <a:defRPr sz="1100">
                <a:solidFill>
                  <a:srgbClr val="E2E8F0"/>
                </a:solidFill>
                <a:latin typeface="Cairo"/>
              </a:defRPr>
            </a:pPr>
            <a:r>
              <a:t>▪ Node.js &amp; Express: بيئة تشغيل عالية الأداء لمعالجة الطلبات.</a:t>
            </a:r>
          </a:p>
          <a:p>
            <a:pPr algn="r">
              <a:spcAft>
                <a:spcPts val="200"/>
              </a:spcAft>
              <a:defRPr sz="1100">
                <a:solidFill>
                  <a:srgbClr val="E2E8F0"/>
                </a:solidFill>
                <a:latin typeface="Cairo"/>
              </a:defRPr>
            </a:pPr>
            <a:r>
              <a:t>▪ tRPC Framework: قنوات اتصال متزامنة ومترابطة نمطياً تلغي ثغرات عدم تطابق البيانات وتمنع تسريب الإجابات عبر الشبكة.</a:t>
            </a:r>
          </a:p>
          <a:p>
            <a:pPr algn="r">
              <a:spcAft>
                <a:spcPts val="200"/>
              </a:spcAft>
              <a:defRPr sz="1100">
                <a:solidFill>
                  <a:srgbClr val="E2E8F0"/>
                </a:solidFill>
                <a:latin typeface="Cairo"/>
              </a:defRPr>
            </a:pPr>
            <a:r>
              <a:t>▪ Jose (JWT): إدارة رموز المصادقة الموقعة رقمياً.</a:t>
            </a:r>
          </a:p>
        </p:txBody>
      </p:sp>
      <p:sp>
        <p:nvSpPr>
          <p:cNvPr id="9" name="Rounded Rectangle 8"/>
          <p:cNvSpPr/>
          <p:nvPr/>
        </p:nvSpPr>
        <p:spPr>
          <a:xfrm>
            <a:off x="731520" y="3931920"/>
            <a:ext cx="5242255" cy="210312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4069080"/>
            <a:ext cx="4876495" cy="1828800"/>
          </a:xfrm>
          <a:prstGeom prst="rect">
            <a:avLst/>
          </a:prstGeom>
          <a:noFill/>
        </p:spPr>
        <p:txBody>
          <a:bodyPr wrap="square">
            <a:spAutoFit/>
          </a:bodyPr>
          <a:lstStyle/>
          <a:p>
            <a:pPr algn="r">
              <a:spcAft>
                <a:spcPts val="600"/>
              </a:spcAft>
              <a:defRPr sz="1500" b="1">
                <a:solidFill>
                  <a:srgbClr val="F59E0B"/>
                </a:solidFill>
                <a:latin typeface="Cairo"/>
              </a:defRPr>
            </a:pPr>
            <a:r>
              <a:t>قواعد البيانات وإدارة البيانات (Database)</a:t>
            </a:r>
          </a:p>
          <a:p>
            <a:pPr algn="r">
              <a:spcAft>
                <a:spcPts val="200"/>
              </a:spcAft>
              <a:defRPr sz="1100">
                <a:solidFill>
                  <a:srgbClr val="E2E8F0"/>
                </a:solidFill>
                <a:latin typeface="Cairo"/>
              </a:defRPr>
            </a:pPr>
            <a:r>
              <a:t>▪ Better-SQLite3: محرك قواعد بيانات محلي مدمج فائق السرعة.</a:t>
            </a:r>
          </a:p>
          <a:p>
            <a:pPr algn="r">
              <a:spcAft>
                <a:spcPts val="200"/>
              </a:spcAft>
              <a:defRPr sz="1100">
                <a:solidFill>
                  <a:srgbClr val="E2E8F0"/>
                </a:solidFill>
                <a:latin typeface="Cairo"/>
              </a:defRPr>
            </a:pPr>
            <a:r>
              <a:t>▪ Drizzle ORM: معالج الكائنات المترابطة يوفر استعلامات سريعة وحماية ذاتية من هجمات حقن قواعد البيانات (SQL Injection).</a:t>
            </a:r>
          </a:p>
          <a:p>
            <a:pPr algn="r">
              <a:spcAft>
                <a:spcPts val="200"/>
              </a:spcAft>
              <a:defRPr sz="1100">
                <a:solidFill>
                  <a:srgbClr val="E2E8F0"/>
                </a:solidFill>
                <a:latin typeface="Cairo"/>
              </a:defRPr>
            </a:pPr>
            <a:r>
              <a:t>▪ تصميم علائقي للجداول: users, lessons, quizzes, scenarios, audit_logs.</a:t>
            </a:r>
          </a:p>
        </p:txBody>
      </p:sp>
      <p:sp>
        <p:nvSpPr>
          <p:cNvPr id="11" name="Rounded Rectangle 10"/>
          <p:cNvSpPr/>
          <p:nvPr/>
        </p:nvSpPr>
        <p:spPr>
          <a:xfrm>
            <a:off x="6217920" y="3931920"/>
            <a:ext cx="5242255" cy="210312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069080"/>
            <a:ext cx="4876495" cy="1828800"/>
          </a:xfrm>
          <a:prstGeom prst="rect">
            <a:avLst/>
          </a:prstGeom>
          <a:noFill/>
        </p:spPr>
        <p:txBody>
          <a:bodyPr wrap="square">
            <a:spAutoFit/>
          </a:bodyPr>
          <a:lstStyle/>
          <a:p>
            <a:pPr algn="r">
              <a:spcAft>
                <a:spcPts val="600"/>
              </a:spcAft>
              <a:defRPr sz="1500" b="1">
                <a:solidFill>
                  <a:srgbClr val="EC4899"/>
                </a:solidFill>
                <a:latin typeface="Cairo"/>
              </a:defRPr>
            </a:pPr>
            <a:r>
              <a:t>الأمان وضمان الجودة (Security &amp; QA)</a:t>
            </a:r>
          </a:p>
          <a:p>
            <a:pPr algn="r">
              <a:spcAft>
                <a:spcPts val="200"/>
              </a:spcAft>
              <a:defRPr sz="1100">
                <a:solidFill>
                  <a:srgbClr val="E2E8F0"/>
                </a:solidFill>
                <a:latin typeface="Cairo"/>
              </a:defRPr>
            </a:pPr>
            <a:r>
              <a:t>▪ Bcrypt.js: تشفير وتمليح كلمات المرور عشوائياً (Salt Rounds).</a:t>
            </a:r>
          </a:p>
          <a:p>
            <a:pPr algn="r">
              <a:spcAft>
                <a:spcPts val="200"/>
              </a:spcAft>
              <a:defRPr sz="1100">
                <a:solidFill>
                  <a:srgbClr val="E2E8F0"/>
                </a:solidFill>
                <a:latin typeface="Cairo"/>
              </a:defRPr>
            </a:pPr>
            <a:r>
              <a:t>▪ Rate Limiter: كبح هجمات القوة الغاشمة (Brute-Force).</a:t>
            </a:r>
          </a:p>
          <a:p>
            <a:pPr algn="r">
              <a:spcAft>
                <a:spcPts val="200"/>
              </a:spcAft>
              <a:defRPr sz="1100">
                <a:solidFill>
                  <a:srgbClr val="E2E8F0"/>
                </a:solidFill>
                <a:latin typeface="Cairo"/>
              </a:defRPr>
            </a:pPr>
            <a:r>
              <a:t>▪ Content Security Policy (CSP): حظر ثغرات XSS وحماية المصادر.</a:t>
            </a:r>
          </a:p>
          <a:p>
            <a:pPr algn="r">
              <a:spcAft>
                <a:spcPts val="200"/>
              </a:spcAft>
              <a:defRPr sz="1100">
                <a:solidFill>
                  <a:srgbClr val="E2E8F0"/>
                </a:solidFill>
                <a:latin typeface="Cairo"/>
              </a:defRPr>
            </a:pPr>
            <a:r>
              <a:t>▪ Vitest: محرك الاختبارات الآلية الشاملة (157 اختباراً معملياً).</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الفئات المستهدفة ونموذج التحكم بالوصول (RBAC)</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600200"/>
            <a:ext cx="5303520" cy="2194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_auth_modal.png"/>
          <p:cNvPicPr>
            <a:picLocks noChangeAspect="1"/>
          </p:cNvPicPr>
          <p:nvPr/>
        </p:nvPicPr>
        <p:blipFill>
          <a:blip r:embed="rId2"/>
          <a:stretch>
            <a:fillRect/>
          </a:stretch>
        </p:blipFill>
        <p:spPr>
          <a:xfrm>
            <a:off x="731520" y="1645920"/>
            <a:ext cx="5212080" cy="2103120"/>
          </a:xfrm>
          <a:prstGeom prst="rect">
            <a:avLst/>
          </a:prstGeom>
        </p:spPr>
      </p:pic>
      <p:sp>
        <p:nvSpPr>
          <p:cNvPr id="7" name="TextBox 6"/>
          <p:cNvSpPr txBox="1"/>
          <p:nvPr/>
        </p:nvSpPr>
        <p:spPr>
          <a:xfrm>
            <a:off x="731520" y="3822192"/>
            <a:ext cx="5212080" cy="320040"/>
          </a:xfrm>
          <a:prstGeom prst="rect">
            <a:avLst/>
          </a:prstGeom>
          <a:noFill/>
        </p:spPr>
        <p:txBody>
          <a:bodyPr wrap="square" lIns="0" tIns="0" rIns="0" bIns="0">
            <a:spAutoFit/>
          </a:bodyPr>
          <a:lstStyle/>
          <a:p>
            <a:pPr algn="ctr">
              <a:defRPr sz="1000">
                <a:solidFill>
                  <a:srgbClr val="00E5FF"/>
                </a:solidFill>
                <a:latin typeface="Cairo"/>
              </a:defRPr>
            </a:pPr>
            <a:r>
              <a:t>شكل (2-2): نافذة تسجيل الدخول والتحقق</a:t>
            </a:r>
          </a:p>
        </p:txBody>
      </p:sp>
      <p:sp>
        <p:nvSpPr>
          <p:cNvPr id="8" name="Rounded Rectangle 7"/>
          <p:cNvSpPr/>
          <p:nvPr/>
        </p:nvSpPr>
        <p:spPr>
          <a:xfrm>
            <a:off x="685800" y="4069080"/>
            <a:ext cx="5303520" cy="2194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shot_register_modal.png"/>
          <p:cNvPicPr>
            <a:picLocks noChangeAspect="1"/>
          </p:cNvPicPr>
          <p:nvPr/>
        </p:nvPicPr>
        <p:blipFill>
          <a:blip r:embed="rId3"/>
          <a:stretch>
            <a:fillRect/>
          </a:stretch>
        </p:blipFill>
        <p:spPr>
          <a:xfrm>
            <a:off x="731520" y="4114800"/>
            <a:ext cx="5212080" cy="2103120"/>
          </a:xfrm>
          <a:prstGeom prst="rect">
            <a:avLst/>
          </a:prstGeom>
        </p:spPr>
      </p:pic>
      <p:sp>
        <p:nvSpPr>
          <p:cNvPr id="10" name="TextBox 9"/>
          <p:cNvSpPr txBox="1"/>
          <p:nvPr/>
        </p:nvSpPr>
        <p:spPr>
          <a:xfrm>
            <a:off x="731520" y="6291072"/>
            <a:ext cx="5212080" cy="320040"/>
          </a:xfrm>
          <a:prstGeom prst="rect">
            <a:avLst/>
          </a:prstGeom>
          <a:noFill/>
        </p:spPr>
        <p:txBody>
          <a:bodyPr wrap="square" lIns="0" tIns="0" rIns="0" bIns="0">
            <a:spAutoFit/>
          </a:bodyPr>
          <a:lstStyle/>
          <a:p>
            <a:pPr algn="ctr">
              <a:defRPr sz="1000">
                <a:solidFill>
                  <a:srgbClr val="00E5FF"/>
                </a:solidFill>
                <a:latin typeface="Cairo"/>
              </a:defRPr>
            </a:pPr>
            <a:r>
              <a:t>شكل (2-3): نافذة إنشاء الحساب ومطابقة الشروط</a:t>
            </a:r>
          </a:p>
        </p:txBody>
      </p:sp>
      <p:sp>
        <p:nvSpPr>
          <p:cNvPr id="11" name="Rounded Rectangle 10"/>
          <p:cNvSpPr/>
          <p:nvPr/>
        </p:nvSpPr>
        <p:spPr>
          <a:xfrm>
            <a:off x="6217920" y="1645920"/>
            <a:ext cx="5242255" cy="13716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737360"/>
            <a:ext cx="4937760" cy="1188720"/>
          </a:xfrm>
          <a:prstGeom prst="rect">
            <a:avLst/>
          </a:prstGeom>
          <a:noFill/>
        </p:spPr>
        <p:txBody>
          <a:bodyPr wrap="square">
            <a:spAutoFit/>
          </a:bodyPr>
          <a:lstStyle/>
          <a:p>
            <a:pPr algn="r">
              <a:spcAft>
                <a:spcPts val="200"/>
              </a:spcAft>
              <a:defRPr sz="1300" b="1">
                <a:solidFill>
                  <a:srgbClr val="00E5FF"/>
                </a:solidFill>
                <a:latin typeface="Cairo"/>
              </a:defRPr>
            </a:pPr>
            <a:r>
              <a:t>👤 دور المتدرب / المتعلم (Student)</a:t>
            </a:r>
          </a:p>
          <a:p>
            <a:pPr algn="r">
              <a:defRPr sz="1000">
                <a:solidFill>
                  <a:srgbClr val="E2E8F0"/>
                </a:solidFill>
                <a:latin typeface="Cairo"/>
              </a:defRPr>
            </a:pPr>
            <a:r>
              <a:t>▪ خوض التقييم القبلي والبعدي لقياس تطور الوعي.</a:t>
            </a:r>
          </a:p>
          <a:p>
            <a:pPr algn="r">
              <a:defRPr sz="1000">
                <a:solidFill>
                  <a:srgbClr val="E2E8F0"/>
                </a:solidFill>
                <a:latin typeface="Cairo"/>
              </a:defRPr>
            </a:pPr>
            <a:r>
              <a:t>▪ دراسة الوحدات التعليمية السبعة وحل الاختبارات.</a:t>
            </a:r>
          </a:p>
          <a:p>
            <a:pPr algn="r">
              <a:defRPr sz="1000">
                <a:solidFill>
                  <a:srgbClr val="E2E8F0"/>
                </a:solidFill>
                <a:latin typeface="Cairo"/>
              </a:defRPr>
            </a:pPr>
            <a:r>
              <a:t>▪ محاكاة السيناريوهات التفاعلية واستخدام المحلل الآمن.</a:t>
            </a:r>
          </a:p>
          <a:p>
            <a:pPr algn="r">
              <a:defRPr sz="1000">
                <a:solidFill>
                  <a:srgbClr val="E2E8F0"/>
                </a:solidFill>
                <a:latin typeface="Cairo"/>
              </a:defRPr>
            </a:pPr>
            <a:r>
              <a:t>▪ الحصول على التوصيات المخصصة ونسبة الإتقان.</a:t>
            </a:r>
          </a:p>
        </p:txBody>
      </p:sp>
      <p:sp>
        <p:nvSpPr>
          <p:cNvPr id="13" name="Rounded Rectangle 12"/>
          <p:cNvSpPr/>
          <p:nvPr/>
        </p:nvSpPr>
        <p:spPr>
          <a:xfrm>
            <a:off x="6217920" y="3154680"/>
            <a:ext cx="5242255" cy="13716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246120"/>
            <a:ext cx="4937760" cy="1188720"/>
          </a:xfrm>
          <a:prstGeom prst="rect">
            <a:avLst/>
          </a:prstGeom>
          <a:noFill/>
        </p:spPr>
        <p:txBody>
          <a:bodyPr wrap="square">
            <a:spAutoFit/>
          </a:bodyPr>
          <a:lstStyle/>
          <a:p>
            <a:pPr algn="r">
              <a:spcAft>
                <a:spcPts val="200"/>
              </a:spcAft>
              <a:defRPr sz="1300" b="1">
                <a:solidFill>
                  <a:srgbClr val="10B981"/>
                </a:solidFill>
                <a:latin typeface="Cairo"/>
              </a:defRPr>
            </a:pPr>
            <a:r>
              <a:t>👨‍🏫 دور المحاضر / المدرس (Instructor)</a:t>
            </a:r>
          </a:p>
          <a:p>
            <a:pPr algn="r">
              <a:defRPr sz="1000">
                <a:solidFill>
                  <a:srgbClr val="E2E8F0"/>
                </a:solidFill>
                <a:latin typeface="Cairo"/>
              </a:defRPr>
            </a:pPr>
            <a:r>
              <a:t>▪ لوحة تحكم لإدارة وتأليف الدروس المخصصة.</a:t>
            </a:r>
          </a:p>
          <a:p>
            <a:pPr algn="r">
              <a:defRPr sz="1000">
                <a:solidFill>
                  <a:srgbClr val="E2E8F0"/>
                </a:solidFill>
                <a:latin typeface="Cairo"/>
              </a:defRPr>
            </a:pPr>
            <a:r>
              <a:t>▪ إدارة بنك الاختبارات والأسئلة وتحديد الدرجات.</a:t>
            </a:r>
          </a:p>
          <a:p>
            <a:pPr algn="r">
              <a:defRPr sz="1000">
                <a:solidFill>
                  <a:srgbClr val="E2E8F0"/>
                </a:solidFill>
                <a:latin typeface="Cairo"/>
              </a:defRPr>
            </a:pPr>
            <a:r>
              <a:t>▪ حماية الملكية التامة ومنع التعديل على محتوى المدرسين الآخرين.</a:t>
            </a:r>
          </a:p>
          <a:p>
            <a:pPr algn="r">
              <a:defRPr sz="1000">
                <a:solidFill>
                  <a:srgbClr val="E2E8F0"/>
                </a:solidFill>
                <a:latin typeface="Cairo"/>
              </a:defRPr>
            </a:pPr>
            <a:r>
              <a:t>▪ حصانة كاملة للدروس الرسمية السبعة ضد التعديل.</a:t>
            </a:r>
          </a:p>
        </p:txBody>
      </p:sp>
      <p:sp>
        <p:nvSpPr>
          <p:cNvPr id="15" name="Rounded Rectangle 14"/>
          <p:cNvSpPr/>
          <p:nvPr/>
        </p:nvSpPr>
        <p:spPr>
          <a:xfrm>
            <a:off x="6217920" y="4663440"/>
            <a:ext cx="5242255" cy="13716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754880"/>
            <a:ext cx="4937760" cy="1188720"/>
          </a:xfrm>
          <a:prstGeom prst="rect">
            <a:avLst/>
          </a:prstGeom>
          <a:noFill/>
        </p:spPr>
        <p:txBody>
          <a:bodyPr wrap="square">
            <a:spAutoFit/>
          </a:bodyPr>
          <a:lstStyle/>
          <a:p>
            <a:pPr algn="r">
              <a:spcAft>
                <a:spcPts val="200"/>
              </a:spcAft>
              <a:defRPr sz="1300" b="1">
                <a:solidFill>
                  <a:srgbClr val="F59E0B"/>
                </a:solidFill>
                <a:latin typeface="Cairo"/>
              </a:defRPr>
            </a:pPr>
            <a:r>
              <a:t>🛡️ دور المشرف العام (Admin)</a:t>
            </a:r>
          </a:p>
          <a:p>
            <a:pPr algn="r">
              <a:defRPr sz="1000">
                <a:solidFill>
                  <a:srgbClr val="E2E8F0"/>
                </a:solidFill>
                <a:latin typeface="Cairo"/>
              </a:defRPr>
            </a:pPr>
            <a:r>
              <a:t>▪ إدارة شاملة لجميع حسابات النظام وتعيين الأدوار.</a:t>
            </a:r>
          </a:p>
          <a:p>
            <a:pPr algn="r">
              <a:defRPr sz="1000">
                <a:solidFill>
                  <a:srgbClr val="E2E8F0"/>
                </a:solidFill>
                <a:latin typeface="Cairo"/>
              </a:defRPr>
            </a:pPr>
            <a:r>
              <a:t>▪ مراقبة مؤشرات أداء وأمان المنصة وحجم النشاط.</a:t>
            </a:r>
          </a:p>
          <a:p>
            <a:pPr algn="r">
              <a:defRPr sz="1000">
                <a:solidFill>
                  <a:srgbClr val="E2E8F0"/>
                </a:solidFill>
                <a:latin typeface="Cairo"/>
              </a:defRPr>
            </a:pPr>
            <a:r>
              <a:t>▪ متابعة سجلات التدقيق الأمني (Audit Logs) لجميع العمليات الحساسة.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التقييم القبلي التشخيصي (Pre-Assessment)</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600200"/>
            <a:ext cx="6035040" cy="4480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_2_pre_assessment.png"/>
          <p:cNvPicPr>
            <a:picLocks noChangeAspect="1"/>
          </p:cNvPicPr>
          <p:nvPr/>
        </p:nvPicPr>
        <p:blipFill>
          <a:blip r:embed="rId2"/>
          <a:stretch>
            <a:fillRect/>
          </a:stretch>
        </p:blipFill>
        <p:spPr>
          <a:xfrm>
            <a:off x="731520" y="1645920"/>
            <a:ext cx="5943600" cy="4389120"/>
          </a:xfrm>
          <a:prstGeom prst="rect">
            <a:avLst/>
          </a:prstGeom>
        </p:spPr>
      </p:pic>
      <p:sp>
        <p:nvSpPr>
          <p:cNvPr id="7" name="TextBox 6"/>
          <p:cNvSpPr txBox="1"/>
          <p:nvPr/>
        </p:nvSpPr>
        <p:spPr>
          <a:xfrm>
            <a:off x="731520" y="6108192"/>
            <a:ext cx="5943600" cy="320040"/>
          </a:xfrm>
          <a:prstGeom prst="rect">
            <a:avLst/>
          </a:prstGeom>
          <a:noFill/>
        </p:spPr>
        <p:txBody>
          <a:bodyPr wrap="square" lIns="0" tIns="0" rIns="0" bIns="0">
            <a:spAutoFit/>
          </a:bodyPr>
          <a:lstStyle/>
          <a:p>
            <a:pPr algn="ctr">
              <a:defRPr sz="1000">
                <a:solidFill>
                  <a:srgbClr val="00E5FF"/>
                </a:solidFill>
                <a:latin typeface="Cairo"/>
              </a:defRPr>
            </a:pPr>
            <a:r>
              <a:t>شكل (2-4): واجهة التقييم القبلي التشخيصي وتحديد خط الأساس الأمني</a:t>
            </a:r>
          </a:p>
        </p:txBody>
      </p:sp>
      <p:sp>
        <p:nvSpPr>
          <p:cNvPr id="8" name="Rounded Rectangle 7"/>
          <p:cNvSpPr/>
          <p:nvPr/>
        </p:nvSpPr>
        <p:spPr>
          <a:xfrm>
            <a:off x="6949440" y="1645920"/>
            <a:ext cx="4510735" cy="1051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86600" y="1737360"/>
            <a:ext cx="4206240" cy="868680"/>
          </a:xfrm>
          <a:prstGeom prst="rect">
            <a:avLst/>
          </a:prstGeom>
          <a:noFill/>
        </p:spPr>
        <p:txBody>
          <a:bodyPr wrap="square">
            <a:spAutoFit/>
          </a:bodyPr>
          <a:lstStyle/>
          <a:p>
            <a:pPr algn="r">
              <a:defRPr sz="1300" b="1">
                <a:solidFill>
                  <a:srgbClr val="00E5FF"/>
                </a:solidFill>
                <a:latin typeface="Cairo"/>
              </a:defRPr>
            </a:pPr>
            <a:r>
              <a:t>🎯 الهدف الأساسي</a:t>
            </a:r>
          </a:p>
          <a:p>
            <a:pPr algn="r">
              <a:defRPr sz="1100">
                <a:solidFill>
                  <a:srgbClr val="E2E8F0"/>
                </a:solidFill>
                <a:latin typeface="Cairo"/>
              </a:defRPr>
            </a:pPr>
            <a:r>
              <a:t>تشخيص المستوى الأمني الأولي للمتعلم قبل خوض المسار التعليمي لتحديد خط الأساس المعرفي بدقة.</a:t>
            </a:r>
          </a:p>
        </p:txBody>
      </p:sp>
      <p:sp>
        <p:nvSpPr>
          <p:cNvPr id="10" name="Rounded Rectangle 9"/>
          <p:cNvSpPr/>
          <p:nvPr/>
        </p:nvSpPr>
        <p:spPr>
          <a:xfrm>
            <a:off x="6949440" y="2788920"/>
            <a:ext cx="4510735" cy="1051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2880360"/>
            <a:ext cx="4206240" cy="868680"/>
          </a:xfrm>
          <a:prstGeom prst="rect">
            <a:avLst/>
          </a:prstGeom>
          <a:noFill/>
        </p:spPr>
        <p:txBody>
          <a:bodyPr wrap="square">
            <a:spAutoFit/>
          </a:bodyPr>
          <a:lstStyle/>
          <a:p>
            <a:pPr algn="r">
              <a:defRPr sz="1300" b="1">
                <a:solidFill>
                  <a:srgbClr val="00E5FF"/>
                </a:solidFill>
                <a:latin typeface="Cairo"/>
              </a:defRPr>
            </a:pPr>
            <a:r>
              <a:t>📋 محتوى التقييم</a:t>
            </a:r>
          </a:p>
          <a:p>
            <a:pPr algn="r">
              <a:defRPr sz="1100">
                <a:solidFill>
                  <a:srgbClr val="E2E8F0"/>
                </a:solidFill>
                <a:latin typeface="Cairo"/>
              </a:defRPr>
            </a:pPr>
            <a:r>
              <a:t>حزمة من الأسئلة المتنوعة والمقننة التي تغطي مجالات الهندسة الاجتماعية، كلمات المرور، الاحتيال المالي، والخصوصية.</a:t>
            </a:r>
          </a:p>
        </p:txBody>
      </p:sp>
      <p:sp>
        <p:nvSpPr>
          <p:cNvPr id="12" name="Rounded Rectangle 11"/>
          <p:cNvSpPr/>
          <p:nvPr/>
        </p:nvSpPr>
        <p:spPr>
          <a:xfrm>
            <a:off x="6949440" y="3931920"/>
            <a:ext cx="4510735" cy="1051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86600" y="4023360"/>
            <a:ext cx="4206240" cy="868680"/>
          </a:xfrm>
          <a:prstGeom prst="rect">
            <a:avLst/>
          </a:prstGeom>
          <a:noFill/>
        </p:spPr>
        <p:txBody>
          <a:bodyPr wrap="square">
            <a:spAutoFit/>
          </a:bodyPr>
          <a:lstStyle/>
          <a:p>
            <a:pPr algn="r">
              <a:defRPr sz="1300" b="1">
                <a:solidFill>
                  <a:srgbClr val="00E5FF"/>
                </a:solidFill>
                <a:latin typeface="Cairo"/>
              </a:defRPr>
            </a:pPr>
            <a:r>
              <a:t>🔒 الحصانة والنزاهة</a:t>
            </a:r>
          </a:p>
          <a:p>
            <a:pPr algn="r">
              <a:defRPr sz="1100">
                <a:solidFill>
                  <a:srgbClr val="E2E8F0"/>
                </a:solidFill>
                <a:latin typeface="Cairo"/>
              </a:defRPr>
            </a:pPr>
            <a:r>
              <a:t>حصانة النتيجة الأولية من التعديل؛ حيث يتم حفظ المحاولة الأولى كأساس معياري يقارن به التقييم البعدي لاحقاً.</a:t>
            </a:r>
          </a:p>
        </p:txBody>
      </p:sp>
      <p:sp>
        <p:nvSpPr>
          <p:cNvPr id="14" name="Rounded Rectangle 13"/>
          <p:cNvSpPr/>
          <p:nvPr/>
        </p:nvSpPr>
        <p:spPr>
          <a:xfrm>
            <a:off x="6949440" y="5074920"/>
            <a:ext cx="4510735" cy="1051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5166360"/>
            <a:ext cx="4206240" cy="868680"/>
          </a:xfrm>
          <a:prstGeom prst="rect">
            <a:avLst/>
          </a:prstGeom>
          <a:noFill/>
        </p:spPr>
        <p:txBody>
          <a:bodyPr wrap="square">
            <a:spAutoFit/>
          </a:bodyPr>
          <a:lstStyle/>
          <a:p>
            <a:pPr algn="r">
              <a:defRPr sz="1300" b="1">
                <a:solidFill>
                  <a:srgbClr val="00E5FF"/>
                </a:solidFill>
                <a:latin typeface="Cairo"/>
              </a:defRPr>
            </a:pPr>
            <a:r>
              <a:t>🧭 التوجيه الذكي</a:t>
            </a:r>
          </a:p>
          <a:p>
            <a:pPr algn="r">
              <a:defRPr sz="1100">
                <a:solidFill>
                  <a:srgbClr val="E2E8F0"/>
                </a:solidFill>
                <a:latin typeface="Cairo"/>
              </a:defRPr>
            </a:pPr>
            <a:r>
              <a:t>توجيه المتدرب مباشرة بعد إتمام التقييم إلى مسار التعلم والتركيز على المجالات التي أظهر فيها ضعفاً أولياً.</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مسار التوعية التفاعلي وتفاصيل الدروس السبعة</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600200"/>
            <a:ext cx="5303520" cy="2194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_3_learning_path.png"/>
          <p:cNvPicPr>
            <a:picLocks noChangeAspect="1"/>
          </p:cNvPicPr>
          <p:nvPr/>
        </p:nvPicPr>
        <p:blipFill>
          <a:blip r:embed="rId2"/>
          <a:stretch>
            <a:fillRect/>
          </a:stretch>
        </p:blipFill>
        <p:spPr>
          <a:xfrm>
            <a:off x="731520" y="1645920"/>
            <a:ext cx="5212080" cy="2103120"/>
          </a:xfrm>
          <a:prstGeom prst="rect">
            <a:avLst/>
          </a:prstGeom>
        </p:spPr>
      </p:pic>
      <p:sp>
        <p:nvSpPr>
          <p:cNvPr id="7" name="TextBox 6"/>
          <p:cNvSpPr txBox="1"/>
          <p:nvPr/>
        </p:nvSpPr>
        <p:spPr>
          <a:xfrm>
            <a:off x="731520" y="3822192"/>
            <a:ext cx="5212080" cy="320040"/>
          </a:xfrm>
          <a:prstGeom prst="rect">
            <a:avLst/>
          </a:prstGeom>
          <a:noFill/>
        </p:spPr>
        <p:txBody>
          <a:bodyPr wrap="square" lIns="0" tIns="0" rIns="0" bIns="0">
            <a:spAutoFit/>
          </a:bodyPr>
          <a:lstStyle/>
          <a:p>
            <a:pPr algn="ctr">
              <a:defRPr sz="1000">
                <a:solidFill>
                  <a:srgbClr val="00E5FF"/>
                </a:solidFill>
                <a:latin typeface="Cairo"/>
              </a:defRPr>
            </a:pPr>
            <a:r>
              <a:t>شكل (2-5): استعراض قائمة الوحدات السبعة</a:t>
            </a:r>
          </a:p>
        </p:txBody>
      </p:sp>
      <p:sp>
        <p:nvSpPr>
          <p:cNvPr id="8" name="Rounded Rectangle 7"/>
          <p:cNvSpPr/>
          <p:nvPr/>
        </p:nvSpPr>
        <p:spPr>
          <a:xfrm>
            <a:off x="685800" y="4069080"/>
            <a:ext cx="5303520" cy="2194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shot_lesson_reader.png"/>
          <p:cNvPicPr>
            <a:picLocks noChangeAspect="1"/>
          </p:cNvPicPr>
          <p:nvPr/>
        </p:nvPicPr>
        <p:blipFill>
          <a:blip r:embed="rId3"/>
          <a:stretch>
            <a:fillRect/>
          </a:stretch>
        </p:blipFill>
        <p:spPr>
          <a:xfrm>
            <a:off x="731520" y="4114800"/>
            <a:ext cx="5212080" cy="2103120"/>
          </a:xfrm>
          <a:prstGeom prst="rect">
            <a:avLst/>
          </a:prstGeom>
        </p:spPr>
      </p:pic>
      <p:sp>
        <p:nvSpPr>
          <p:cNvPr id="10" name="TextBox 9"/>
          <p:cNvSpPr txBox="1"/>
          <p:nvPr/>
        </p:nvSpPr>
        <p:spPr>
          <a:xfrm>
            <a:off x="731520" y="6291072"/>
            <a:ext cx="5212080" cy="320040"/>
          </a:xfrm>
          <a:prstGeom prst="rect">
            <a:avLst/>
          </a:prstGeom>
          <a:noFill/>
        </p:spPr>
        <p:txBody>
          <a:bodyPr wrap="square" lIns="0" tIns="0" rIns="0" bIns="0">
            <a:spAutoFit/>
          </a:bodyPr>
          <a:lstStyle/>
          <a:p>
            <a:pPr algn="ctr">
              <a:defRPr sz="1000">
                <a:solidFill>
                  <a:srgbClr val="00E5FF"/>
                </a:solidFill>
                <a:latin typeface="Cairo"/>
              </a:defRPr>
            </a:pPr>
            <a:r>
              <a:t>شكل (2-6): واجهة قراءة تفاصيل الدرس والوسائط</a:t>
            </a:r>
          </a:p>
        </p:txBody>
      </p:sp>
      <p:sp>
        <p:nvSpPr>
          <p:cNvPr id="11" name="Rounded Rectangle 10"/>
          <p:cNvSpPr/>
          <p:nvPr/>
        </p:nvSpPr>
        <p:spPr>
          <a:xfrm>
            <a:off x="6217920" y="1645920"/>
            <a:ext cx="5242255" cy="4480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37360"/>
            <a:ext cx="4876495" cy="4297680"/>
          </a:xfrm>
          <a:prstGeom prst="rect">
            <a:avLst/>
          </a:prstGeom>
          <a:noFill/>
        </p:spPr>
        <p:txBody>
          <a:bodyPr wrap="square">
            <a:spAutoFit/>
          </a:bodyPr>
          <a:lstStyle/>
          <a:p>
            <a:pPr algn="r">
              <a:spcAft>
                <a:spcPts val="600"/>
              </a:spcAft>
              <a:defRPr sz="1400" b="1">
                <a:solidFill>
                  <a:srgbClr val="10B981"/>
                </a:solidFill>
                <a:latin typeface="Cairo"/>
              </a:defRPr>
            </a:pPr>
            <a:r>
              <a:t>📚 الوحدات التعليمية السبع المعتمدة في المنصة:</a:t>
            </a:r>
          </a:p>
          <a:p>
            <a:pPr algn="r">
              <a:spcAft>
                <a:spcPts val="100"/>
              </a:spcAft>
              <a:defRPr sz="1100" b="1">
                <a:solidFill>
                  <a:srgbClr val="00E5FF"/>
                </a:solidFill>
                <a:latin typeface="Cairo"/>
              </a:defRPr>
            </a:pPr>
            <a:r>
              <a:t>1. الهندسة الاجتماعية (Social Engineering)</a:t>
            </a:r>
          </a:p>
          <a:p>
            <a:pPr algn="r">
              <a:spcAft>
                <a:spcPts val="400"/>
              </a:spcAft>
              <a:defRPr sz="1000">
                <a:solidFill>
                  <a:srgbClr val="E2E8F0"/>
                </a:solidFill>
                <a:latin typeface="Cairo"/>
              </a:defRPr>
            </a:pPr>
            <a:r>
              <a:t>فهم حيل التلاعب النفسي، التصيد الإلكتروني، وانتحال الصفة.</a:t>
            </a:r>
          </a:p>
          <a:p>
            <a:pPr algn="r">
              <a:spcAft>
                <a:spcPts val="100"/>
              </a:spcAft>
              <a:defRPr sz="1100" b="1">
                <a:solidFill>
                  <a:srgbClr val="00E5FF"/>
                </a:solidFill>
                <a:latin typeface="Cairo"/>
              </a:defRPr>
            </a:pPr>
            <a:r>
              <a:t>2. كلمات المرور والمصادقة (Authentication)</a:t>
            </a:r>
          </a:p>
          <a:p>
            <a:pPr algn="r">
              <a:spcAft>
                <a:spcPts val="400"/>
              </a:spcAft>
              <a:defRPr sz="1000">
                <a:solidFill>
                  <a:srgbClr val="E2E8F0"/>
                </a:solidFill>
                <a:latin typeface="Cairo"/>
              </a:defRPr>
            </a:pPr>
            <a:r>
              <a:t>قواعد الكلمات القوية، إدارة المفاتيح، والتحقق الثنائي 2FA.</a:t>
            </a:r>
          </a:p>
          <a:p>
            <a:pPr algn="r">
              <a:spcAft>
                <a:spcPts val="100"/>
              </a:spcAft>
              <a:defRPr sz="1100" b="1">
                <a:solidFill>
                  <a:srgbClr val="00E5FF"/>
                </a:solidFill>
                <a:latin typeface="Cairo"/>
              </a:defRPr>
            </a:pPr>
            <a:r>
              <a:t>3. البرمجيات الخبيثة (Malware Defense)</a:t>
            </a:r>
          </a:p>
          <a:p>
            <a:pPr algn="r">
              <a:spcAft>
                <a:spcPts val="400"/>
              </a:spcAft>
              <a:defRPr sz="1000">
                <a:solidFill>
                  <a:srgbClr val="E2E8F0"/>
                </a:solidFill>
                <a:latin typeface="Cairo"/>
              </a:defRPr>
            </a:pPr>
            <a:r>
              <a:t>أنواع الفيروسات، برامج الفدية، وأدوات الحماية والتحديث.</a:t>
            </a:r>
          </a:p>
          <a:p>
            <a:pPr algn="r">
              <a:spcAft>
                <a:spcPts val="100"/>
              </a:spcAft>
              <a:defRPr sz="1100" b="1">
                <a:solidFill>
                  <a:srgbClr val="00E5FF"/>
                </a:solidFill>
                <a:latin typeface="Cairo"/>
              </a:defRPr>
            </a:pPr>
            <a:r>
              <a:t>4. أمان التصفح والشبكات (Safe Browsing)</a:t>
            </a:r>
          </a:p>
          <a:p>
            <a:pPr algn="r">
              <a:spcAft>
                <a:spcPts val="400"/>
              </a:spcAft>
              <a:defRPr sz="1000">
                <a:solidFill>
                  <a:srgbClr val="E2E8F0"/>
                </a:solidFill>
                <a:latin typeface="Cairo"/>
              </a:defRPr>
            </a:pPr>
            <a:r>
              <a:t>بروتوكول HTTPS، مخاطر شبكات Wi-Fi العامة، وشهادات الأمان.</a:t>
            </a:r>
          </a:p>
          <a:p>
            <a:pPr algn="r">
              <a:spcAft>
                <a:spcPts val="100"/>
              </a:spcAft>
              <a:defRPr sz="1100" b="1">
                <a:solidFill>
                  <a:srgbClr val="00E5FF"/>
                </a:solidFill>
                <a:latin typeface="Cairo"/>
              </a:defRPr>
            </a:pPr>
            <a:r>
              <a:t>5. حماية الخصوصية الرقمية (Data Privacy)</a:t>
            </a:r>
          </a:p>
          <a:p>
            <a:pPr algn="r">
              <a:spcAft>
                <a:spcPts val="400"/>
              </a:spcAft>
              <a:defRPr sz="1000">
                <a:solidFill>
                  <a:srgbClr val="E2E8F0"/>
                </a:solidFill>
                <a:latin typeface="Cairo"/>
              </a:defRPr>
            </a:pPr>
            <a:r>
              <a:t>إدارة الأذونات، تقليل البصمة الرقمية، ومكافحة التتبع.</a:t>
            </a:r>
          </a:p>
          <a:p>
            <a:pPr algn="r">
              <a:spcAft>
                <a:spcPts val="100"/>
              </a:spcAft>
              <a:defRPr sz="1100" b="1">
                <a:solidFill>
                  <a:srgbClr val="00E5FF"/>
                </a:solidFill>
                <a:latin typeface="Cairo"/>
              </a:defRPr>
            </a:pPr>
            <a:r>
              <a:t>6. الاحتيال المالي الإلكتروني (Financial Fraud)</a:t>
            </a:r>
          </a:p>
          <a:p>
            <a:pPr algn="r">
              <a:spcAft>
                <a:spcPts val="400"/>
              </a:spcAft>
              <a:defRPr sz="1000">
                <a:solidFill>
                  <a:srgbClr val="E2E8F0"/>
                </a:solidFill>
                <a:latin typeface="Cairo"/>
              </a:defRPr>
            </a:pPr>
            <a:r>
              <a:t>حيل البطاقات الائتمانية، بوابات الدفع الوهمية، والعمليات المشبوهة.</a:t>
            </a:r>
          </a:p>
          <a:p>
            <a:pPr algn="r">
              <a:spcAft>
                <a:spcPts val="100"/>
              </a:spcAft>
              <a:defRPr sz="1100" b="1">
                <a:solidFill>
                  <a:srgbClr val="00E5FF"/>
                </a:solidFill>
                <a:latin typeface="Cairo"/>
              </a:defRPr>
            </a:pPr>
            <a:r>
              <a:t>7. الاستجابة للحوادث السيبرانية (Incident Response)</a:t>
            </a:r>
          </a:p>
          <a:p>
            <a:pPr algn="r">
              <a:spcAft>
                <a:spcPts val="400"/>
              </a:spcAft>
              <a:defRPr sz="1000">
                <a:solidFill>
                  <a:srgbClr val="E2E8F0"/>
                </a:solidFill>
                <a:latin typeface="Cairo"/>
              </a:defRPr>
            </a:pPr>
            <a:r>
              <a:t>خطوات التصرف الفوري عند الشك بالاختراق، الإبلاغ، واستعادة الحسابات.</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بنك الاختبارات ونزاهة التقييم الأمني (Quizzes)</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600200"/>
            <a:ext cx="6035040" cy="4480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_4_quiz.png"/>
          <p:cNvPicPr>
            <a:picLocks noChangeAspect="1"/>
          </p:cNvPicPr>
          <p:nvPr/>
        </p:nvPicPr>
        <p:blipFill>
          <a:blip r:embed="rId2"/>
          <a:stretch>
            <a:fillRect/>
          </a:stretch>
        </p:blipFill>
        <p:spPr>
          <a:xfrm>
            <a:off x="731520" y="1645920"/>
            <a:ext cx="5943600" cy="4389120"/>
          </a:xfrm>
          <a:prstGeom prst="rect">
            <a:avLst/>
          </a:prstGeom>
        </p:spPr>
      </p:pic>
      <p:sp>
        <p:nvSpPr>
          <p:cNvPr id="7" name="TextBox 6"/>
          <p:cNvSpPr txBox="1"/>
          <p:nvPr/>
        </p:nvSpPr>
        <p:spPr>
          <a:xfrm>
            <a:off x="731520" y="6108192"/>
            <a:ext cx="5943600" cy="320040"/>
          </a:xfrm>
          <a:prstGeom prst="rect">
            <a:avLst/>
          </a:prstGeom>
          <a:noFill/>
        </p:spPr>
        <p:txBody>
          <a:bodyPr wrap="square" lIns="0" tIns="0" rIns="0" bIns="0">
            <a:spAutoFit/>
          </a:bodyPr>
          <a:lstStyle/>
          <a:p>
            <a:pPr algn="ctr">
              <a:defRPr sz="1000">
                <a:solidFill>
                  <a:srgbClr val="00E5FF"/>
                </a:solidFill>
                <a:latin typeface="Cairo"/>
              </a:defRPr>
            </a:pPr>
            <a:r>
              <a:t>شكل (2-7): واجهة خوض الاختبارات التفاعلية وفحص الاستيعاب</a:t>
            </a:r>
          </a:p>
        </p:txBody>
      </p:sp>
      <p:sp>
        <p:nvSpPr>
          <p:cNvPr id="8" name="Rounded Rectangle 7"/>
          <p:cNvSpPr/>
          <p:nvPr/>
        </p:nvSpPr>
        <p:spPr>
          <a:xfrm>
            <a:off x="6949440" y="1645920"/>
            <a:ext cx="4510735" cy="1051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86600" y="1737360"/>
            <a:ext cx="4206240" cy="868680"/>
          </a:xfrm>
          <a:prstGeom prst="rect">
            <a:avLst/>
          </a:prstGeom>
          <a:noFill/>
        </p:spPr>
        <p:txBody>
          <a:bodyPr wrap="square">
            <a:spAutoFit/>
          </a:bodyPr>
          <a:lstStyle/>
          <a:p>
            <a:pPr algn="r">
              <a:defRPr sz="1300" b="1">
                <a:solidFill>
                  <a:srgbClr val="00E5FF"/>
                </a:solidFill>
                <a:latin typeface="Cairo"/>
              </a:defRPr>
            </a:pPr>
            <a:r>
              <a:t>اختبار مقنن لكل درس</a:t>
            </a:r>
          </a:p>
          <a:p>
            <a:pPr algn="r">
              <a:defRPr sz="1050">
                <a:solidFill>
                  <a:srgbClr val="E2E8F0"/>
                </a:solidFill>
                <a:latin typeface="Cairo"/>
              </a:defRPr>
            </a:pPr>
            <a:r>
              <a:t>يختتم كل درس باختبار تفاعلي يقيس استيعاب المفاهيم ومكامن الغموض فورياً قبل الانتقال للوحدة التالية.</a:t>
            </a:r>
          </a:p>
        </p:txBody>
      </p:sp>
      <p:sp>
        <p:nvSpPr>
          <p:cNvPr id="10" name="Rounded Rectangle 9"/>
          <p:cNvSpPr/>
          <p:nvPr/>
        </p:nvSpPr>
        <p:spPr>
          <a:xfrm>
            <a:off x="6949440" y="2788920"/>
            <a:ext cx="4510735" cy="1051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6600" y="2880360"/>
            <a:ext cx="4206240" cy="868680"/>
          </a:xfrm>
          <a:prstGeom prst="rect">
            <a:avLst/>
          </a:prstGeom>
          <a:noFill/>
        </p:spPr>
        <p:txBody>
          <a:bodyPr wrap="square">
            <a:spAutoFit/>
          </a:bodyPr>
          <a:lstStyle/>
          <a:p>
            <a:pPr algn="r">
              <a:defRPr sz="1300" b="1">
                <a:solidFill>
                  <a:srgbClr val="F59E0B"/>
                </a:solidFill>
                <a:latin typeface="Cairo"/>
              </a:defRPr>
            </a:pPr>
            <a:r>
              <a:t>حظر تسريب الإجابات عبر الشبكة</a:t>
            </a:r>
          </a:p>
          <a:p>
            <a:pPr algn="r">
              <a:defRPr sz="1050">
                <a:solidFill>
                  <a:srgbClr val="E2E8F0"/>
                </a:solidFill>
                <a:latin typeface="Cairo"/>
              </a:defRPr>
            </a:pPr>
            <a:r>
              <a:t>أمنياً، تقوم واجهة برمجة التطبيقات (tRPC) بإرسال نصوص الأسئلة والخيارات مجردة تماماً من الإجابة الصحيحة أو شروحها، لمنع استخراجها عبر أدوات فحص المتصفح (Inspect Element).</a:t>
            </a:r>
          </a:p>
        </p:txBody>
      </p:sp>
      <p:sp>
        <p:nvSpPr>
          <p:cNvPr id="12" name="Rounded Rectangle 11"/>
          <p:cNvSpPr/>
          <p:nvPr/>
        </p:nvSpPr>
        <p:spPr>
          <a:xfrm>
            <a:off x="6949440" y="3931920"/>
            <a:ext cx="4510735" cy="1051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86600" y="4023360"/>
            <a:ext cx="4206240" cy="868680"/>
          </a:xfrm>
          <a:prstGeom prst="rect">
            <a:avLst/>
          </a:prstGeom>
          <a:noFill/>
        </p:spPr>
        <p:txBody>
          <a:bodyPr wrap="square">
            <a:spAutoFit/>
          </a:bodyPr>
          <a:lstStyle/>
          <a:p>
            <a:pPr algn="r">
              <a:defRPr sz="1300" b="1">
                <a:solidFill>
                  <a:srgbClr val="10B981"/>
                </a:solidFill>
                <a:latin typeface="Cairo"/>
              </a:defRPr>
            </a:pPr>
            <a:r>
              <a:t>التصحيح السحابي الآمن</a:t>
            </a:r>
          </a:p>
          <a:p>
            <a:pPr algn="r">
              <a:defRPr sz="1050">
                <a:solidFill>
                  <a:srgbClr val="E2E8F0"/>
                </a:solidFill>
                <a:latin typeface="Cairo"/>
              </a:defRPr>
            </a:pPr>
            <a:r>
              <a:t>يتم تقييم الإجابات حصرياً داخل بيئة الخادم بعد استلام خيار الطالب، ثم إعادة النتيجة والتغذية الراجعة المشروحة.</a:t>
            </a:r>
          </a:p>
        </p:txBody>
      </p:sp>
      <p:sp>
        <p:nvSpPr>
          <p:cNvPr id="14" name="Rounded Rectangle 13"/>
          <p:cNvSpPr/>
          <p:nvPr/>
        </p:nvSpPr>
        <p:spPr>
          <a:xfrm>
            <a:off x="6949440" y="5074920"/>
            <a:ext cx="4510735" cy="1051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86600" y="5166360"/>
            <a:ext cx="4206240" cy="868680"/>
          </a:xfrm>
          <a:prstGeom prst="rect">
            <a:avLst/>
          </a:prstGeom>
          <a:noFill/>
        </p:spPr>
        <p:txBody>
          <a:bodyPr wrap="square">
            <a:spAutoFit/>
          </a:bodyPr>
          <a:lstStyle/>
          <a:p>
            <a:pPr algn="r">
              <a:defRPr sz="1300" b="1">
                <a:solidFill>
                  <a:srgbClr val="E2E8F0"/>
                </a:solidFill>
                <a:latin typeface="Cairo"/>
              </a:defRPr>
            </a:pPr>
            <a:r>
              <a:t>تحديث مباشر لسجل المهارات</a:t>
            </a:r>
          </a:p>
          <a:p>
            <a:pPr algn="r">
              <a:defRPr sz="1050">
                <a:solidFill>
                  <a:srgbClr val="E2E8F0"/>
                </a:solidFill>
                <a:latin typeface="Cairo"/>
              </a:defRPr>
            </a:pPr>
            <a:r>
              <a:t>ترتبط درجات الاختبارات مباشرة بمحرك تحليل نقاط الضعف لتحديث خطة التوصيات الشخصية للمستخدم.</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محاكي السيناريوهات التفاعلية واتخاذ القرارات</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600200"/>
            <a:ext cx="5303520" cy="2194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_5_scenario.png"/>
          <p:cNvPicPr>
            <a:picLocks noChangeAspect="1"/>
          </p:cNvPicPr>
          <p:nvPr/>
        </p:nvPicPr>
        <p:blipFill>
          <a:blip r:embed="rId2"/>
          <a:stretch>
            <a:fillRect/>
          </a:stretch>
        </p:blipFill>
        <p:spPr>
          <a:xfrm>
            <a:off x="731520" y="1645920"/>
            <a:ext cx="5212080" cy="2103120"/>
          </a:xfrm>
          <a:prstGeom prst="rect">
            <a:avLst/>
          </a:prstGeom>
        </p:spPr>
      </p:pic>
      <p:sp>
        <p:nvSpPr>
          <p:cNvPr id="7" name="TextBox 6"/>
          <p:cNvSpPr txBox="1"/>
          <p:nvPr/>
        </p:nvSpPr>
        <p:spPr>
          <a:xfrm>
            <a:off x="731520" y="3822192"/>
            <a:ext cx="5212080" cy="320040"/>
          </a:xfrm>
          <a:prstGeom prst="rect">
            <a:avLst/>
          </a:prstGeom>
          <a:noFill/>
        </p:spPr>
        <p:txBody>
          <a:bodyPr wrap="square" lIns="0" tIns="0" rIns="0" bIns="0">
            <a:spAutoFit/>
          </a:bodyPr>
          <a:lstStyle/>
          <a:p>
            <a:pPr algn="ctr">
              <a:defRPr sz="1000">
                <a:solidFill>
                  <a:srgbClr val="00E5FF"/>
                </a:solidFill>
                <a:latin typeface="Cairo"/>
              </a:defRPr>
            </a:pPr>
            <a:r>
              <a:t>شكل (2-8): استلام الموقف السيبراني واكتشاف الطعم</a:t>
            </a:r>
          </a:p>
        </p:txBody>
      </p:sp>
      <p:sp>
        <p:nvSpPr>
          <p:cNvPr id="8" name="Rounded Rectangle 7"/>
          <p:cNvSpPr/>
          <p:nvPr/>
        </p:nvSpPr>
        <p:spPr>
          <a:xfrm>
            <a:off x="685800" y="4069080"/>
            <a:ext cx="5303520" cy="2194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shot_scenario_step2.png"/>
          <p:cNvPicPr>
            <a:picLocks noChangeAspect="1"/>
          </p:cNvPicPr>
          <p:nvPr/>
        </p:nvPicPr>
        <p:blipFill>
          <a:blip r:embed="rId3"/>
          <a:stretch>
            <a:fillRect/>
          </a:stretch>
        </p:blipFill>
        <p:spPr>
          <a:xfrm>
            <a:off x="731520" y="4114800"/>
            <a:ext cx="5212080" cy="2103120"/>
          </a:xfrm>
          <a:prstGeom prst="rect">
            <a:avLst/>
          </a:prstGeom>
        </p:spPr>
      </p:pic>
      <p:sp>
        <p:nvSpPr>
          <p:cNvPr id="10" name="TextBox 9"/>
          <p:cNvSpPr txBox="1"/>
          <p:nvPr/>
        </p:nvSpPr>
        <p:spPr>
          <a:xfrm>
            <a:off x="731520" y="6291072"/>
            <a:ext cx="5212080" cy="320040"/>
          </a:xfrm>
          <a:prstGeom prst="rect">
            <a:avLst/>
          </a:prstGeom>
          <a:noFill/>
        </p:spPr>
        <p:txBody>
          <a:bodyPr wrap="square" lIns="0" tIns="0" rIns="0" bIns="0">
            <a:spAutoFit/>
          </a:bodyPr>
          <a:lstStyle/>
          <a:p>
            <a:pPr algn="ctr">
              <a:defRPr sz="1000">
                <a:solidFill>
                  <a:srgbClr val="00E5FF"/>
                </a:solidFill>
                <a:latin typeface="Cairo"/>
              </a:defRPr>
            </a:pPr>
            <a:r>
              <a:t>شكل (2-9): نتيجة القرار الدفاعي وملاحظة الأثر</a:t>
            </a:r>
          </a:p>
        </p:txBody>
      </p:sp>
      <p:sp>
        <p:nvSpPr>
          <p:cNvPr id="11" name="Rounded Rectangle 10"/>
          <p:cNvSpPr/>
          <p:nvPr/>
        </p:nvSpPr>
        <p:spPr>
          <a:xfrm>
            <a:off x="6217920" y="1645920"/>
            <a:ext cx="5242255" cy="13716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755648"/>
            <a:ext cx="4937760" cy="1143000"/>
          </a:xfrm>
          <a:prstGeom prst="rect">
            <a:avLst/>
          </a:prstGeom>
          <a:noFill/>
        </p:spPr>
        <p:txBody>
          <a:bodyPr wrap="square">
            <a:spAutoFit/>
          </a:bodyPr>
          <a:lstStyle/>
          <a:p>
            <a:pPr algn="r">
              <a:spcAft>
                <a:spcPts val="400"/>
              </a:spcAft>
              <a:defRPr sz="1300" b="1">
                <a:solidFill>
                  <a:srgbClr val="00E5FF"/>
                </a:solidFill>
                <a:latin typeface="Cairo"/>
              </a:defRPr>
            </a:pPr>
            <a:r>
              <a:t>🎮 التعلم التجريبي (Experiential Learning)</a:t>
            </a:r>
          </a:p>
          <a:p>
            <a:pPr algn="r">
              <a:defRPr sz="1100">
                <a:solidFill>
                  <a:srgbClr val="E2E8F0"/>
                </a:solidFill>
                <a:latin typeface="Cairo"/>
              </a:defRPr>
            </a:pPr>
            <a:r>
              <a:t>وضع المتدرب في قلب موقف هجومي واقعي (مثل استلام رسالة احتيالية باسم البنك أو مكالمة انتحال دعم فني)، لإكسابه خبرة حية دون أي مخاطرة.</a:t>
            </a:r>
          </a:p>
        </p:txBody>
      </p:sp>
      <p:sp>
        <p:nvSpPr>
          <p:cNvPr id="13" name="Rounded Rectangle 12"/>
          <p:cNvSpPr/>
          <p:nvPr/>
        </p:nvSpPr>
        <p:spPr>
          <a:xfrm>
            <a:off x="6217920" y="3154680"/>
            <a:ext cx="5242255" cy="13716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264408"/>
            <a:ext cx="4937760" cy="1143000"/>
          </a:xfrm>
          <a:prstGeom prst="rect">
            <a:avLst/>
          </a:prstGeom>
          <a:noFill/>
        </p:spPr>
        <p:txBody>
          <a:bodyPr wrap="square">
            <a:spAutoFit/>
          </a:bodyPr>
          <a:lstStyle/>
          <a:p>
            <a:pPr algn="r">
              <a:spcAft>
                <a:spcPts val="400"/>
              </a:spcAft>
              <a:defRPr sz="1300" b="1">
                <a:solidFill>
                  <a:srgbClr val="10B981"/>
                </a:solidFill>
                <a:latin typeface="Cairo"/>
              </a:defRPr>
            </a:pPr>
            <a:r>
              <a:t>🔄 التدفق المتشعب متعدد الخطوات</a:t>
            </a:r>
          </a:p>
          <a:p>
            <a:pPr algn="r">
              <a:defRPr sz="1100">
                <a:solidFill>
                  <a:srgbClr val="E2E8F0"/>
                </a:solidFill>
                <a:latin typeface="Cairo"/>
              </a:defRPr>
            </a:pPr>
            <a:r>
              <a:t>لا تنتهي المحاكاة بسؤال واحد، بل تتشعب الخطوات وفق قرار المستخدم، مما يسمح له باختبار العواقب السلبية لقراره الخاطئ أو النجاح في إحباط الهجوم.</a:t>
            </a:r>
          </a:p>
        </p:txBody>
      </p:sp>
      <p:sp>
        <p:nvSpPr>
          <p:cNvPr id="15" name="Rounded Rectangle 14"/>
          <p:cNvSpPr/>
          <p:nvPr/>
        </p:nvSpPr>
        <p:spPr>
          <a:xfrm>
            <a:off x="6217920" y="4663440"/>
            <a:ext cx="5242255" cy="13716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773168"/>
            <a:ext cx="4937760" cy="1143000"/>
          </a:xfrm>
          <a:prstGeom prst="rect">
            <a:avLst/>
          </a:prstGeom>
          <a:noFill/>
        </p:spPr>
        <p:txBody>
          <a:bodyPr wrap="square">
            <a:spAutoFit/>
          </a:bodyPr>
          <a:lstStyle/>
          <a:p>
            <a:pPr algn="r">
              <a:spcAft>
                <a:spcPts val="400"/>
              </a:spcAft>
              <a:defRPr sz="1300" b="1">
                <a:solidFill>
                  <a:srgbClr val="F59E0B"/>
                </a:solidFill>
                <a:latin typeface="Cairo"/>
              </a:defRPr>
            </a:pPr>
            <a:r>
              <a:t>🛡️ حماية مسارات السيناريو من الكشف</a:t>
            </a:r>
          </a:p>
          <a:p>
            <a:pPr algn="r">
              <a:defRPr sz="1100">
                <a:solidFill>
                  <a:srgbClr val="E2E8F0"/>
                </a:solidFill>
                <a:latin typeface="Cairo"/>
              </a:defRPr>
            </a:pPr>
            <a:r>
              <a:t>تطبيق معمارية (Step-by-Step Server Flow)؛ حيث لا يرسل الخادم بيانات الخطوة التالية أو التغذية الراجعة إلا بعد استلام اختيار المتدرب للخطوة الحالية.</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المحلل الآمن للروابط والرسائل المشبوهة (Safe Analyzer)</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600200"/>
            <a:ext cx="5303520" cy="2194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_safe_analyzer.png"/>
          <p:cNvPicPr>
            <a:picLocks noChangeAspect="1"/>
          </p:cNvPicPr>
          <p:nvPr/>
        </p:nvPicPr>
        <p:blipFill>
          <a:blip r:embed="rId2"/>
          <a:stretch>
            <a:fillRect/>
          </a:stretch>
        </p:blipFill>
        <p:spPr>
          <a:xfrm>
            <a:off x="731520" y="1645920"/>
            <a:ext cx="5212080" cy="2103120"/>
          </a:xfrm>
          <a:prstGeom prst="rect">
            <a:avLst/>
          </a:prstGeom>
        </p:spPr>
      </p:pic>
      <p:sp>
        <p:nvSpPr>
          <p:cNvPr id="7" name="TextBox 6"/>
          <p:cNvSpPr txBox="1"/>
          <p:nvPr/>
        </p:nvSpPr>
        <p:spPr>
          <a:xfrm>
            <a:off x="731520" y="3822192"/>
            <a:ext cx="5212080" cy="320040"/>
          </a:xfrm>
          <a:prstGeom prst="rect">
            <a:avLst/>
          </a:prstGeom>
          <a:noFill/>
        </p:spPr>
        <p:txBody>
          <a:bodyPr wrap="square" lIns="0" tIns="0" rIns="0" bIns="0">
            <a:spAutoFit/>
          </a:bodyPr>
          <a:lstStyle/>
          <a:p>
            <a:pPr algn="ctr">
              <a:defRPr sz="1000">
                <a:solidFill>
                  <a:srgbClr val="00E5FF"/>
                </a:solidFill>
                <a:latin typeface="Cairo"/>
              </a:defRPr>
            </a:pPr>
            <a:r>
              <a:t>شكل (2-10): فحص الروابط وتفكيك النطاق المشبوه</a:t>
            </a:r>
          </a:p>
        </p:txBody>
      </p:sp>
      <p:sp>
        <p:nvSpPr>
          <p:cNvPr id="8" name="Rounded Rectangle 7"/>
          <p:cNvSpPr/>
          <p:nvPr/>
        </p:nvSpPr>
        <p:spPr>
          <a:xfrm>
            <a:off x="685800" y="4069080"/>
            <a:ext cx="5303520" cy="2194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shot_analyzer_message.png"/>
          <p:cNvPicPr>
            <a:picLocks noChangeAspect="1"/>
          </p:cNvPicPr>
          <p:nvPr/>
        </p:nvPicPr>
        <p:blipFill>
          <a:blip r:embed="rId3"/>
          <a:stretch>
            <a:fillRect/>
          </a:stretch>
        </p:blipFill>
        <p:spPr>
          <a:xfrm>
            <a:off x="731520" y="4114800"/>
            <a:ext cx="5212080" cy="2103120"/>
          </a:xfrm>
          <a:prstGeom prst="rect">
            <a:avLst/>
          </a:prstGeom>
        </p:spPr>
      </p:pic>
      <p:sp>
        <p:nvSpPr>
          <p:cNvPr id="10" name="TextBox 9"/>
          <p:cNvSpPr txBox="1"/>
          <p:nvPr/>
        </p:nvSpPr>
        <p:spPr>
          <a:xfrm>
            <a:off x="731520" y="6291072"/>
            <a:ext cx="5212080" cy="320040"/>
          </a:xfrm>
          <a:prstGeom prst="rect">
            <a:avLst/>
          </a:prstGeom>
          <a:noFill/>
        </p:spPr>
        <p:txBody>
          <a:bodyPr wrap="square" lIns="0" tIns="0" rIns="0" bIns="0">
            <a:spAutoFit/>
          </a:bodyPr>
          <a:lstStyle/>
          <a:p>
            <a:pPr algn="ctr">
              <a:defRPr sz="1000">
                <a:solidFill>
                  <a:srgbClr val="00E5FF"/>
                </a:solidFill>
                <a:latin typeface="Cairo"/>
              </a:defRPr>
            </a:pPr>
            <a:r>
              <a:t>شكل (2-11): فحص الرسائل وكشف حيل الهندسة الاجتماعية</a:t>
            </a:r>
          </a:p>
        </p:txBody>
      </p:sp>
      <p:sp>
        <p:nvSpPr>
          <p:cNvPr id="11" name="Rounded Rectangle 10"/>
          <p:cNvSpPr/>
          <p:nvPr/>
        </p:nvSpPr>
        <p:spPr>
          <a:xfrm>
            <a:off x="6217920" y="1645920"/>
            <a:ext cx="5242255" cy="4480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1737360"/>
            <a:ext cx="4876495" cy="4297680"/>
          </a:xfrm>
          <a:prstGeom prst="rect">
            <a:avLst/>
          </a:prstGeom>
          <a:noFill/>
        </p:spPr>
        <p:txBody>
          <a:bodyPr wrap="square">
            <a:spAutoFit/>
          </a:bodyPr>
          <a:lstStyle/>
          <a:p>
            <a:pPr algn="r">
              <a:spcAft>
                <a:spcPts val="800"/>
              </a:spcAft>
              <a:defRPr sz="1400" b="1">
                <a:solidFill>
                  <a:srgbClr val="00E5FF"/>
                </a:solidFill>
                <a:latin typeface="Cairo"/>
              </a:defRPr>
            </a:pPr>
            <a:r>
              <a:t>🔍 الميزات الهندسية والأمنية للمحلل الآمن:</a:t>
            </a:r>
          </a:p>
          <a:p>
            <a:pPr algn="r">
              <a:spcAft>
                <a:spcPts val="200"/>
              </a:spcAft>
              <a:defRPr sz="1200" b="1">
                <a:solidFill>
                  <a:srgbClr val="10B981"/>
                </a:solidFill>
                <a:latin typeface="Cairo"/>
              </a:defRPr>
            </a:pPr>
            <a:r>
              <a:t>🔗 فحص وتفكيك الروابط (Link Analysis)</a:t>
            </a:r>
          </a:p>
          <a:p>
            <a:pPr algn="r">
              <a:spcAft>
                <a:spcPts val="600"/>
              </a:spcAft>
              <a:defRPr sz="1000">
                <a:solidFill>
                  <a:srgbClr val="E2E8F0"/>
                </a:solidFill>
                <a:latin typeface="Cairo"/>
              </a:defRPr>
            </a:pPr>
            <a:r>
              <a:t>▪ تفكيك بنية النطاق بدقة: اسم النطاق الأساسي، النطاق الأعلى (TLD)، والنطاقات الفرعية.</a:t>
            </a:r>
            <a:br/>
            <a:r>
              <a:t>▪ كشف خدمات تقصير الروابط الشائعة (bit.ly, tinyurl) التي تخفي الوجهة الحقيقية.</a:t>
            </a:r>
            <a:br/>
            <a:r>
              <a:t>▪ اكتشاف الرموز المضللة وحيل التلاعب البصري (Punycode / Homograph Attacks).</a:t>
            </a:r>
          </a:p>
          <a:p>
            <a:pPr algn="r">
              <a:spcAft>
                <a:spcPts val="200"/>
              </a:spcAft>
              <a:defRPr sz="1200" b="1">
                <a:solidFill>
                  <a:srgbClr val="10B981"/>
                </a:solidFill>
                <a:latin typeface="Cairo"/>
              </a:defRPr>
            </a:pPr>
            <a:r>
              <a:t>💬 فحص نصوص الرسائل (Message Analysis)</a:t>
            </a:r>
          </a:p>
          <a:p>
            <a:pPr algn="r">
              <a:spcAft>
                <a:spcPts val="600"/>
              </a:spcAft>
              <a:defRPr sz="1000">
                <a:solidFill>
                  <a:srgbClr val="E2E8F0"/>
                </a:solidFill>
                <a:latin typeface="Cairo"/>
              </a:defRPr>
            </a:pPr>
            <a:r>
              <a:t>▪ رصد مؤشرات الاستعجال المصطنع (مثل: 'حسابك معطل، سارع بالدفع خلال ساعة').</a:t>
            </a:r>
            <a:br/>
            <a:r>
              <a:t>▪ كشف أساليب الترهيب أو الإغراء بجوائز ومساعدات مالية وهمية.</a:t>
            </a:r>
            <a:br/>
            <a:r>
              <a:t>▪ رصد طلبات مشاركة كلمات المرور، رموز OTP، أو البيانات البنكية الحساسة.</a:t>
            </a:r>
          </a:p>
          <a:p>
            <a:pPr algn="r">
              <a:spcAft>
                <a:spcPts val="200"/>
              </a:spcAft>
              <a:defRPr sz="1200" b="1">
                <a:solidFill>
                  <a:srgbClr val="10B981"/>
                </a:solidFill>
                <a:latin typeface="Cairo"/>
              </a:defRPr>
            </a:pPr>
            <a:r>
              <a:t>🛡️ العزل التام والأمان المحلي (Zero-Contact)</a:t>
            </a:r>
          </a:p>
          <a:p>
            <a:pPr algn="r">
              <a:spcAft>
                <a:spcPts val="600"/>
              </a:spcAft>
              <a:defRPr sz="1000">
                <a:solidFill>
                  <a:srgbClr val="E2E8F0"/>
                </a:solidFill>
                <a:latin typeface="Cairo"/>
              </a:defRPr>
            </a:pPr>
            <a:r>
              <a:t>▪ التحليل يتم محلياً بالكامل عبر خوارزمية استدلالية متطورة (Heuristic Analysis).</a:t>
            </a:r>
            <a:br/>
            <a:r>
              <a:t>▪ لا يقوم الخادم أو المتصفح بإجراء أي اتصال خارجي أو زيارة الرابط المشبوه مطلقاً، مما يحمي المستخدم والمنصة من أي هجوم معاكس.</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محرك التوصيات الذكية والتقييم البعدي (Risk &amp; Post-Assessment)</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600200"/>
            <a:ext cx="5303520" cy="2194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_6_weakness_recommendations.png"/>
          <p:cNvPicPr>
            <a:picLocks noChangeAspect="1"/>
          </p:cNvPicPr>
          <p:nvPr/>
        </p:nvPicPr>
        <p:blipFill>
          <a:blip r:embed="rId2"/>
          <a:stretch>
            <a:fillRect/>
          </a:stretch>
        </p:blipFill>
        <p:spPr>
          <a:xfrm>
            <a:off x="731520" y="1645920"/>
            <a:ext cx="5212080" cy="2103120"/>
          </a:xfrm>
          <a:prstGeom prst="rect">
            <a:avLst/>
          </a:prstGeom>
        </p:spPr>
      </p:pic>
      <p:sp>
        <p:nvSpPr>
          <p:cNvPr id="7" name="TextBox 6"/>
          <p:cNvSpPr txBox="1"/>
          <p:nvPr/>
        </p:nvSpPr>
        <p:spPr>
          <a:xfrm>
            <a:off x="731520" y="3822192"/>
            <a:ext cx="5212080" cy="320040"/>
          </a:xfrm>
          <a:prstGeom prst="rect">
            <a:avLst/>
          </a:prstGeom>
          <a:noFill/>
        </p:spPr>
        <p:txBody>
          <a:bodyPr wrap="square" lIns="0" tIns="0" rIns="0" bIns="0">
            <a:spAutoFit/>
          </a:bodyPr>
          <a:lstStyle/>
          <a:p>
            <a:pPr algn="ctr">
              <a:defRPr sz="1000">
                <a:solidFill>
                  <a:srgbClr val="00E5FF"/>
                </a:solidFill>
                <a:latin typeface="Cairo"/>
              </a:defRPr>
            </a:pPr>
            <a:r>
              <a:t>شكل (2-12): رصد نقاط الضعف والتوصيات الذكية</a:t>
            </a:r>
          </a:p>
        </p:txBody>
      </p:sp>
      <p:sp>
        <p:nvSpPr>
          <p:cNvPr id="8" name="Rounded Rectangle 7"/>
          <p:cNvSpPr/>
          <p:nvPr/>
        </p:nvSpPr>
        <p:spPr>
          <a:xfrm>
            <a:off x="685800" y="4069080"/>
            <a:ext cx="5303520" cy="2194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shot_7_post_assessment.png"/>
          <p:cNvPicPr>
            <a:picLocks noChangeAspect="1"/>
          </p:cNvPicPr>
          <p:nvPr/>
        </p:nvPicPr>
        <p:blipFill>
          <a:blip r:embed="rId3"/>
          <a:stretch>
            <a:fillRect/>
          </a:stretch>
        </p:blipFill>
        <p:spPr>
          <a:xfrm>
            <a:off x="731520" y="4114800"/>
            <a:ext cx="5212080" cy="2103120"/>
          </a:xfrm>
          <a:prstGeom prst="rect">
            <a:avLst/>
          </a:prstGeom>
        </p:spPr>
      </p:pic>
      <p:sp>
        <p:nvSpPr>
          <p:cNvPr id="10" name="TextBox 9"/>
          <p:cNvSpPr txBox="1"/>
          <p:nvPr/>
        </p:nvSpPr>
        <p:spPr>
          <a:xfrm>
            <a:off x="731520" y="6291072"/>
            <a:ext cx="5212080" cy="320040"/>
          </a:xfrm>
          <a:prstGeom prst="rect">
            <a:avLst/>
          </a:prstGeom>
          <a:noFill/>
        </p:spPr>
        <p:txBody>
          <a:bodyPr wrap="square" lIns="0" tIns="0" rIns="0" bIns="0">
            <a:spAutoFit/>
          </a:bodyPr>
          <a:lstStyle/>
          <a:p>
            <a:pPr algn="ctr">
              <a:defRPr sz="1000">
                <a:solidFill>
                  <a:srgbClr val="00E5FF"/>
                </a:solidFill>
                <a:latin typeface="Cairo"/>
              </a:defRPr>
            </a:pPr>
            <a:r>
              <a:t>شكل (2-13): نافذة التقييم البعدي وقياس التطور</a:t>
            </a:r>
          </a:p>
        </p:txBody>
      </p:sp>
      <p:sp>
        <p:nvSpPr>
          <p:cNvPr id="11" name="Rounded Rectangle 10"/>
          <p:cNvSpPr/>
          <p:nvPr/>
        </p:nvSpPr>
        <p:spPr>
          <a:xfrm>
            <a:off x="6217920" y="1645920"/>
            <a:ext cx="5242255" cy="13716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755648"/>
            <a:ext cx="4937760" cy="1143000"/>
          </a:xfrm>
          <a:prstGeom prst="rect">
            <a:avLst/>
          </a:prstGeom>
          <a:noFill/>
        </p:spPr>
        <p:txBody>
          <a:bodyPr wrap="square">
            <a:spAutoFit/>
          </a:bodyPr>
          <a:lstStyle/>
          <a:p>
            <a:pPr algn="r">
              <a:spcAft>
                <a:spcPts val="400"/>
              </a:spcAft>
              <a:defRPr sz="1300" b="1">
                <a:solidFill>
                  <a:srgbClr val="00E5FF"/>
                </a:solidFill>
                <a:latin typeface="Cairo"/>
              </a:defRPr>
            </a:pPr>
            <a:r>
              <a:t>📊 محرك تحليل المخاطر السلوكية</a:t>
            </a:r>
          </a:p>
          <a:p>
            <a:pPr algn="r">
              <a:defRPr sz="1100">
                <a:solidFill>
                  <a:srgbClr val="E2E8F0"/>
                </a:solidFill>
                <a:latin typeface="Cairo"/>
              </a:defRPr>
            </a:pPr>
            <a:r>
              <a:t>يقوم المحرك برصد أداء المتدرب في الاختبارات والسيناريوهات وتصنيف مكامن الضعف بدقة (مثل: ضعف في كشف التصيد الاحتيالي، أو إهمال حماية كلمات المرور).</a:t>
            </a:r>
          </a:p>
        </p:txBody>
      </p:sp>
      <p:sp>
        <p:nvSpPr>
          <p:cNvPr id="13" name="Rounded Rectangle 12"/>
          <p:cNvSpPr/>
          <p:nvPr/>
        </p:nvSpPr>
        <p:spPr>
          <a:xfrm>
            <a:off x="6217920" y="3154680"/>
            <a:ext cx="5242255" cy="13716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264408"/>
            <a:ext cx="4937760" cy="1143000"/>
          </a:xfrm>
          <a:prstGeom prst="rect">
            <a:avLst/>
          </a:prstGeom>
          <a:noFill/>
        </p:spPr>
        <p:txBody>
          <a:bodyPr wrap="square">
            <a:spAutoFit/>
          </a:bodyPr>
          <a:lstStyle/>
          <a:p>
            <a:pPr algn="r">
              <a:spcAft>
                <a:spcPts val="400"/>
              </a:spcAft>
              <a:defRPr sz="1300" b="1">
                <a:solidFill>
                  <a:srgbClr val="F59E0B"/>
                </a:solidFill>
                <a:latin typeface="Cairo"/>
              </a:defRPr>
            </a:pPr>
            <a:r>
              <a:t>💡 التوصيات العلاجية المخصصة</a:t>
            </a:r>
          </a:p>
          <a:p>
            <a:pPr algn="r">
              <a:defRPr sz="1100">
                <a:solidFill>
                  <a:srgbClr val="E2E8F0"/>
                </a:solidFill>
                <a:latin typeface="Cairo"/>
              </a:defRPr>
            </a:pPr>
            <a:r>
              <a:t>توليد خطة تعلم شخصية توجه المتدرب مباشرة لمراجعة دروس محددة وإعادة التدرب على السيناريوهات المرتبطة بنقاط ضعفه لرفع كفاءته.</a:t>
            </a:r>
          </a:p>
        </p:txBody>
      </p:sp>
      <p:sp>
        <p:nvSpPr>
          <p:cNvPr id="15" name="Rounded Rectangle 14"/>
          <p:cNvSpPr/>
          <p:nvPr/>
        </p:nvSpPr>
        <p:spPr>
          <a:xfrm>
            <a:off x="6217920" y="4663440"/>
            <a:ext cx="5242255" cy="13716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773168"/>
            <a:ext cx="4937760" cy="1143000"/>
          </a:xfrm>
          <a:prstGeom prst="rect">
            <a:avLst/>
          </a:prstGeom>
          <a:noFill/>
        </p:spPr>
        <p:txBody>
          <a:bodyPr wrap="square">
            <a:spAutoFit/>
          </a:bodyPr>
          <a:lstStyle/>
          <a:p>
            <a:pPr algn="r">
              <a:spcAft>
                <a:spcPts val="400"/>
              </a:spcAft>
              <a:defRPr sz="1300" b="1">
                <a:solidFill>
                  <a:srgbClr val="10B981"/>
                </a:solidFill>
                <a:latin typeface="Cairo"/>
              </a:defRPr>
            </a:pPr>
            <a:r>
              <a:t>📈 التقييم البعدي وقياس الأثر المعرفي</a:t>
            </a:r>
          </a:p>
          <a:p>
            <a:pPr algn="r">
              <a:defRPr sz="1100">
                <a:solidFill>
                  <a:srgbClr val="E2E8F0"/>
                </a:solidFill>
                <a:latin typeface="Cairo"/>
              </a:defRPr>
            </a:pPr>
            <a:r>
              <a:t>يخوض المستخدم تقييماً بعدياً شاملاً (Post-Assessment) يقارن نتائجه مباشرة بالتقييم القبلي لتحديد نسبة التحسن الفعلية، والتي بلغت في بيئة التجربة 100% بعد استكمال المسار.</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لوحة تحكم المدرس وإدارة المحتوى والاختبارات</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600200"/>
            <a:ext cx="5303520" cy="2194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_instructor_dashboard.png"/>
          <p:cNvPicPr>
            <a:picLocks noChangeAspect="1"/>
          </p:cNvPicPr>
          <p:nvPr/>
        </p:nvPicPr>
        <p:blipFill>
          <a:blip r:embed="rId2"/>
          <a:stretch>
            <a:fillRect/>
          </a:stretch>
        </p:blipFill>
        <p:spPr>
          <a:xfrm>
            <a:off x="731520" y="1645920"/>
            <a:ext cx="5212080" cy="2103120"/>
          </a:xfrm>
          <a:prstGeom prst="rect">
            <a:avLst/>
          </a:prstGeom>
        </p:spPr>
      </p:pic>
      <p:sp>
        <p:nvSpPr>
          <p:cNvPr id="7" name="TextBox 6"/>
          <p:cNvSpPr txBox="1"/>
          <p:nvPr/>
        </p:nvSpPr>
        <p:spPr>
          <a:xfrm>
            <a:off x="731520" y="3822192"/>
            <a:ext cx="5212080" cy="320040"/>
          </a:xfrm>
          <a:prstGeom prst="rect">
            <a:avLst/>
          </a:prstGeom>
          <a:noFill/>
        </p:spPr>
        <p:txBody>
          <a:bodyPr wrap="square" lIns="0" tIns="0" rIns="0" bIns="0">
            <a:spAutoFit/>
          </a:bodyPr>
          <a:lstStyle/>
          <a:p>
            <a:pPr algn="ctr">
              <a:defRPr sz="1000">
                <a:solidFill>
                  <a:srgbClr val="00E5FF"/>
                </a:solidFill>
                <a:latin typeface="Cairo"/>
              </a:defRPr>
            </a:pPr>
            <a:r>
              <a:t>شكل (2-14): لوحة تحكم المدرس وإدارة الدروس</a:t>
            </a:r>
          </a:p>
        </p:txBody>
      </p:sp>
      <p:sp>
        <p:nvSpPr>
          <p:cNvPr id="8" name="Rounded Rectangle 7"/>
          <p:cNvSpPr/>
          <p:nvPr/>
        </p:nvSpPr>
        <p:spPr>
          <a:xfrm>
            <a:off x="685800" y="4069080"/>
            <a:ext cx="5303520" cy="2194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shot_instructor_dashboard.png"/>
          <p:cNvPicPr>
            <a:picLocks noChangeAspect="1"/>
          </p:cNvPicPr>
          <p:nvPr/>
        </p:nvPicPr>
        <p:blipFill>
          <a:blip r:embed="rId2"/>
          <a:stretch>
            <a:fillRect/>
          </a:stretch>
        </p:blipFill>
        <p:spPr>
          <a:xfrm>
            <a:off x="731520" y="4114800"/>
            <a:ext cx="5212080" cy="2103120"/>
          </a:xfrm>
          <a:prstGeom prst="rect">
            <a:avLst/>
          </a:prstGeom>
        </p:spPr>
      </p:pic>
      <p:sp>
        <p:nvSpPr>
          <p:cNvPr id="10" name="TextBox 9"/>
          <p:cNvSpPr txBox="1"/>
          <p:nvPr/>
        </p:nvSpPr>
        <p:spPr>
          <a:xfrm>
            <a:off x="731520" y="6291072"/>
            <a:ext cx="5212080" cy="320040"/>
          </a:xfrm>
          <a:prstGeom prst="rect">
            <a:avLst/>
          </a:prstGeom>
          <a:noFill/>
        </p:spPr>
        <p:txBody>
          <a:bodyPr wrap="square" lIns="0" tIns="0" rIns="0" bIns="0">
            <a:spAutoFit/>
          </a:bodyPr>
          <a:lstStyle/>
          <a:p>
            <a:pPr algn="ctr">
              <a:defRPr sz="1000">
                <a:solidFill>
                  <a:srgbClr val="00E5FF"/>
                </a:solidFill>
                <a:latin typeface="Cairo"/>
              </a:defRPr>
            </a:pPr>
            <a:r>
              <a:t>شكل (2-15): نافذة تأليف وإنشاء درس مخصص</a:t>
            </a:r>
          </a:p>
        </p:txBody>
      </p:sp>
      <p:sp>
        <p:nvSpPr>
          <p:cNvPr id="11" name="Rounded Rectangle 10"/>
          <p:cNvSpPr/>
          <p:nvPr/>
        </p:nvSpPr>
        <p:spPr>
          <a:xfrm>
            <a:off x="6217920" y="1645920"/>
            <a:ext cx="5242255" cy="1051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737360"/>
            <a:ext cx="4937760" cy="868680"/>
          </a:xfrm>
          <a:prstGeom prst="rect">
            <a:avLst/>
          </a:prstGeom>
          <a:noFill/>
        </p:spPr>
        <p:txBody>
          <a:bodyPr wrap="square">
            <a:spAutoFit/>
          </a:bodyPr>
          <a:lstStyle/>
          <a:p>
            <a:pPr algn="r">
              <a:defRPr sz="1300" b="1">
                <a:solidFill>
                  <a:srgbClr val="00E5FF"/>
                </a:solidFill>
                <a:latin typeface="Cairo"/>
              </a:defRPr>
            </a:pPr>
            <a:r>
              <a:t>📝 تأليف الدروس التعليمية المخصصة</a:t>
            </a:r>
          </a:p>
          <a:p>
            <a:pPr algn="r">
              <a:defRPr sz="1050">
                <a:solidFill>
                  <a:srgbClr val="E2E8F0"/>
                </a:solidFill>
                <a:latin typeface="Cairo"/>
              </a:defRPr>
            </a:pPr>
            <a:r>
              <a:t>إمكانية إضافة وتعديل وحذف الدروس التفاعلية الخاصة بالمدرس، ودعم التنسيقات الغنية والوسائط والروابط التوعوية.</a:t>
            </a:r>
          </a:p>
        </p:txBody>
      </p:sp>
      <p:sp>
        <p:nvSpPr>
          <p:cNvPr id="13" name="Rounded Rectangle 12"/>
          <p:cNvSpPr/>
          <p:nvPr/>
        </p:nvSpPr>
        <p:spPr>
          <a:xfrm>
            <a:off x="6217920" y="2788920"/>
            <a:ext cx="5242255" cy="1051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2880360"/>
            <a:ext cx="4937760" cy="868680"/>
          </a:xfrm>
          <a:prstGeom prst="rect">
            <a:avLst/>
          </a:prstGeom>
          <a:noFill/>
        </p:spPr>
        <p:txBody>
          <a:bodyPr wrap="square">
            <a:spAutoFit/>
          </a:bodyPr>
          <a:lstStyle/>
          <a:p>
            <a:pPr algn="r">
              <a:defRPr sz="1300" b="1">
                <a:solidFill>
                  <a:srgbClr val="10B981"/>
                </a:solidFill>
                <a:latin typeface="Cairo"/>
              </a:defRPr>
            </a:pPr>
            <a:r>
              <a:t>❓ إدارة بنك الأسئلة والاختبارات</a:t>
            </a:r>
          </a:p>
          <a:p>
            <a:pPr algn="r">
              <a:defRPr sz="1050">
                <a:solidFill>
                  <a:srgbClr val="E2E8F0"/>
                </a:solidFill>
                <a:latin typeface="Cairo"/>
              </a:defRPr>
            </a:pPr>
            <a:r>
              <a:t>إنشاء اختبارات مخصصة، إضافة الأسئلة وخيارات الإجابة، تحديد الإجابة الصحيحة، وتحديد الدرجات المستحقة لكل سؤال.</a:t>
            </a:r>
          </a:p>
        </p:txBody>
      </p:sp>
      <p:sp>
        <p:nvSpPr>
          <p:cNvPr id="15" name="Rounded Rectangle 14"/>
          <p:cNvSpPr/>
          <p:nvPr/>
        </p:nvSpPr>
        <p:spPr>
          <a:xfrm>
            <a:off x="6217920" y="3931920"/>
            <a:ext cx="5242255" cy="1051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023360"/>
            <a:ext cx="4937760" cy="868680"/>
          </a:xfrm>
          <a:prstGeom prst="rect">
            <a:avLst/>
          </a:prstGeom>
          <a:noFill/>
        </p:spPr>
        <p:txBody>
          <a:bodyPr wrap="square">
            <a:spAutoFit/>
          </a:bodyPr>
          <a:lstStyle/>
          <a:p>
            <a:pPr algn="r">
              <a:defRPr sz="1300" b="1">
                <a:solidFill>
                  <a:srgbClr val="F59E0B"/>
                </a:solidFill>
                <a:latin typeface="Cairo"/>
              </a:defRPr>
            </a:pPr>
            <a:r>
              <a:t>🛡️ حماية الملكية ومنع ثغرات IDOR</a:t>
            </a:r>
          </a:p>
          <a:p>
            <a:pPr algn="r">
              <a:defRPr sz="1050">
                <a:solidFill>
                  <a:srgbClr val="E2E8F0"/>
                </a:solidFill>
                <a:latin typeface="Cairo"/>
              </a:defRPr>
            </a:pPr>
            <a:r>
              <a:t>تطبيق إجراء وسيط محمي (instructorProcedure) يتحقق من معرّف المدرس (ownerId) قبل السماح بالتعديل أو الحذف، مما يمنع التعدي على محتوى المدرسين الآخرين.</a:t>
            </a:r>
          </a:p>
        </p:txBody>
      </p:sp>
      <p:sp>
        <p:nvSpPr>
          <p:cNvPr id="17" name="Rounded Rectangle 16"/>
          <p:cNvSpPr/>
          <p:nvPr/>
        </p:nvSpPr>
        <p:spPr>
          <a:xfrm>
            <a:off x="6217920" y="5074920"/>
            <a:ext cx="5242255" cy="1051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5166360"/>
            <a:ext cx="4937760" cy="868680"/>
          </a:xfrm>
          <a:prstGeom prst="rect">
            <a:avLst/>
          </a:prstGeom>
          <a:noFill/>
        </p:spPr>
        <p:txBody>
          <a:bodyPr wrap="square">
            <a:spAutoFit/>
          </a:bodyPr>
          <a:lstStyle/>
          <a:p>
            <a:pPr algn="r">
              <a:defRPr sz="1300" b="1">
                <a:solidFill>
                  <a:srgbClr val="EC4899"/>
                </a:solidFill>
                <a:latin typeface="Cairo"/>
              </a:defRPr>
            </a:pPr>
            <a:r>
              <a:t>🔒 الحصانة الكاملة للدروس الرسمية السبعة</a:t>
            </a:r>
          </a:p>
          <a:p>
            <a:pPr algn="r">
              <a:defRPr sz="1050">
                <a:solidFill>
                  <a:srgbClr val="E2E8F0"/>
                </a:solidFill>
                <a:latin typeface="Cairo"/>
              </a:defRPr>
            </a:pPr>
            <a:r>
              <a:t>فرض حماية برمجية صارمة تمنع أي مدرس أو مستخدم من تعديل أو حذف الدروس الرسمية الأساسية للنظام.</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لوحة الإدارة العامة وسجلات التدقيق الأمني (Audit Logs)</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600200"/>
            <a:ext cx="5303520" cy="2194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_admin_dashboard.png"/>
          <p:cNvPicPr>
            <a:picLocks noChangeAspect="1"/>
          </p:cNvPicPr>
          <p:nvPr/>
        </p:nvPicPr>
        <p:blipFill>
          <a:blip r:embed="rId2"/>
          <a:stretch>
            <a:fillRect/>
          </a:stretch>
        </p:blipFill>
        <p:spPr>
          <a:xfrm>
            <a:off x="731520" y="1645920"/>
            <a:ext cx="5212080" cy="2103120"/>
          </a:xfrm>
          <a:prstGeom prst="rect">
            <a:avLst/>
          </a:prstGeom>
        </p:spPr>
      </p:pic>
      <p:sp>
        <p:nvSpPr>
          <p:cNvPr id="7" name="TextBox 6"/>
          <p:cNvSpPr txBox="1"/>
          <p:nvPr/>
        </p:nvSpPr>
        <p:spPr>
          <a:xfrm>
            <a:off x="731520" y="3822192"/>
            <a:ext cx="5212080" cy="320040"/>
          </a:xfrm>
          <a:prstGeom prst="rect">
            <a:avLst/>
          </a:prstGeom>
          <a:noFill/>
        </p:spPr>
        <p:txBody>
          <a:bodyPr wrap="square" lIns="0" tIns="0" rIns="0" bIns="0">
            <a:spAutoFit/>
          </a:bodyPr>
          <a:lstStyle/>
          <a:p>
            <a:pPr algn="ctr">
              <a:defRPr sz="1000">
                <a:solidFill>
                  <a:srgbClr val="00E5FF"/>
                </a:solidFill>
                <a:latin typeface="Cairo"/>
              </a:defRPr>
            </a:pPr>
            <a:r>
              <a:t>شكل (2-17): لوحة الإدارة العامة ومؤشرات النظام</a:t>
            </a:r>
          </a:p>
        </p:txBody>
      </p:sp>
      <p:sp>
        <p:nvSpPr>
          <p:cNvPr id="8" name="Rounded Rectangle 7"/>
          <p:cNvSpPr/>
          <p:nvPr/>
        </p:nvSpPr>
        <p:spPr>
          <a:xfrm>
            <a:off x="685800" y="4069080"/>
            <a:ext cx="5303520" cy="2194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shot_admin_users.png"/>
          <p:cNvPicPr>
            <a:picLocks noChangeAspect="1"/>
          </p:cNvPicPr>
          <p:nvPr/>
        </p:nvPicPr>
        <p:blipFill>
          <a:blip r:embed="rId3"/>
          <a:stretch>
            <a:fillRect/>
          </a:stretch>
        </p:blipFill>
        <p:spPr>
          <a:xfrm>
            <a:off x="731520" y="4114800"/>
            <a:ext cx="5212080" cy="2103120"/>
          </a:xfrm>
          <a:prstGeom prst="rect">
            <a:avLst/>
          </a:prstGeom>
        </p:spPr>
      </p:pic>
      <p:sp>
        <p:nvSpPr>
          <p:cNvPr id="10" name="TextBox 9"/>
          <p:cNvSpPr txBox="1"/>
          <p:nvPr/>
        </p:nvSpPr>
        <p:spPr>
          <a:xfrm>
            <a:off x="731520" y="6291072"/>
            <a:ext cx="5212080" cy="320040"/>
          </a:xfrm>
          <a:prstGeom prst="rect">
            <a:avLst/>
          </a:prstGeom>
          <a:noFill/>
        </p:spPr>
        <p:txBody>
          <a:bodyPr wrap="square" lIns="0" tIns="0" rIns="0" bIns="0">
            <a:spAutoFit/>
          </a:bodyPr>
          <a:lstStyle/>
          <a:p>
            <a:pPr algn="ctr">
              <a:defRPr sz="1000">
                <a:solidFill>
                  <a:srgbClr val="00E5FF"/>
                </a:solidFill>
                <a:latin typeface="Cairo"/>
              </a:defRPr>
            </a:pPr>
            <a:r>
              <a:t>شكل (2-18): إدارة المستخدمين وتعديل الصلاحيات</a:t>
            </a:r>
          </a:p>
        </p:txBody>
      </p:sp>
      <p:sp>
        <p:nvSpPr>
          <p:cNvPr id="11" name="Rounded Rectangle 10"/>
          <p:cNvSpPr/>
          <p:nvPr/>
        </p:nvSpPr>
        <p:spPr>
          <a:xfrm>
            <a:off x="6217920" y="1645920"/>
            <a:ext cx="5242255" cy="13716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755648"/>
            <a:ext cx="4937760" cy="1143000"/>
          </a:xfrm>
          <a:prstGeom prst="rect">
            <a:avLst/>
          </a:prstGeom>
          <a:noFill/>
        </p:spPr>
        <p:txBody>
          <a:bodyPr wrap="square">
            <a:spAutoFit/>
          </a:bodyPr>
          <a:lstStyle/>
          <a:p>
            <a:pPr algn="r">
              <a:spcAft>
                <a:spcPts val="400"/>
              </a:spcAft>
              <a:defRPr sz="1300" b="1">
                <a:solidFill>
                  <a:srgbClr val="00E5FF"/>
                </a:solidFill>
                <a:latin typeface="Cairo"/>
              </a:defRPr>
            </a:pPr>
            <a:r>
              <a:t>👥 حوكمة المستخدمين وتعديل الأدوار</a:t>
            </a:r>
          </a:p>
          <a:p>
            <a:pPr algn="r">
              <a:defRPr sz="1100">
                <a:solidFill>
                  <a:srgbClr val="E2E8F0"/>
                </a:solidFill>
                <a:latin typeface="Cairo"/>
              </a:defRPr>
            </a:pPr>
            <a:r>
              <a:t>لوحة متكاملة لاستعراض حسابات المتدربين والمدرسين، وتعديل الأدوار فورياً مع تتبع حالة الحسابات ومطابقتها لمعايير الوصول.</a:t>
            </a:r>
          </a:p>
        </p:txBody>
      </p:sp>
      <p:sp>
        <p:nvSpPr>
          <p:cNvPr id="13" name="Rounded Rectangle 12"/>
          <p:cNvSpPr/>
          <p:nvPr/>
        </p:nvSpPr>
        <p:spPr>
          <a:xfrm>
            <a:off x="6217920" y="3154680"/>
            <a:ext cx="5242255" cy="13716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3264408"/>
            <a:ext cx="4937760" cy="1143000"/>
          </a:xfrm>
          <a:prstGeom prst="rect">
            <a:avLst/>
          </a:prstGeom>
          <a:noFill/>
        </p:spPr>
        <p:txBody>
          <a:bodyPr wrap="square">
            <a:spAutoFit/>
          </a:bodyPr>
          <a:lstStyle/>
          <a:p>
            <a:pPr algn="r">
              <a:spcAft>
                <a:spcPts val="400"/>
              </a:spcAft>
              <a:defRPr sz="1300" b="1">
                <a:solidFill>
                  <a:srgbClr val="10B981"/>
                </a:solidFill>
                <a:latin typeface="Cairo"/>
              </a:defRPr>
            </a:pPr>
            <a:r>
              <a:t>📈 مراقبة مؤشرات الأداء والنشاط</a:t>
            </a:r>
          </a:p>
          <a:p>
            <a:pPr algn="r">
              <a:defRPr sz="1100">
                <a:solidFill>
                  <a:srgbClr val="E2E8F0"/>
                </a:solidFill>
                <a:latin typeface="Cairo"/>
              </a:defRPr>
            </a:pPr>
            <a:r>
              <a:t>متابعة إحصائية حية لعدد المسجلين، نسب إتمام المسار التعليمي، ومتوسط درجات الاختبارات ومعدلات إحباط السيناريوهات.</a:t>
            </a:r>
          </a:p>
        </p:txBody>
      </p:sp>
      <p:sp>
        <p:nvSpPr>
          <p:cNvPr id="15" name="Rounded Rectangle 14"/>
          <p:cNvSpPr/>
          <p:nvPr/>
        </p:nvSpPr>
        <p:spPr>
          <a:xfrm>
            <a:off x="6217920" y="4663440"/>
            <a:ext cx="5242255" cy="13716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773168"/>
            <a:ext cx="4937760" cy="1143000"/>
          </a:xfrm>
          <a:prstGeom prst="rect">
            <a:avLst/>
          </a:prstGeom>
          <a:noFill/>
        </p:spPr>
        <p:txBody>
          <a:bodyPr wrap="square">
            <a:spAutoFit/>
          </a:bodyPr>
          <a:lstStyle/>
          <a:p>
            <a:pPr algn="r">
              <a:spcAft>
                <a:spcPts val="400"/>
              </a:spcAft>
              <a:defRPr sz="1300" b="1">
                <a:solidFill>
                  <a:srgbClr val="F59E0B"/>
                </a:solidFill>
                <a:latin typeface="Cairo"/>
              </a:defRPr>
            </a:pPr>
            <a:r>
              <a:t>📑 سجلات التدقيق الأمني (Audit Logging)</a:t>
            </a:r>
          </a:p>
          <a:p>
            <a:pPr algn="r">
              <a:defRPr sz="1100">
                <a:solidFill>
                  <a:srgbClr val="E2E8F0"/>
                </a:solidFill>
                <a:latin typeface="Cairo"/>
              </a:defRPr>
            </a:pPr>
            <a:r>
              <a:t>تسجيل تلقائي وغير قابل للتعديل لكافة العمليات الحساسة (إنشاء الحسابات، تغيير الصلاحيات، محاولات الدخول الفاشلة، والعمليات الإدارية) لضمان المساءلة الرقمية.</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منظومة الحماية والأمان البرمجي المطبقة في المنصة</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42255" cy="11430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719072"/>
            <a:ext cx="4937760" cy="1005840"/>
          </a:xfrm>
          <a:prstGeom prst="rect">
            <a:avLst/>
          </a:prstGeom>
          <a:noFill/>
        </p:spPr>
        <p:txBody>
          <a:bodyPr wrap="square">
            <a:spAutoFit/>
          </a:bodyPr>
          <a:lstStyle/>
          <a:p>
            <a:pPr algn="r">
              <a:defRPr sz="1300" b="1">
                <a:solidFill>
                  <a:srgbClr val="00E5FF"/>
                </a:solidFill>
                <a:latin typeface="Cairo"/>
              </a:defRPr>
            </a:pPr>
            <a:r>
              <a:t>1. التحكم بالوصول (RBAC)</a:t>
            </a:r>
          </a:p>
          <a:p>
            <a:pPr algn="r">
              <a:defRPr sz="1050">
                <a:solidFill>
                  <a:srgbClr val="E2E8F0"/>
                </a:solidFill>
                <a:latin typeface="Cairo"/>
              </a:defRPr>
            </a:pPr>
            <a:r>
              <a:t>فصل الصلاحيات بدقة بين المتدرب والمدرس والمشرف عبر Middleware متخصص.</a:t>
            </a:r>
          </a:p>
        </p:txBody>
      </p:sp>
      <p:sp>
        <p:nvSpPr>
          <p:cNvPr id="7" name="Rounded Rectangle 6"/>
          <p:cNvSpPr/>
          <p:nvPr/>
        </p:nvSpPr>
        <p:spPr>
          <a:xfrm>
            <a:off x="6217920" y="1645920"/>
            <a:ext cx="5242255" cy="11430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355080" y="1719072"/>
            <a:ext cx="4937760" cy="1005840"/>
          </a:xfrm>
          <a:prstGeom prst="rect">
            <a:avLst/>
          </a:prstGeom>
          <a:noFill/>
        </p:spPr>
        <p:txBody>
          <a:bodyPr wrap="square">
            <a:spAutoFit/>
          </a:bodyPr>
          <a:lstStyle/>
          <a:p>
            <a:pPr algn="r">
              <a:defRPr sz="1300" b="1">
                <a:solidFill>
                  <a:srgbClr val="00E5FF"/>
                </a:solidFill>
                <a:latin typeface="Cairo"/>
              </a:defRPr>
            </a:pPr>
            <a:r>
              <a:t>2. حماية الملكية ومنع IDOR</a:t>
            </a:r>
          </a:p>
          <a:p>
            <a:pPr algn="r">
              <a:defRPr sz="1050">
                <a:solidFill>
                  <a:srgbClr val="E2E8F0"/>
                </a:solidFill>
                <a:latin typeface="Cairo"/>
              </a:defRPr>
            </a:pPr>
            <a:r>
              <a:t>التحقق البرمجي من معرّف المنشئ (ownerId) وحصانة تامة للدروس الرسمية السبعة.</a:t>
            </a:r>
          </a:p>
        </p:txBody>
      </p:sp>
      <p:sp>
        <p:nvSpPr>
          <p:cNvPr id="9" name="Rounded Rectangle 8"/>
          <p:cNvSpPr/>
          <p:nvPr/>
        </p:nvSpPr>
        <p:spPr>
          <a:xfrm>
            <a:off x="731520" y="2926080"/>
            <a:ext cx="5242255" cy="11430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999232"/>
            <a:ext cx="4937760" cy="1005840"/>
          </a:xfrm>
          <a:prstGeom prst="rect">
            <a:avLst/>
          </a:prstGeom>
          <a:noFill/>
        </p:spPr>
        <p:txBody>
          <a:bodyPr wrap="square">
            <a:spAutoFit/>
          </a:bodyPr>
          <a:lstStyle/>
          <a:p>
            <a:pPr algn="r">
              <a:defRPr sz="1300" b="1">
                <a:solidFill>
                  <a:srgbClr val="00E5FF"/>
                </a:solidFill>
                <a:latin typeface="Cairo"/>
              </a:defRPr>
            </a:pPr>
            <a:r>
              <a:t>3. تشفير كلمات المرور (Bcrypt)</a:t>
            </a:r>
          </a:p>
          <a:p>
            <a:pPr algn="r">
              <a:defRPr sz="1050">
                <a:solidFill>
                  <a:srgbClr val="E2E8F0"/>
                </a:solidFill>
                <a:latin typeface="Cairo"/>
              </a:defRPr>
            </a:pPr>
            <a:r>
              <a:t>تجزئة كلمات المرور باستخدام خوارزمية Bcrypt مع التمليح العشوائي القوي لمنع كسرها.</a:t>
            </a:r>
          </a:p>
        </p:txBody>
      </p:sp>
      <p:sp>
        <p:nvSpPr>
          <p:cNvPr id="11" name="Rounded Rectangle 10"/>
          <p:cNvSpPr/>
          <p:nvPr/>
        </p:nvSpPr>
        <p:spPr>
          <a:xfrm>
            <a:off x="6217920" y="2926080"/>
            <a:ext cx="5242255" cy="11430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999232"/>
            <a:ext cx="4937760" cy="1005840"/>
          </a:xfrm>
          <a:prstGeom prst="rect">
            <a:avLst/>
          </a:prstGeom>
          <a:noFill/>
        </p:spPr>
        <p:txBody>
          <a:bodyPr wrap="square">
            <a:spAutoFit/>
          </a:bodyPr>
          <a:lstStyle/>
          <a:p>
            <a:pPr algn="r">
              <a:defRPr sz="1300" b="1">
                <a:solidFill>
                  <a:srgbClr val="00E5FF"/>
                </a:solidFill>
                <a:latin typeface="Cairo"/>
              </a:defRPr>
            </a:pPr>
            <a:r>
              <a:t>4. أمن الجلسات (HttpOnly)</a:t>
            </a:r>
          </a:p>
          <a:p>
            <a:pPr algn="r">
              <a:defRPr sz="1050">
                <a:solidFill>
                  <a:srgbClr val="E2E8F0"/>
                </a:solidFill>
                <a:latin typeface="Cairo"/>
              </a:defRPr>
            </a:pPr>
            <a:r>
              <a:t>إدارة الجلسات برموز JWT موثقة مخزنة في ملفات تعريف ارتباط مشفرة ومحمية من XSS.</a:t>
            </a:r>
          </a:p>
        </p:txBody>
      </p:sp>
      <p:sp>
        <p:nvSpPr>
          <p:cNvPr id="13" name="Rounded Rectangle 12"/>
          <p:cNvSpPr/>
          <p:nvPr/>
        </p:nvSpPr>
        <p:spPr>
          <a:xfrm>
            <a:off x="731520" y="4206240"/>
            <a:ext cx="5242255" cy="11430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4279392"/>
            <a:ext cx="4937760" cy="1005840"/>
          </a:xfrm>
          <a:prstGeom prst="rect">
            <a:avLst/>
          </a:prstGeom>
          <a:noFill/>
        </p:spPr>
        <p:txBody>
          <a:bodyPr wrap="square">
            <a:spAutoFit/>
          </a:bodyPr>
          <a:lstStyle/>
          <a:p>
            <a:pPr algn="r">
              <a:defRPr sz="1300" b="1">
                <a:solidFill>
                  <a:srgbClr val="00E5FF"/>
                </a:solidFill>
                <a:latin typeface="Cairo"/>
              </a:defRPr>
            </a:pPr>
            <a:r>
              <a:t>5. كبح القوة الغاشمة (Rate Limit)</a:t>
            </a:r>
          </a:p>
          <a:p>
            <a:pPr algn="r">
              <a:defRPr sz="1050">
                <a:solidFill>
                  <a:srgbClr val="E2E8F0"/>
                </a:solidFill>
                <a:latin typeface="Cairo"/>
              </a:defRPr>
            </a:pPr>
            <a:r>
              <a:t>حظر الطلبات المتكررة آلياً لمنع محاولات التخمين وإغراق الخادم بالطلبات.</a:t>
            </a:r>
          </a:p>
        </p:txBody>
      </p:sp>
      <p:sp>
        <p:nvSpPr>
          <p:cNvPr id="15" name="Rounded Rectangle 14"/>
          <p:cNvSpPr/>
          <p:nvPr/>
        </p:nvSpPr>
        <p:spPr>
          <a:xfrm>
            <a:off x="6217920" y="4206240"/>
            <a:ext cx="5242255" cy="11430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279392"/>
            <a:ext cx="4937760" cy="1005840"/>
          </a:xfrm>
          <a:prstGeom prst="rect">
            <a:avLst/>
          </a:prstGeom>
          <a:noFill/>
        </p:spPr>
        <p:txBody>
          <a:bodyPr wrap="square">
            <a:spAutoFit/>
          </a:bodyPr>
          <a:lstStyle/>
          <a:p>
            <a:pPr algn="r">
              <a:defRPr sz="1300" b="1">
                <a:solidFill>
                  <a:srgbClr val="00E5FF"/>
                </a:solidFill>
                <a:latin typeface="Cairo"/>
              </a:defRPr>
            </a:pPr>
            <a:r>
              <a:t>6. سياسة أمان المحتوى (CSP)</a:t>
            </a:r>
          </a:p>
          <a:p>
            <a:pPr algn="r">
              <a:defRPr sz="1050">
                <a:solidFill>
                  <a:srgbClr val="E2E8F0"/>
                </a:solidFill>
                <a:latin typeface="Cairo"/>
              </a:defRPr>
            </a:pPr>
            <a:r>
              <a:t>فرض رؤوس حماية مشددة وعزل النطاقات لمنع حقن النصوص الخبيثة وحماية المصادر.</a:t>
            </a:r>
          </a:p>
        </p:txBody>
      </p:sp>
      <p:sp>
        <p:nvSpPr>
          <p:cNvPr id="17" name="Rounded Rectangle 16"/>
          <p:cNvSpPr/>
          <p:nvPr/>
        </p:nvSpPr>
        <p:spPr>
          <a:xfrm>
            <a:off x="731520" y="5486400"/>
            <a:ext cx="5242255" cy="11430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68680" y="5559552"/>
            <a:ext cx="4937760" cy="1005840"/>
          </a:xfrm>
          <a:prstGeom prst="rect">
            <a:avLst/>
          </a:prstGeom>
          <a:noFill/>
        </p:spPr>
        <p:txBody>
          <a:bodyPr wrap="square">
            <a:spAutoFit/>
          </a:bodyPr>
          <a:lstStyle/>
          <a:p>
            <a:pPr algn="r">
              <a:defRPr sz="1300" b="1">
                <a:solidFill>
                  <a:srgbClr val="00E5FF"/>
                </a:solidFill>
                <a:latin typeface="Cairo"/>
              </a:defRPr>
            </a:pPr>
            <a:r>
              <a:t>7. منع تسريب البيانات (Zero-Leak)</a:t>
            </a:r>
          </a:p>
          <a:p>
            <a:pPr algn="r">
              <a:defRPr sz="1050">
                <a:solidFill>
                  <a:srgbClr val="E2E8F0"/>
                </a:solidFill>
                <a:latin typeface="Cairo"/>
              </a:defRPr>
            </a:pPr>
            <a:r>
              <a:t>حظر إرسال إجابات الاختبارات أو مسارات السيناريوهات إلى المتصفح قبل اعتماد الحل.</a:t>
            </a:r>
          </a:p>
        </p:txBody>
      </p:sp>
      <p:sp>
        <p:nvSpPr>
          <p:cNvPr id="19" name="Rounded Rectangle 18"/>
          <p:cNvSpPr/>
          <p:nvPr/>
        </p:nvSpPr>
        <p:spPr>
          <a:xfrm>
            <a:off x="6217920" y="5486400"/>
            <a:ext cx="5242255" cy="11430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5559552"/>
            <a:ext cx="4937760" cy="1005840"/>
          </a:xfrm>
          <a:prstGeom prst="rect">
            <a:avLst/>
          </a:prstGeom>
          <a:noFill/>
        </p:spPr>
        <p:txBody>
          <a:bodyPr wrap="square">
            <a:spAutoFit/>
          </a:bodyPr>
          <a:lstStyle/>
          <a:p>
            <a:pPr algn="r">
              <a:defRPr sz="1300" b="1">
                <a:solidFill>
                  <a:srgbClr val="00E5FF"/>
                </a:solidFill>
                <a:latin typeface="Cairo"/>
              </a:defRPr>
            </a:pPr>
            <a:r>
              <a:t>8. الحماية من حقن SQL</a:t>
            </a:r>
          </a:p>
          <a:p>
            <a:pPr algn="r">
              <a:defRPr sz="1050">
                <a:solidFill>
                  <a:srgbClr val="E2E8F0"/>
                </a:solidFill>
                <a:latin typeface="Cairo"/>
              </a:defRPr>
            </a:pPr>
            <a:r>
              <a:t>اعتماد Drizzle ORM مع استعلامات معيارية parameterized تلغي ثغرات الحقن كلياً.</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التحقق البرمجي والاختبارات الآلية الشاملة (157 / 157 اختباراً)</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85800" y="1600200"/>
            <a:ext cx="5303520" cy="2194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creenshot_vitest_157_pass.png"/>
          <p:cNvPicPr>
            <a:picLocks noChangeAspect="1"/>
          </p:cNvPicPr>
          <p:nvPr/>
        </p:nvPicPr>
        <p:blipFill>
          <a:blip r:embed="rId2"/>
          <a:stretch>
            <a:fillRect/>
          </a:stretch>
        </p:blipFill>
        <p:spPr>
          <a:xfrm>
            <a:off x="731520" y="1645920"/>
            <a:ext cx="5212080" cy="2103120"/>
          </a:xfrm>
          <a:prstGeom prst="rect">
            <a:avLst/>
          </a:prstGeom>
        </p:spPr>
      </p:pic>
      <p:sp>
        <p:nvSpPr>
          <p:cNvPr id="7" name="TextBox 6"/>
          <p:cNvSpPr txBox="1"/>
          <p:nvPr/>
        </p:nvSpPr>
        <p:spPr>
          <a:xfrm>
            <a:off x="731520" y="3822192"/>
            <a:ext cx="5212080" cy="320040"/>
          </a:xfrm>
          <a:prstGeom prst="rect">
            <a:avLst/>
          </a:prstGeom>
          <a:noFill/>
        </p:spPr>
        <p:txBody>
          <a:bodyPr wrap="square" lIns="0" tIns="0" rIns="0" bIns="0">
            <a:spAutoFit/>
          </a:bodyPr>
          <a:lstStyle/>
          <a:p>
            <a:pPr algn="ctr">
              <a:defRPr sz="1000">
                <a:solidFill>
                  <a:srgbClr val="00E5FF"/>
                </a:solidFill>
                <a:latin typeface="Cairo"/>
              </a:defRPr>
            </a:pPr>
            <a:r>
              <a:t>شكل (2-20): مخرجات حزمة الاختبارات الآلية (157 ناجحاً)</a:t>
            </a:r>
          </a:p>
        </p:txBody>
      </p:sp>
      <p:sp>
        <p:nvSpPr>
          <p:cNvPr id="8" name="Rounded Rectangle 7"/>
          <p:cNvSpPr/>
          <p:nvPr/>
        </p:nvSpPr>
        <p:spPr>
          <a:xfrm>
            <a:off x="685800" y="4069080"/>
            <a:ext cx="5303520" cy="2194560"/>
          </a:xfrm>
          <a:prstGeom prst="roundRect">
            <a:avLst/>
          </a:prstGeom>
          <a:solidFill>
            <a:srgbClr val="162035"/>
          </a:solidFill>
          <a:ln w="1905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creenshot_8_final_overview.png"/>
          <p:cNvPicPr>
            <a:picLocks noChangeAspect="1"/>
          </p:cNvPicPr>
          <p:nvPr/>
        </p:nvPicPr>
        <p:blipFill>
          <a:blip r:embed="rId3"/>
          <a:stretch>
            <a:fillRect/>
          </a:stretch>
        </p:blipFill>
        <p:spPr>
          <a:xfrm>
            <a:off x="731520" y="4114800"/>
            <a:ext cx="5212080" cy="2103120"/>
          </a:xfrm>
          <a:prstGeom prst="rect">
            <a:avLst/>
          </a:prstGeom>
        </p:spPr>
      </p:pic>
      <p:sp>
        <p:nvSpPr>
          <p:cNvPr id="10" name="TextBox 9"/>
          <p:cNvSpPr txBox="1"/>
          <p:nvPr/>
        </p:nvSpPr>
        <p:spPr>
          <a:xfrm>
            <a:off x="731520" y="6291072"/>
            <a:ext cx="5212080" cy="320040"/>
          </a:xfrm>
          <a:prstGeom prst="rect">
            <a:avLst/>
          </a:prstGeom>
          <a:noFill/>
        </p:spPr>
        <p:txBody>
          <a:bodyPr wrap="square" lIns="0" tIns="0" rIns="0" bIns="0">
            <a:spAutoFit/>
          </a:bodyPr>
          <a:lstStyle/>
          <a:p>
            <a:pPr algn="ctr">
              <a:defRPr sz="1000">
                <a:solidFill>
                  <a:srgbClr val="00E5FF"/>
                </a:solidFill>
                <a:latin typeface="Cairo"/>
              </a:defRPr>
            </a:pPr>
            <a:r>
              <a:t>شكل (2-21): لوحة المتدرب النهائية ونسبة الوعي (100%)</a:t>
            </a:r>
          </a:p>
        </p:txBody>
      </p:sp>
      <p:sp>
        <p:nvSpPr>
          <p:cNvPr id="11" name="Rounded Rectangle 10"/>
          <p:cNvSpPr/>
          <p:nvPr/>
        </p:nvSpPr>
        <p:spPr>
          <a:xfrm>
            <a:off x="6217920" y="1645920"/>
            <a:ext cx="5242255" cy="1051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737360"/>
            <a:ext cx="4937760" cy="868680"/>
          </a:xfrm>
          <a:prstGeom prst="rect">
            <a:avLst/>
          </a:prstGeom>
          <a:noFill/>
        </p:spPr>
        <p:txBody>
          <a:bodyPr wrap="square">
            <a:spAutoFit/>
          </a:bodyPr>
          <a:lstStyle/>
          <a:p>
            <a:pPr algn="r">
              <a:defRPr sz="1300" b="1">
                <a:solidFill>
                  <a:srgbClr val="10B981"/>
                </a:solidFill>
                <a:latin typeface="Cairo"/>
              </a:defRPr>
            </a:pPr>
            <a:r>
              <a:t>🛡️ اختبارات المصادقة والجلسات (auth &amp; ratelimit)</a:t>
            </a:r>
          </a:p>
          <a:p>
            <a:pPr algn="r">
              <a:defRPr sz="1050">
                <a:solidFill>
                  <a:srgbClr val="E2E8F0"/>
                </a:solidFill>
                <a:latin typeface="Cairo"/>
              </a:defRPr>
            </a:pPr>
            <a:r>
              <a:t>29 اختباراً: تغطية تشفير Bcrypt، كبح القوة الغاشمة، إنهاء الجلسة الآمن، وتطهير الكوكيز.</a:t>
            </a:r>
          </a:p>
        </p:txBody>
      </p:sp>
      <p:sp>
        <p:nvSpPr>
          <p:cNvPr id="13" name="Rounded Rectangle 12"/>
          <p:cNvSpPr/>
          <p:nvPr/>
        </p:nvSpPr>
        <p:spPr>
          <a:xfrm>
            <a:off x="6217920" y="2788920"/>
            <a:ext cx="5242255" cy="1051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2880360"/>
            <a:ext cx="4937760" cy="868680"/>
          </a:xfrm>
          <a:prstGeom prst="rect">
            <a:avLst/>
          </a:prstGeom>
          <a:noFill/>
        </p:spPr>
        <p:txBody>
          <a:bodyPr wrap="square">
            <a:spAutoFit/>
          </a:bodyPr>
          <a:lstStyle/>
          <a:p>
            <a:pPr algn="r">
              <a:defRPr sz="1300" b="1">
                <a:solidFill>
                  <a:srgbClr val="10B981"/>
                </a:solidFill>
                <a:latin typeface="Cairo"/>
              </a:defRPr>
            </a:pPr>
            <a:r>
              <a:t>🔒 اختبارات الصلاحيات والملكية (instructor &amp; IDOR)</a:t>
            </a:r>
          </a:p>
          <a:p>
            <a:pPr algn="r">
              <a:defRPr sz="1050">
                <a:solidFill>
                  <a:srgbClr val="E2E8F0"/>
                </a:solidFill>
                <a:latin typeface="Cairo"/>
              </a:defRPr>
            </a:pPr>
            <a:r>
              <a:t>21 اختباراً: منع التعدي على الموارد وحماية الملكية وحصانة الدروس الرسمية السبعة.</a:t>
            </a:r>
          </a:p>
        </p:txBody>
      </p:sp>
      <p:sp>
        <p:nvSpPr>
          <p:cNvPr id="15" name="Rounded Rectangle 14"/>
          <p:cNvSpPr/>
          <p:nvPr/>
        </p:nvSpPr>
        <p:spPr>
          <a:xfrm>
            <a:off x="6217920" y="3931920"/>
            <a:ext cx="5242255" cy="1051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4023360"/>
            <a:ext cx="4937760" cy="868680"/>
          </a:xfrm>
          <a:prstGeom prst="rect">
            <a:avLst/>
          </a:prstGeom>
          <a:noFill/>
        </p:spPr>
        <p:txBody>
          <a:bodyPr wrap="square">
            <a:spAutoFit/>
          </a:bodyPr>
          <a:lstStyle/>
          <a:p>
            <a:pPr algn="r">
              <a:defRPr sz="1300" b="1">
                <a:solidFill>
                  <a:srgbClr val="10B981"/>
                </a:solidFill>
                <a:latin typeface="Cairo"/>
              </a:defRPr>
            </a:pPr>
            <a:r>
              <a:t>❓ اختبارات التقييم والاختبارات (quiz &amp; scenario)</a:t>
            </a:r>
          </a:p>
          <a:p>
            <a:pPr algn="r">
              <a:defRPr sz="1050">
                <a:solidFill>
                  <a:srgbClr val="E2E8F0"/>
                </a:solidFill>
                <a:latin typeface="Cairo"/>
              </a:defRPr>
            </a:pPr>
            <a:r>
              <a:t>54 اختباراً: منع تسريب الإجابات، تصحيح الخادم، والسيناريوهات المتشعبة بدون كشف المسارات.</a:t>
            </a:r>
          </a:p>
        </p:txBody>
      </p:sp>
      <p:sp>
        <p:nvSpPr>
          <p:cNvPr id="17" name="Rounded Rectangle 16"/>
          <p:cNvSpPr/>
          <p:nvPr/>
        </p:nvSpPr>
        <p:spPr>
          <a:xfrm>
            <a:off x="6217920" y="5074920"/>
            <a:ext cx="5242255" cy="1051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5166360"/>
            <a:ext cx="4937760" cy="868680"/>
          </a:xfrm>
          <a:prstGeom prst="rect">
            <a:avLst/>
          </a:prstGeom>
          <a:noFill/>
        </p:spPr>
        <p:txBody>
          <a:bodyPr wrap="square">
            <a:spAutoFit/>
          </a:bodyPr>
          <a:lstStyle/>
          <a:p>
            <a:pPr algn="r">
              <a:defRPr sz="1300" b="1">
                <a:solidFill>
                  <a:srgbClr val="10B981"/>
                </a:solidFill>
                <a:latin typeface="Cairo"/>
              </a:defRPr>
            </a:pPr>
            <a:r>
              <a:t>🌐 اختبارات التكامل والرحلة الشاملة (fullstack &amp; journey)</a:t>
            </a:r>
          </a:p>
          <a:p>
            <a:pPr algn="r">
              <a:defRPr sz="1050">
                <a:solidFill>
                  <a:srgbClr val="E2E8F0"/>
                </a:solidFill>
                <a:latin typeface="Cairo"/>
              </a:defRPr>
            </a:pPr>
            <a:r>
              <a:t>53 اختباراً: فحص المحلل الآمن، لوحة الإدارة، والرحلة الكاملة للمتعلم عبر 10 محطات بنجاح تام.</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التحديات الواقعية والحلول المبتكرة المطبقة</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10728655" cy="11430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292840" y="1737360"/>
            <a:ext cx="91440" cy="96012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19072"/>
            <a:ext cx="10241280" cy="1005840"/>
          </a:xfrm>
          <a:prstGeom prst="rect">
            <a:avLst/>
          </a:prstGeom>
          <a:noFill/>
        </p:spPr>
        <p:txBody>
          <a:bodyPr wrap="square">
            <a:spAutoFit/>
          </a:bodyPr>
          <a:lstStyle/>
          <a:p>
            <a:pPr algn="r">
              <a:defRPr sz="1300" b="1">
                <a:solidFill>
                  <a:srgbClr val="F59E0B"/>
                </a:solidFill>
                <a:latin typeface="Cairo"/>
              </a:defRPr>
            </a:pPr>
            <a:r>
              <a:t>التحدي 1: حماية الملكية ومنع ثغرات IDOR للمدرس</a:t>
            </a:r>
          </a:p>
          <a:p>
            <a:pPr algn="r">
              <a:defRPr sz="1050">
                <a:solidFill>
                  <a:srgbClr val="94A3B8"/>
                </a:solidFill>
                <a:latin typeface="Cairo"/>
              </a:defRPr>
            </a:pPr>
            <a:r>
              <a:t>▪ المشكلة: ضرورة تمكين المدرس من إدارة محتواه دون فتح ثغرة للتعديل على دروس الآخرين أو العبث بالدروس الرسمية.</a:t>
            </a:r>
          </a:p>
          <a:p>
            <a:pPr algn="r">
              <a:defRPr sz="1050" b="1">
                <a:solidFill>
                  <a:srgbClr val="10B981"/>
                </a:solidFill>
                <a:latin typeface="Cairo"/>
              </a:defRPr>
            </a:pPr>
            <a:r>
              <a:t>✔ الحل المطبق: الحل المطبق: ربط الكيانات بمعرف المالك (ownerId) وإنفاذ التحقق عبر إجراء وسيط محمي (instructorProcedure) مع حصانة مشددة للدروس السبعة.</a:t>
            </a:r>
          </a:p>
        </p:txBody>
      </p:sp>
      <p:sp>
        <p:nvSpPr>
          <p:cNvPr id="8" name="Rounded Rectangle 7"/>
          <p:cNvSpPr/>
          <p:nvPr/>
        </p:nvSpPr>
        <p:spPr>
          <a:xfrm>
            <a:off x="731520" y="2880360"/>
            <a:ext cx="10728655" cy="11430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292840" y="2971800"/>
            <a:ext cx="91440" cy="96012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953512"/>
            <a:ext cx="10241280" cy="1005840"/>
          </a:xfrm>
          <a:prstGeom prst="rect">
            <a:avLst/>
          </a:prstGeom>
          <a:noFill/>
        </p:spPr>
        <p:txBody>
          <a:bodyPr wrap="square">
            <a:spAutoFit/>
          </a:bodyPr>
          <a:lstStyle/>
          <a:p>
            <a:pPr algn="r">
              <a:defRPr sz="1300" b="1">
                <a:solidFill>
                  <a:srgbClr val="F59E0B"/>
                </a:solidFill>
                <a:latin typeface="Cairo"/>
              </a:defRPr>
            </a:pPr>
            <a:r>
              <a:t>التحدي 2: فحص الروابط دون تعريض البيئة للخطر</a:t>
            </a:r>
          </a:p>
          <a:p>
            <a:pPr algn="r">
              <a:defRPr sz="1050">
                <a:solidFill>
                  <a:srgbClr val="94A3B8"/>
                </a:solidFill>
                <a:latin typeface="Cairo"/>
              </a:defRPr>
            </a:pPr>
            <a:r>
              <a:t>▪ المشكلة: كيفية فحص الروابط المشبوهة وتفكيكها دون أن يقوم الخادم أو المتصفح بزيارة الرابط الفعلي.</a:t>
            </a:r>
          </a:p>
          <a:p>
            <a:pPr algn="r">
              <a:defRPr sz="1050" b="1">
                <a:solidFill>
                  <a:srgbClr val="10B981"/>
                </a:solidFill>
                <a:latin typeface="Cairo"/>
              </a:defRPr>
            </a:pPr>
            <a:r>
              <a:t>✔ الحل المطبق: الحل المطبق: بناء خوارزمية استدلالية محلية (Heuristic Domain Parsing) تفكك النطاق وتفحص أنماط الاحتيال دون أي اتصال خارجي.</a:t>
            </a:r>
          </a:p>
        </p:txBody>
      </p:sp>
      <p:sp>
        <p:nvSpPr>
          <p:cNvPr id="11" name="Rounded Rectangle 10"/>
          <p:cNvSpPr/>
          <p:nvPr/>
        </p:nvSpPr>
        <p:spPr>
          <a:xfrm>
            <a:off x="731520" y="4114800"/>
            <a:ext cx="10728655" cy="11430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292840" y="4206240"/>
            <a:ext cx="91440" cy="96012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187952"/>
            <a:ext cx="10241280" cy="1005840"/>
          </a:xfrm>
          <a:prstGeom prst="rect">
            <a:avLst/>
          </a:prstGeom>
          <a:noFill/>
        </p:spPr>
        <p:txBody>
          <a:bodyPr wrap="square">
            <a:spAutoFit/>
          </a:bodyPr>
          <a:lstStyle/>
          <a:p>
            <a:pPr algn="r">
              <a:defRPr sz="1300" b="1">
                <a:solidFill>
                  <a:srgbClr val="F59E0B"/>
                </a:solidFill>
                <a:latin typeface="Cairo"/>
              </a:defRPr>
            </a:pPr>
            <a:r>
              <a:t>التحدي 3: التوافق مع قيود CSP الصارمة</a:t>
            </a:r>
          </a:p>
          <a:p>
            <a:pPr algn="r">
              <a:defRPr sz="1050">
                <a:solidFill>
                  <a:srgbClr val="94A3B8"/>
                </a:solidFill>
                <a:latin typeface="Cairo"/>
              </a:defRPr>
            </a:pPr>
            <a:r>
              <a:t>▪ المشكلة: فرض سياسة أمان محتوى صارمة حظر تحميل الخطوط والمصادر الخارجية وتسبب في أخطاء بالمتصفح.</a:t>
            </a:r>
          </a:p>
          <a:p>
            <a:pPr algn="r">
              <a:defRPr sz="1050" b="1">
                <a:solidFill>
                  <a:srgbClr val="10B981"/>
                </a:solidFill>
                <a:latin typeface="Cairo"/>
              </a:defRPr>
            </a:pPr>
            <a:r>
              <a:t>✔ الحل المطبق: الحل المطبق: ضبط رؤوس الحماية بدقة بالغة لحصر المصادر المسموحة لخطوط Google Fonts ومصادر الأنماط دون فتح أي ثغرة.</a:t>
            </a:r>
          </a:p>
        </p:txBody>
      </p:sp>
      <p:sp>
        <p:nvSpPr>
          <p:cNvPr id="14" name="Rounded Rectangle 13"/>
          <p:cNvSpPr/>
          <p:nvPr/>
        </p:nvSpPr>
        <p:spPr>
          <a:xfrm>
            <a:off x="731520" y="5349240"/>
            <a:ext cx="10728655" cy="114300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292840" y="5440680"/>
            <a:ext cx="91440" cy="960120"/>
          </a:xfrm>
          <a:prstGeom prst="rect">
            <a:avLst/>
          </a:prstGeom>
          <a:solidFill>
            <a:srgbClr val="00E5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422392"/>
            <a:ext cx="10241280" cy="1005840"/>
          </a:xfrm>
          <a:prstGeom prst="rect">
            <a:avLst/>
          </a:prstGeom>
          <a:noFill/>
        </p:spPr>
        <p:txBody>
          <a:bodyPr wrap="square">
            <a:spAutoFit/>
          </a:bodyPr>
          <a:lstStyle/>
          <a:p>
            <a:pPr algn="r">
              <a:defRPr sz="1300" b="1">
                <a:solidFill>
                  <a:srgbClr val="F59E0B"/>
                </a:solidFill>
                <a:latin typeface="Cairo"/>
              </a:defRPr>
            </a:pPr>
            <a:r>
              <a:t>التحدي 4: منع تسريب مسارات السيناريوهات</a:t>
            </a:r>
          </a:p>
          <a:p>
            <a:pPr algn="r">
              <a:defRPr sz="1050">
                <a:solidFill>
                  <a:srgbClr val="94A3B8"/>
                </a:solidFill>
                <a:latin typeface="Cairo"/>
              </a:defRPr>
            </a:pPr>
            <a:r>
              <a:t>▪ المشكلة: احتمالية استباق المتدرب للحل عبر استعراض خطوات السيناريو والتغذية الراجعة من استجابة الشبكة.</a:t>
            </a:r>
          </a:p>
          <a:p>
            <a:pPr algn="r">
              <a:defRPr sz="1050" b="1">
                <a:solidFill>
                  <a:srgbClr val="10B981"/>
                </a:solidFill>
                <a:latin typeface="Cairo"/>
              </a:defRPr>
            </a:pPr>
            <a:r>
              <a:t>✔ الحل المطبق: الحل المطبق: اعتماد معمارية (Step-by-Step Server Flow)؛ حيث لا يرسل الخادم بيانات الخطوة التالية إلا بعد تصحيح سابقتها.</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square" lIns="0" tIns="0" rIns="0" bIns="0">
            <a:spAutoFit/>
          </a:bodyPr>
          <a:lstStyle/>
          <a:p>
            <a:pPr algn="r">
              <a:defRPr sz="1100" b="1">
                <a:solidFill>
                  <a:srgbClr val="00E5FF"/>
                </a:solidFill>
                <a:latin typeface="Cairo"/>
              </a:defRPr>
            </a:pPr>
            <a:r>
              <a:t>منصة CYBERSHIELD • مشروع التخرج الأكاديمي</a:t>
            </a:r>
          </a:p>
        </p:txBody>
      </p:sp>
      <p:sp>
        <p:nvSpPr>
          <p:cNvPr id="3" name="TextBox 2"/>
          <p:cNvSpPr txBox="1"/>
          <p:nvPr/>
        </p:nvSpPr>
        <p:spPr>
          <a:xfrm>
            <a:off x="731520" y="685800"/>
            <a:ext cx="10728655" cy="640080"/>
          </a:xfrm>
          <a:prstGeom prst="rect">
            <a:avLst/>
          </a:prstGeom>
          <a:noFill/>
        </p:spPr>
        <p:txBody>
          <a:bodyPr wrap="square" lIns="0" tIns="0" rIns="0" bIns="0">
            <a:spAutoFit/>
          </a:bodyPr>
          <a:lstStyle/>
          <a:p>
            <a:pPr algn="r">
              <a:defRPr sz="2400" b="1">
                <a:solidFill>
                  <a:srgbClr val="FFFFFF"/>
                </a:solidFill>
                <a:latin typeface="Cairo"/>
              </a:defRPr>
            </a:pPr>
            <a:r>
              <a:t>النتائج، الخاتمة والتوصيات المستقبلية</a:t>
            </a:r>
          </a:p>
        </p:txBody>
      </p:sp>
      <p:sp>
        <p:nvSpPr>
          <p:cNvPr id="4" name="Rectangle 3"/>
          <p:cNvSpPr/>
          <p:nvPr/>
        </p:nvSpPr>
        <p:spPr>
          <a:xfrm>
            <a:off x="731520" y="1371600"/>
            <a:ext cx="10728655" cy="18288"/>
          </a:xfrm>
          <a:prstGeom prst="rect">
            <a:avLst/>
          </a:prstGeom>
          <a:solidFill>
            <a:srgbClr val="2A3A5E"/>
          </a:solidFill>
          <a:ln>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1645920"/>
            <a:ext cx="5242255" cy="4480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828800"/>
            <a:ext cx="4876495" cy="4114800"/>
          </a:xfrm>
          <a:prstGeom prst="rect">
            <a:avLst/>
          </a:prstGeom>
          <a:noFill/>
        </p:spPr>
        <p:txBody>
          <a:bodyPr wrap="square">
            <a:spAutoFit/>
          </a:bodyPr>
          <a:lstStyle/>
          <a:p>
            <a:pPr algn="r">
              <a:spcAft>
                <a:spcPts val="800"/>
              </a:spcAft>
              <a:defRPr sz="1600" b="1">
                <a:solidFill>
                  <a:srgbClr val="00E5FF"/>
                </a:solidFill>
                <a:latin typeface="Cairo"/>
              </a:defRPr>
            </a:pPr>
            <a:r>
              <a:t>🏆 أبرز نتائج المشروع والخاتمة:</a:t>
            </a:r>
          </a:p>
          <a:p>
            <a:pPr algn="r">
              <a:spcAft>
                <a:spcPts val="200"/>
              </a:spcAft>
              <a:defRPr sz="1200" b="1">
                <a:solidFill>
                  <a:srgbClr val="10B981"/>
                </a:solidFill>
                <a:latin typeface="Cairo"/>
              </a:defRPr>
            </a:pPr>
            <a:r>
              <a:t>▪ كفاءة النموذج التفاعلي:</a:t>
            </a:r>
          </a:p>
          <a:p>
            <a:pPr algn="r">
              <a:spcAft>
                <a:spcPts val="600"/>
              </a:spcAft>
              <a:defRPr sz="1100">
                <a:solidFill>
                  <a:srgbClr val="E2E8F0"/>
                </a:solidFill>
                <a:latin typeface="Cairo"/>
              </a:defRPr>
            </a:pPr>
            <a:r>
              <a:t>أثبتت التجربة تفوق التعلم القائم على الممارسة واتخاذ القرارات في تصحيح السلوك الأمني مقارنة بالتوعية الساكنة.</a:t>
            </a:r>
          </a:p>
          <a:p>
            <a:pPr algn="r">
              <a:spcAft>
                <a:spcPts val="200"/>
              </a:spcAft>
              <a:defRPr sz="1200" b="1">
                <a:solidFill>
                  <a:srgbClr val="10B981"/>
                </a:solidFill>
                <a:latin typeface="Cairo"/>
              </a:defRPr>
            </a:pPr>
            <a:r>
              <a:t>▪ الجاهزية البرمجية التامة:</a:t>
            </a:r>
          </a:p>
          <a:p>
            <a:pPr algn="r">
              <a:spcAft>
                <a:spcPts val="600"/>
              </a:spcAft>
              <a:defRPr sz="1100">
                <a:solidFill>
                  <a:srgbClr val="E2E8F0"/>
                </a:solidFill>
                <a:latin typeface="Cairo"/>
              </a:defRPr>
            </a:pPr>
            <a:r>
              <a:t>اجتياز 157 اختباراً آلياً شاملاً بنسبة نجاح 100%، وتأكيد مناعة النظام ضد الثغرات الأساسية.</a:t>
            </a:r>
          </a:p>
          <a:p>
            <a:pPr algn="r">
              <a:spcAft>
                <a:spcPts val="200"/>
              </a:spcAft>
              <a:defRPr sz="1200" b="1">
                <a:solidFill>
                  <a:srgbClr val="10B981"/>
                </a:solidFill>
                <a:latin typeface="Cairo"/>
              </a:defRPr>
            </a:pPr>
            <a:r>
              <a:t>▪ الخاتمة العامة:</a:t>
            </a:r>
          </a:p>
          <a:p>
            <a:pPr algn="r">
              <a:spcAft>
                <a:spcPts val="600"/>
              </a:spcAft>
              <a:defRPr sz="1100">
                <a:solidFill>
                  <a:srgbClr val="E2E8F0"/>
                </a:solidFill>
                <a:latin typeface="Cairo"/>
              </a:defRPr>
            </a:pPr>
            <a:r>
              <a:t>حماية الفضاء السيبراني لا تقتصر على الأدوات التقنية، بل تبدأ من بناء 'خط الدفاع البشري'. ومنصة CyberShield سدت فجوة حقيقية في هذا المجال.</a:t>
            </a:r>
          </a:p>
        </p:txBody>
      </p:sp>
      <p:sp>
        <p:nvSpPr>
          <p:cNvPr id="7" name="Rounded Rectangle 6"/>
          <p:cNvSpPr/>
          <p:nvPr/>
        </p:nvSpPr>
        <p:spPr>
          <a:xfrm>
            <a:off x="6217920" y="1645920"/>
            <a:ext cx="5242255" cy="4480560"/>
          </a:xfrm>
          <a:prstGeom prst="roundRect">
            <a:avLst/>
          </a:prstGeom>
          <a:solidFill>
            <a:srgbClr val="162035"/>
          </a:solidFill>
          <a:ln w="15240">
            <a:solidFill>
              <a:srgbClr val="2A3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828800"/>
            <a:ext cx="4876495" cy="4114800"/>
          </a:xfrm>
          <a:prstGeom prst="rect">
            <a:avLst/>
          </a:prstGeom>
          <a:noFill/>
        </p:spPr>
        <p:txBody>
          <a:bodyPr wrap="square">
            <a:spAutoFit/>
          </a:bodyPr>
          <a:lstStyle/>
          <a:p>
            <a:pPr algn="r">
              <a:spcAft>
                <a:spcPts val="800"/>
              </a:spcAft>
              <a:defRPr sz="1600" b="1">
                <a:solidFill>
                  <a:srgbClr val="F59E0B"/>
                </a:solidFill>
                <a:latin typeface="Cairo"/>
              </a:defRPr>
            </a:pPr>
            <a:r>
              <a:t>🔮 التوصيات والتطويرات المستقبلية:</a:t>
            </a:r>
          </a:p>
          <a:p>
            <a:pPr algn="r">
              <a:spcAft>
                <a:spcPts val="200"/>
              </a:spcAft>
              <a:defRPr sz="1200" b="1">
                <a:solidFill>
                  <a:srgbClr val="00E5FF"/>
                </a:solidFill>
                <a:latin typeface="Cairo"/>
              </a:defRPr>
            </a:pPr>
            <a:r>
              <a:t>1. دمج نماذج الذكاء الاصطناعي (AI):</a:t>
            </a:r>
          </a:p>
          <a:p>
            <a:pPr algn="r">
              <a:spcAft>
                <a:spcPts val="600"/>
              </a:spcAft>
              <a:defRPr sz="1100">
                <a:solidFill>
                  <a:srgbClr val="E2E8F0"/>
                </a:solidFill>
                <a:latin typeface="Cairo"/>
              </a:defRPr>
            </a:pPr>
            <a:r>
              <a:t>توسيع المنصة بنماذج ذكاء اصطناعي توليدية تحاكي سيناريوهات التزييف العميق (Deepfake) والتصيد بالهندسة الاجتماعية المتقدمة.</a:t>
            </a:r>
          </a:p>
          <a:p>
            <a:pPr algn="r">
              <a:spcAft>
                <a:spcPts val="200"/>
              </a:spcAft>
              <a:defRPr sz="1200" b="1">
                <a:solidFill>
                  <a:srgbClr val="00E5FF"/>
                </a:solidFill>
                <a:latin typeface="Cairo"/>
              </a:defRPr>
            </a:pPr>
            <a:r>
              <a:t>1. تطبيق الهواتف الذكية (Mobile App):</a:t>
            </a:r>
          </a:p>
          <a:p>
            <a:pPr algn="r">
              <a:spcAft>
                <a:spcPts val="600"/>
              </a:spcAft>
              <a:defRPr sz="1100">
                <a:solidFill>
                  <a:srgbClr val="E2E8F0"/>
                </a:solidFill>
                <a:latin typeface="Cairo"/>
              </a:defRPr>
            </a:pPr>
            <a:r>
              <a:t>تطوير تطبيق أصيل للهواتف المحمولة لزيادة سرعة الانتشار وإرسال تنبيهات توعوية دورية للمستخدمين.</a:t>
            </a:r>
          </a:p>
          <a:p>
            <a:pPr algn="r">
              <a:spcAft>
                <a:spcPts val="200"/>
              </a:spcAft>
              <a:defRPr sz="1200" b="1">
                <a:solidFill>
                  <a:srgbClr val="00E5FF"/>
                </a:solidFill>
                <a:latin typeface="Cairo"/>
              </a:defRPr>
            </a:pPr>
            <a:r>
              <a:t>1. الاعتماد الأكاديمي والمؤسسي:</a:t>
            </a:r>
          </a:p>
          <a:p>
            <a:pPr algn="r">
              <a:spcAft>
                <a:spcPts val="600"/>
              </a:spcAft>
              <a:defRPr sz="1100">
                <a:solidFill>
                  <a:srgbClr val="E2E8F0"/>
                </a:solidFill>
                <a:latin typeface="Cairo"/>
              </a:defRPr>
            </a:pPr>
            <a:r>
              <a:t>اعتماد المنصة كبرنامج تدريبي تأسيسي إلزامي للطلاب والموظفين الجدد في الجامعات والجهات الحكومية والخاصة.</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A1128"/>
        </a:solidFill>
        <a:effectLst/>
      </p:bgPr>
    </p:bg>
    <p:spTree>
      <p:nvGrpSpPr>
        <p:cNvPr id="1" name=""/>
        <p:cNvGrpSpPr/>
        <p:nvPr/>
      </p:nvGrpSpPr>
      <p:grpSpPr/>
      <p:sp>
        <p:nvSpPr>
          <p:cNvPr id="2" name="Rounded Rectangle 1"/>
          <p:cNvSpPr/>
          <p:nvPr/>
        </p:nvSpPr>
        <p:spPr>
          <a:xfrm>
            <a:off x="1828800" y="1371600"/>
            <a:ext cx="8534095" cy="4114800"/>
          </a:xfrm>
          <a:prstGeom prst="roundRect">
            <a:avLst/>
          </a:prstGeom>
          <a:solidFill>
            <a:srgbClr val="162035"/>
          </a:solidFill>
          <a:ln w="15240">
            <a:solidFill>
              <a:srgbClr val="00E5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011680" y="1645920"/>
            <a:ext cx="8168335" cy="3566160"/>
          </a:xfrm>
          <a:prstGeom prst="rect">
            <a:avLst/>
          </a:prstGeom>
          <a:noFill/>
        </p:spPr>
        <p:txBody>
          <a:bodyPr wrap="square">
            <a:spAutoFit/>
          </a:bodyPr>
          <a:lstStyle/>
          <a:p>
            <a:pPr algn="ctr">
              <a:spcAft>
                <a:spcPts val="1200"/>
              </a:spcAft>
              <a:defRPr sz="3200" b="1">
                <a:solidFill>
                  <a:srgbClr val="FFFFFF"/>
                </a:solidFill>
                <a:latin typeface="Cairo"/>
              </a:defRPr>
            </a:pPr>
            <a:r>
              <a:t>شكراً لحسن استماعكم واهتمامكم</a:t>
            </a:r>
          </a:p>
          <a:p>
            <a:pPr algn="ctr">
              <a:spcAft>
                <a:spcPts val="600"/>
              </a:spcAft>
              <a:defRPr sz="1800" b="1">
                <a:solidFill>
                  <a:srgbClr val="10B981"/>
                </a:solidFill>
                <a:latin typeface="Cairo"/>
              </a:defRPr>
            </a:pPr>
            <a:r>
              <a:t>خالص الشكر والامتنان للمدربة القديرة: الأستاذة / عفاف أحمد</a:t>
            </a:r>
          </a:p>
          <a:p>
            <a:pPr algn="ctr">
              <a:spcAft>
                <a:spcPts val="2000"/>
              </a:spcAft>
              <a:defRPr sz="1400">
                <a:solidFill>
                  <a:srgbClr val="E2E8F0"/>
                </a:solidFill>
                <a:latin typeface="Cairo"/>
              </a:defRPr>
            </a:pPr>
            <a:r>
              <a:t>ولأعضاء لجنة التقييم والمناقشة الموقرة على كريم وقتهم وتوجيهاتهم القيمة</a:t>
            </a:r>
          </a:p>
          <a:p>
            <a:pPr algn="ctr">
              <a:spcAft>
                <a:spcPts val="800"/>
              </a:spcAft>
              <a:defRPr sz="2000" b="1">
                <a:solidFill>
                  <a:srgbClr val="00E5FF"/>
                </a:solidFill>
                <a:latin typeface="Cairo"/>
              </a:defRPr>
            </a:pPr>
            <a:r>
              <a:t>نرحب بأسئلتكم واستفساراتكم وملاحظاتكم الكريمة</a:t>
            </a:r>
          </a:p>
          <a:p>
            <a:pPr algn="ctr">
              <a:defRPr sz="1200">
                <a:solidFill>
                  <a:srgbClr val="94A3B8"/>
                </a:solidFill>
                <a:latin typeface="Cairo"/>
              </a:defRPr>
            </a:pPr>
            <a:r>
              <a:t>CyberShield Platform  •  1448هـ – 1449هـ</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